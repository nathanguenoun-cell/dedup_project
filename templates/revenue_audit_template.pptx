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4" name="Shape 11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Texte du titre</a:t>
            </a:r>
          </a:p>
        </p:txBody>
      </p:sp>
      <p:sp>
        <p:nvSpPr>
          <p:cNvPr id="12" name="Texte niveau 1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e du titre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Texte du titre</a:t>
            </a:r>
          </a:p>
        </p:txBody>
      </p:sp>
      <p:sp>
        <p:nvSpPr>
          <p:cNvPr id="2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29" name="Texte niveau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38" name="Texte niveau 1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4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e du titre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Texte du titre</a:t>
            </a:r>
          </a:p>
        </p:txBody>
      </p:sp>
      <p:sp>
        <p:nvSpPr>
          <p:cNvPr id="56" name="Texte niveau 1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e du titre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Texte du titre</a:t>
            </a:r>
          </a:p>
        </p:txBody>
      </p:sp>
      <p:sp>
        <p:nvSpPr>
          <p:cNvPr id="6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exte du titre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Texte du titre</a:t>
            </a:r>
          </a:p>
        </p:txBody>
      </p:sp>
      <p:sp>
        <p:nvSpPr>
          <p:cNvPr id="74" name="Texte niveau 1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e niveau 1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Texte niveau 1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9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Numéro de diapositive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2.jpeg"/><Relationship Id="rId4" Type="http://schemas.openxmlformats.org/officeDocument/2006/relationships/image" Target="../media/image2.png"/><Relationship Id="rId5" Type="http://schemas.openxmlformats.org/officeDocument/2006/relationships/image" Target="../media/image3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at-scale.co/" TargetMode="External"/><Relationship Id="rId5" Type="http://schemas.openxmlformats.org/officeDocument/2006/relationships/hyperlink" Target="https://www.linkedin.com/company/atscalepartners/" TargetMode="External"/><Relationship Id="rId6" Type="http://schemas.openxmlformats.org/officeDocument/2006/relationships/image" Target="../media/image2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55;p14"/>
          <p:cNvSpPr txBox="1"/>
          <p:nvPr>
            <p:ph type="ctrTitle"/>
          </p:nvPr>
        </p:nvSpPr>
        <p:spPr>
          <a:xfrm>
            <a:off x="700449" y="2785346"/>
            <a:ext cx="6928202" cy="1602001"/>
          </a:xfrm>
          <a:prstGeom prst="rect">
            <a:avLst/>
          </a:prstGeom>
        </p:spPr>
        <p:txBody>
          <a:bodyPr/>
          <a:lstStyle/>
          <a:p>
            <a:pPr algn="l">
              <a:defRPr sz="2400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pPr>
            <a:r>
              <a:t>Revenue Audit, [CLIENT]</a:t>
            </a:r>
          </a:p>
          <a:p>
            <a:pPr algn="l">
              <a:defRPr sz="900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pPr>
            <a:r>
              <a:t>[DATE]</a:t>
            </a:r>
          </a:p>
        </p:txBody>
      </p:sp>
      <p:pic>
        <p:nvPicPr>
          <p:cNvPr id="117" name="Logo_atscale_sans texture.pngGoogle Shape;56;p14" descr="Logo_atscale_sans texture.pngGoogle Shape;56;p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3699" y="819749"/>
            <a:ext cx="1714576" cy="378101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TO EDIT"/>
          <p:cNvSpPr txBox="1"/>
          <p:nvPr/>
        </p:nvSpPr>
        <p:spPr>
          <a:xfrm rot="20042922">
            <a:off x="1449735" y="1855160"/>
            <a:ext cx="6244530" cy="1579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100">
                <a:solidFill>
                  <a:srgbClr val="DBCC00"/>
                </a:solidFill>
              </a:defRPr>
            </a:lvl1pPr>
          </a:lstStyle>
          <a:p>
            <a:pPr/>
            <a:r>
              <a:t>TO EDIT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Logo_atscale_sans texture.pngGoogle Shape;61;p15" descr="Logo_atscale_sans texture.pngGoogle Shape;61;p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Google Shape;62;p15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2" name="Google Shape;63;p15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123" name="Google Shape;64;p15"/>
          <p:cNvSpPr txBox="1"/>
          <p:nvPr/>
        </p:nvSpPr>
        <p:spPr>
          <a:xfrm>
            <a:off x="1064393" y="1574301"/>
            <a:ext cx="23889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Introduction</a:t>
            </a:r>
          </a:p>
        </p:txBody>
      </p:sp>
      <p:pic>
        <p:nvPicPr>
          <p:cNvPr id="124" name="Hexagone.pngGoogle Shape;65;p15" descr="Hexagone.pngGoogle Shape;65;p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225376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Google Shape;66;p15"/>
          <p:cNvSpPr txBox="1"/>
          <p:nvPr>
            <p:ph type="ctrTitle"/>
          </p:nvPr>
        </p:nvSpPr>
        <p:spPr>
          <a:xfrm>
            <a:off x="621584" y="2258927"/>
            <a:ext cx="277801" cy="354901"/>
          </a:xfrm>
          <a:prstGeom prst="rect">
            <a:avLst/>
          </a:prstGeom>
        </p:spPr>
        <p:txBody>
          <a:bodyPr lIns="51750" tIns="51750" rIns="51750" bIns="51750"/>
          <a:lstStyle>
            <a:lvl1pPr algn="l">
              <a:defRPr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126" name="Hexagone.pngGoogle Shape;67;p15" descr="Hexagone.pngGoogle Shape;67;p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301811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Google Shape;68;p15"/>
          <p:cNvSpPr txBox="1"/>
          <p:nvPr/>
        </p:nvSpPr>
        <p:spPr>
          <a:xfrm>
            <a:off x="621584" y="3023277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28" name="Hexagone.pngGoogle Shape;69;p15" descr="Hexagone.pngGoogle Shape;69;p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3778691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Google Shape;70;p15"/>
          <p:cNvSpPr txBox="1"/>
          <p:nvPr/>
        </p:nvSpPr>
        <p:spPr>
          <a:xfrm>
            <a:off x="609373" y="3783851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0" name="Google Shape;71;p15"/>
          <p:cNvSpPr txBox="1"/>
          <p:nvPr/>
        </p:nvSpPr>
        <p:spPr>
          <a:xfrm>
            <a:off x="1064400" y="2310901"/>
            <a:ext cx="23889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Revenue Audit findings </a:t>
            </a:r>
          </a:p>
        </p:txBody>
      </p:sp>
      <p:sp>
        <p:nvSpPr>
          <p:cNvPr id="131" name="Google Shape;72;p15"/>
          <p:cNvSpPr txBox="1"/>
          <p:nvPr/>
        </p:nvSpPr>
        <p:spPr>
          <a:xfrm>
            <a:off x="1064400" y="3014549"/>
            <a:ext cx="3424500" cy="476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Competency-Gap Analysis per Building Block</a:t>
            </a:r>
          </a:p>
        </p:txBody>
      </p:sp>
      <p:sp>
        <p:nvSpPr>
          <p:cNvPr id="132" name="Google Shape;73;p15"/>
          <p:cNvSpPr txBox="1"/>
          <p:nvPr/>
        </p:nvSpPr>
        <p:spPr>
          <a:xfrm>
            <a:off x="1064399" y="3827950"/>
            <a:ext cx="32055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6-month Roadmap</a:t>
            </a:r>
          </a:p>
        </p:txBody>
      </p:sp>
      <p:pic>
        <p:nvPicPr>
          <p:cNvPr id="133" name="Hexagone.pngGoogle Shape;74;p15" descr="Hexagone.pngGoogle Shape;74;p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148941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Google Shape;75;p15"/>
          <p:cNvSpPr txBox="1"/>
          <p:nvPr/>
        </p:nvSpPr>
        <p:spPr>
          <a:xfrm>
            <a:off x="639902" y="1494576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5" name="TO EDIT"/>
          <p:cNvSpPr txBox="1"/>
          <p:nvPr/>
        </p:nvSpPr>
        <p:spPr>
          <a:xfrm rot="20042922">
            <a:off x="1449735" y="1855160"/>
            <a:ext cx="6244530" cy="1579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100">
                <a:solidFill>
                  <a:srgbClr val="DBCC00"/>
                </a:solidFill>
              </a:defRPr>
            </a:lvl1pPr>
          </a:lstStyle>
          <a:p>
            <a:pPr/>
            <a:r>
              <a:t>TO EDIT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Logo_atscale_sans texture.pngGoogle Shape;80;p16" descr="Logo_atscale_sans texture.pngGoogle Shape;80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Google Shape;81;p16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9" name="Google Shape;82;p16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- Executive Summary</a:t>
            </a:r>
          </a:p>
        </p:txBody>
      </p:sp>
      <p:grpSp>
        <p:nvGrpSpPr>
          <p:cNvPr id="142" name="Google Shape;83;p16"/>
          <p:cNvGrpSpPr/>
          <p:nvPr/>
        </p:nvGrpSpPr>
        <p:grpSpPr>
          <a:xfrm>
            <a:off x="198449" y="642949"/>
            <a:ext cx="8766901" cy="4290002"/>
            <a:chOff x="0" y="0"/>
            <a:chExt cx="8766899" cy="4290000"/>
          </a:xfrm>
        </p:grpSpPr>
        <p:sp>
          <p:nvSpPr>
            <p:cNvPr id="140" name="Rectangle aux angles arrondis"/>
            <p:cNvSpPr/>
            <p:nvPr/>
          </p:nvSpPr>
          <p:spPr>
            <a:xfrm>
              <a:off x="0" y="0"/>
              <a:ext cx="8766900" cy="4290001"/>
            </a:xfrm>
            <a:prstGeom prst="roundRect">
              <a:avLst>
                <a:gd name="adj" fmla="val 2009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0000"/>
                </a:lnSpc>
                <a:defRPr sz="9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1" name="[CLIENT] is a success story in the making — a company on its way to €1 billion in revenue, with real product and technology strength, and a global footprint that few European SaaS companies achieve. The ambition is there. The market is there. The questio"/>
            <p:cNvSpPr txBox="1"/>
            <p:nvPr/>
          </p:nvSpPr>
          <p:spPr>
            <a:xfrm>
              <a:off x="25242" y="204779"/>
              <a:ext cx="8716416" cy="3880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79999" tIns="179999" rIns="179999" bIns="179999" numCol="1" anchor="ctr">
              <a:spAutoFit/>
            </a:bodyPr>
            <a:lstStyle/>
            <a:p>
              <a:pPr>
                <a:lnSpc>
                  <a:spcPct val="110000"/>
                </a:lnSpc>
                <a:defRPr sz="9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  <a:r>
                <a:t>[CLIENT] is a success story in the making — a company on its way to €1 billion in revenue, with real product and technology strength, and a global footprint that few European SaaS companies achieve. The ambition is there. The market is there. The question is whether the Enterprise organization is built to match it.</a:t>
              </a:r>
            </a:p>
            <a:p>
              <a:pPr>
                <a:lnSpc>
                  <a:spcPct val="110000"/>
                </a:lnSpc>
              </a:pPr>
              <a:endParaRPr sz="9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>
                <a:lnSpc>
                  <a:spcPct val="110000"/>
                </a:lnSpc>
                <a:defRPr sz="9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  <a:r>
                <a:t>Today, it is not. </a:t>
              </a:r>
            </a:p>
            <a:p>
              <a:pPr>
                <a:lnSpc>
                  <a:spcPct val="110000"/>
                </a:lnSpc>
              </a:pPr>
              <a:endParaRPr sz="9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>
                <a:lnSpc>
                  <a:spcPct val="110000"/>
                </a:lnSpc>
                <a:defRPr sz="9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  <a:r>
                <a:t>Enterprise is a new motion for [CLIENT] — and the gap between what it requires and what currently exists is significant. The performance culture, the Revenue Operations and the Enablement infrastructure: none of these are calibrated for Enterprise. [CLIENT] built a world-class SMB / Lower Mid-Market engine. Upper Mid-Market / Enterprise is a different motion, with specific needs to deliver revenue.</a:t>
              </a:r>
            </a:p>
            <a:p>
              <a:pPr>
                <a:lnSpc>
                  <a:spcPct val="110000"/>
                </a:lnSpc>
              </a:pPr>
              <a:endParaRPr sz="9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457200" indent="-285750">
                <a:lnSpc>
                  <a:spcPct val="110000"/>
                </a:lnSpc>
                <a:buClr>
                  <a:srgbClr val="19323F"/>
                </a:buClr>
                <a:buSzPts val="900"/>
                <a:buAutoNum type="arabicPeriod" startAt="1"/>
                <a:defRPr sz="9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  <a:r>
                <a:t>The lack of a clear definition of success and common KPIs to hold responsible parties accountable, and drumbeat the Enterprise organization, is creating smoke on the road. The Enterprise team must level-up in hiring processes, monitoring of ramp-up performance, upper-funnel activities and mastery of Enterprise sales skill set, and should start building granular close-the-gap plans at individual levels. </a:t>
              </a:r>
            </a:p>
            <a:p>
              <a:pPr indent="457200">
                <a:lnSpc>
                  <a:spcPct val="110000"/>
                </a:lnSpc>
              </a:pPr>
              <a:endParaRPr sz="9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457200" indent="-285750">
                <a:lnSpc>
                  <a:spcPct val="110000"/>
                </a:lnSpc>
                <a:buClr>
                  <a:srgbClr val="19323F"/>
                </a:buClr>
                <a:buSzPts val="900"/>
                <a:buAutoNum type="arabicPeriod" startAt="1"/>
                <a:defRPr sz="9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  <a:r>
                <a:t>Enterprise teams require more support headcounts per sales head to operate than SMB teams: Sales Engineers to support complex cycles, Sales Enablement to arm reps with the right tools, Revenue Operations to drive pipeline visibility and forecast accuracy. [CLIENT] Enterprise is currently understaffed in every one of these functions, and the team does not possess yet the hard skills to perform with scarce resources. </a:t>
              </a:r>
            </a:p>
            <a:p>
              <a:pPr indent="457200">
                <a:lnSpc>
                  <a:spcPct val="110000"/>
                </a:lnSpc>
              </a:pPr>
              <a:endParaRPr sz="9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>
                <a:lnSpc>
                  <a:spcPct val="110000"/>
                </a:lnSpc>
                <a:defRPr sz="9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  <a:r>
                <a:t>Until this changes, quota attainment will remain structurally capped. If [CLIENT] Enterprise wants to compete in the A-League, it must start acting like an A-League franchise. </a:t>
              </a:r>
            </a:p>
            <a:p>
              <a:pPr>
                <a:lnSpc>
                  <a:spcPct val="110000"/>
                </a:lnSpc>
              </a:pPr>
              <a:endParaRPr sz="9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>
                <a:lnSpc>
                  <a:spcPct val="110000"/>
                </a:lnSpc>
                <a:defRPr sz="9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  <a:r>
                <a:t>With these changes and investments, we will then be a position to build a team of A-players. </a:t>
              </a:r>
            </a:p>
            <a:p>
              <a:pPr>
                <a:lnSpc>
                  <a:spcPct val="110000"/>
                </a:lnSpc>
              </a:pPr>
              <a:endParaRPr sz="9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>
                <a:lnSpc>
                  <a:spcPct val="110000"/>
                </a:lnSpc>
                <a:defRPr sz="9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  <a:r>
                <a:t>A 6 to 9-month transformation will be needed to take [CLIENT] Enterprise team to high performance levels. </a:t>
              </a:r>
            </a:p>
          </p:txBody>
        </p:sp>
      </p:grpSp>
      <p:sp>
        <p:nvSpPr>
          <p:cNvPr id="143" name="TO EDIT"/>
          <p:cNvSpPr txBox="1"/>
          <p:nvPr/>
        </p:nvSpPr>
        <p:spPr>
          <a:xfrm rot="20042922">
            <a:off x="1449735" y="1855160"/>
            <a:ext cx="6244530" cy="1579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100">
                <a:solidFill>
                  <a:srgbClr val="DBCC00"/>
                </a:solidFill>
              </a:defRPr>
            </a:lvl1pPr>
          </a:lstStyle>
          <a:p>
            <a:pPr/>
            <a:r>
              <a:t>TO EDIT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Fond vert foncé.pngGoogle Shape;88;p17" descr="Fond vert foncé.pngGoogle Shape;88;p17"/>
          <p:cNvPicPr>
            <a:picLocks noChangeAspect="1"/>
          </p:cNvPicPr>
          <p:nvPr/>
        </p:nvPicPr>
        <p:blipFill>
          <a:blip r:embed="rId3">
            <a:extLst/>
          </a:blip>
          <a:srcRect l="10035" t="0" r="60116" b="71121"/>
          <a:stretch>
            <a:fillRect/>
          </a:stretch>
        </p:blipFill>
        <p:spPr>
          <a:xfrm>
            <a:off x="2529671" y="1626013"/>
            <a:ext cx="2012951" cy="1081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28" y="0"/>
                </a:moveTo>
                <a:cubicBezTo>
                  <a:pt x="417" y="0"/>
                  <a:pt x="0" y="776"/>
                  <a:pt x="0" y="1729"/>
                </a:cubicBezTo>
                <a:lnTo>
                  <a:pt x="0" y="19871"/>
                </a:lnTo>
                <a:cubicBezTo>
                  <a:pt x="0" y="20824"/>
                  <a:pt x="417" y="21600"/>
                  <a:pt x="928" y="21600"/>
                </a:cubicBezTo>
                <a:lnTo>
                  <a:pt x="20672" y="21600"/>
                </a:lnTo>
                <a:cubicBezTo>
                  <a:pt x="21183" y="21600"/>
                  <a:pt x="21600" y="20824"/>
                  <a:pt x="21600" y="19871"/>
                </a:cubicBezTo>
                <a:lnTo>
                  <a:pt x="21600" y="1729"/>
                </a:lnTo>
                <a:cubicBezTo>
                  <a:pt x="21600" y="776"/>
                  <a:pt x="21183" y="0"/>
                  <a:pt x="20672" y="0"/>
                </a:cubicBezTo>
                <a:lnTo>
                  <a:pt x="92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46" name="Fond vert foncé.pngGoogle Shape;89;p17" descr="Fond vert foncé.pngGoogle Shape;89;p17"/>
          <p:cNvPicPr>
            <a:picLocks noChangeAspect="1"/>
          </p:cNvPicPr>
          <p:nvPr/>
        </p:nvPicPr>
        <p:blipFill>
          <a:blip r:embed="rId3">
            <a:extLst/>
          </a:blip>
          <a:srcRect l="10035" t="0" r="60116" b="71121"/>
          <a:stretch>
            <a:fillRect/>
          </a:stretch>
        </p:blipFill>
        <p:spPr>
          <a:xfrm>
            <a:off x="4617701" y="1626013"/>
            <a:ext cx="2012951" cy="1081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28" y="0"/>
                </a:moveTo>
                <a:cubicBezTo>
                  <a:pt x="417" y="0"/>
                  <a:pt x="0" y="776"/>
                  <a:pt x="0" y="1729"/>
                </a:cubicBezTo>
                <a:lnTo>
                  <a:pt x="0" y="19871"/>
                </a:lnTo>
                <a:cubicBezTo>
                  <a:pt x="0" y="20824"/>
                  <a:pt x="417" y="21600"/>
                  <a:pt x="928" y="21600"/>
                </a:cubicBezTo>
                <a:lnTo>
                  <a:pt x="20672" y="21600"/>
                </a:lnTo>
                <a:cubicBezTo>
                  <a:pt x="21183" y="21600"/>
                  <a:pt x="21600" y="20824"/>
                  <a:pt x="21600" y="19871"/>
                </a:cubicBezTo>
                <a:lnTo>
                  <a:pt x="21600" y="1729"/>
                </a:lnTo>
                <a:cubicBezTo>
                  <a:pt x="21600" y="776"/>
                  <a:pt x="21183" y="0"/>
                  <a:pt x="20672" y="0"/>
                </a:cubicBezTo>
                <a:lnTo>
                  <a:pt x="92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47" name="Fond vert foncé.pngGoogle Shape;90;p17" descr="Fond vert foncé.pngGoogle Shape;90;p17"/>
          <p:cNvPicPr>
            <a:picLocks noChangeAspect="1"/>
          </p:cNvPicPr>
          <p:nvPr/>
        </p:nvPicPr>
        <p:blipFill>
          <a:blip r:embed="rId3">
            <a:extLst/>
          </a:blip>
          <a:srcRect l="10035" t="0" r="60116" b="71121"/>
          <a:stretch>
            <a:fillRect/>
          </a:stretch>
        </p:blipFill>
        <p:spPr>
          <a:xfrm>
            <a:off x="441640" y="1626013"/>
            <a:ext cx="2012951" cy="1081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28" y="0"/>
                </a:moveTo>
                <a:cubicBezTo>
                  <a:pt x="417" y="0"/>
                  <a:pt x="0" y="776"/>
                  <a:pt x="0" y="1729"/>
                </a:cubicBezTo>
                <a:lnTo>
                  <a:pt x="0" y="19871"/>
                </a:lnTo>
                <a:cubicBezTo>
                  <a:pt x="0" y="20824"/>
                  <a:pt x="417" y="21600"/>
                  <a:pt x="928" y="21600"/>
                </a:cubicBezTo>
                <a:lnTo>
                  <a:pt x="20672" y="21600"/>
                </a:lnTo>
                <a:cubicBezTo>
                  <a:pt x="21183" y="21600"/>
                  <a:pt x="21600" y="20824"/>
                  <a:pt x="21600" y="19871"/>
                </a:cubicBezTo>
                <a:lnTo>
                  <a:pt x="21600" y="1729"/>
                </a:lnTo>
                <a:cubicBezTo>
                  <a:pt x="21600" y="776"/>
                  <a:pt x="21183" y="0"/>
                  <a:pt x="20672" y="0"/>
                </a:cubicBezTo>
                <a:lnTo>
                  <a:pt x="92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48" name="presention-chart (1).pngGoogle Shape;91;p17" descr="presention-chart (1).pngGoogle Shape;91;p1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6116" y="2004457"/>
            <a:ext cx="324001" cy="32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Logo_atscale_sans texture.pngGoogle Shape;92;p17" descr="Logo_atscale_sans texture.pngGoogle Shape;92;p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Google Shape;93;p17"/>
          <p:cNvSpPr txBox="1"/>
          <p:nvPr>
            <p:ph type="ctrTitle"/>
          </p:nvPr>
        </p:nvSpPr>
        <p:spPr>
          <a:xfrm>
            <a:off x="483589" y="638416"/>
            <a:ext cx="6928202" cy="56520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A specific Diagnosis methodology</a:t>
            </a:r>
          </a:p>
        </p:txBody>
      </p:sp>
      <p:sp>
        <p:nvSpPr>
          <p:cNvPr id="151" name="Google Shape;94;p17"/>
          <p:cNvSpPr txBox="1"/>
          <p:nvPr/>
        </p:nvSpPr>
        <p:spPr>
          <a:xfrm>
            <a:off x="441641" y="3350207"/>
            <a:ext cx="2013001" cy="81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8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We collected company data and analyze data </a:t>
            </a:r>
            <a:r>
              <a:rPr b="1">
                <a:solidFill>
                  <a:srgbClr val="2A41E5"/>
                </a:solidFill>
              </a:rPr>
              <a:t>20+ documents</a:t>
            </a:r>
            <a:r>
              <a:t>, at both macro and micro-level.</a:t>
            </a:r>
          </a:p>
          <a:p>
            <a:pPr/>
            <a:endParaRPr sz="800">
              <a:solidFill>
                <a:srgbClr val="1932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95;p17"/>
          <p:cNvSpPr txBox="1"/>
          <p:nvPr/>
        </p:nvSpPr>
        <p:spPr>
          <a:xfrm>
            <a:off x="441515" y="2685182"/>
            <a:ext cx="2013001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7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Data Analysis</a:t>
            </a:r>
          </a:p>
        </p:txBody>
      </p:sp>
      <p:sp>
        <p:nvSpPr>
          <p:cNvPr id="153" name="Google Shape;96;p17"/>
          <p:cNvSpPr txBox="1"/>
          <p:nvPr/>
        </p:nvSpPr>
        <p:spPr>
          <a:xfrm>
            <a:off x="2529665" y="3350207"/>
            <a:ext cx="2013001" cy="81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8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We sent a 160 questions assessment to a selected group of </a:t>
            </a:r>
            <a:r>
              <a:rPr b="1">
                <a:solidFill>
                  <a:srgbClr val="2A41E5"/>
                </a:solidFill>
              </a:rPr>
              <a:t>3 respondents</a:t>
            </a:r>
            <a:r>
              <a:t>, all executives. </a:t>
            </a:r>
          </a:p>
          <a:p>
            <a:pPr/>
            <a:endParaRPr sz="800">
              <a:solidFill>
                <a:srgbClr val="1932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97;p17"/>
          <p:cNvSpPr txBox="1"/>
          <p:nvPr/>
        </p:nvSpPr>
        <p:spPr>
          <a:xfrm>
            <a:off x="2529666" y="2685182"/>
            <a:ext cx="1997101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7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Self-assessment</a:t>
            </a:r>
          </a:p>
        </p:txBody>
      </p:sp>
      <p:sp>
        <p:nvSpPr>
          <p:cNvPr id="155" name="Google Shape;98;p17"/>
          <p:cNvSpPr txBox="1"/>
          <p:nvPr/>
        </p:nvSpPr>
        <p:spPr>
          <a:xfrm>
            <a:off x="4617690" y="3350207"/>
            <a:ext cx="2013001" cy="94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8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We performed </a:t>
            </a:r>
            <a:r>
              <a:rPr b="1">
                <a:solidFill>
                  <a:srgbClr val="2A41E5"/>
                </a:solidFill>
              </a:rPr>
              <a:t>25 individual interviews </a:t>
            </a:r>
            <a:r>
              <a:t>with pre-selected employees working at [CLIENT], from C-Suite members to Sales People.</a:t>
            </a:r>
          </a:p>
          <a:p>
            <a:pPr/>
            <a:endParaRPr sz="800">
              <a:solidFill>
                <a:srgbClr val="1932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99;p17"/>
          <p:cNvSpPr txBox="1"/>
          <p:nvPr/>
        </p:nvSpPr>
        <p:spPr>
          <a:xfrm>
            <a:off x="4617691" y="2685182"/>
            <a:ext cx="2013001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7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1:1 Interviews</a:t>
            </a:r>
          </a:p>
        </p:txBody>
      </p:sp>
      <p:sp>
        <p:nvSpPr>
          <p:cNvPr id="157" name="Google Shape;100;p17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8" name="Google Shape;101;p17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Restitution</a:t>
            </a:r>
          </a:p>
        </p:txBody>
      </p:sp>
      <p:pic>
        <p:nvPicPr>
          <p:cNvPr id="159" name="setting-5.pngGoogle Shape;102;p17" descr="setting-5.pngGoogle Shape;102;p1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flipH="1">
            <a:off x="3374171" y="2004457"/>
            <a:ext cx="324001" cy="32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messages.pngGoogle Shape;103;p17" descr="messages.pngGoogle Shape;103;p1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462201" y="2004457"/>
            <a:ext cx="324001" cy="32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Fond vert foncé.pngGoogle Shape;89;p17" descr="Fond vert foncé.pngGoogle Shape;89;p17"/>
          <p:cNvPicPr>
            <a:picLocks noChangeAspect="1"/>
          </p:cNvPicPr>
          <p:nvPr/>
        </p:nvPicPr>
        <p:blipFill>
          <a:blip r:embed="rId3">
            <a:extLst/>
          </a:blip>
          <a:srcRect l="10035" t="0" r="60116" b="71121"/>
          <a:stretch>
            <a:fillRect/>
          </a:stretch>
        </p:blipFill>
        <p:spPr>
          <a:xfrm>
            <a:off x="6705686" y="1633260"/>
            <a:ext cx="2012951" cy="1081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28" y="0"/>
                </a:moveTo>
                <a:cubicBezTo>
                  <a:pt x="417" y="0"/>
                  <a:pt x="0" y="776"/>
                  <a:pt x="0" y="1729"/>
                </a:cubicBezTo>
                <a:lnTo>
                  <a:pt x="0" y="19871"/>
                </a:lnTo>
                <a:cubicBezTo>
                  <a:pt x="0" y="20824"/>
                  <a:pt x="417" y="21600"/>
                  <a:pt x="928" y="21600"/>
                </a:cubicBezTo>
                <a:lnTo>
                  <a:pt x="20672" y="21600"/>
                </a:lnTo>
                <a:cubicBezTo>
                  <a:pt x="21183" y="21600"/>
                  <a:pt x="21600" y="20824"/>
                  <a:pt x="21600" y="19871"/>
                </a:cubicBezTo>
                <a:lnTo>
                  <a:pt x="21600" y="1729"/>
                </a:lnTo>
                <a:cubicBezTo>
                  <a:pt x="21600" y="776"/>
                  <a:pt x="21183" y="0"/>
                  <a:pt x="20672" y="0"/>
                </a:cubicBezTo>
                <a:lnTo>
                  <a:pt x="928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62" name="Google Shape;98;p17"/>
          <p:cNvSpPr txBox="1"/>
          <p:nvPr/>
        </p:nvSpPr>
        <p:spPr>
          <a:xfrm>
            <a:off x="6705675" y="3357454"/>
            <a:ext cx="2013001" cy="81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8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We’ve observed and </a:t>
            </a:r>
            <a:r>
              <a:rPr b="1">
                <a:solidFill>
                  <a:srgbClr val="3041DD"/>
                </a:solidFill>
              </a:rPr>
              <a:t>shadowed</a:t>
            </a:r>
            <a:r>
              <a:t> your sales team during</a:t>
            </a:r>
            <a:r>
              <a:rPr b="1">
                <a:solidFill>
                  <a:srgbClr val="3041DD"/>
                </a:solidFill>
              </a:rPr>
              <a:t> team meetings and client conversations.</a:t>
            </a:r>
            <a:endParaRPr b="1">
              <a:solidFill>
                <a:srgbClr val="3041DD"/>
              </a:solidFill>
            </a:endParaRPr>
          </a:p>
          <a:p>
            <a:pPr/>
            <a:endParaRPr sz="800">
              <a:solidFill>
                <a:srgbClr val="1932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99;p17"/>
          <p:cNvSpPr txBox="1"/>
          <p:nvPr/>
        </p:nvSpPr>
        <p:spPr>
          <a:xfrm>
            <a:off x="6705676" y="2692429"/>
            <a:ext cx="2013001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7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Shadowing</a:t>
            </a:r>
          </a:p>
        </p:txBody>
      </p:sp>
      <p:pic>
        <p:nvPicPr>
          <p:cNvPr id="164" name="messages.pngGoogle Shape;103;p17" descr="messages.pngGoogle Shape;103;p1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550186" y="2011704"/>
            <a:ext cx="324001" cy="32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O EDIT"/>
          <p:cNvSpPr txBox="1"/>
          <p:nvPr/>
        </p:nvSpPr>
        <p:spPr>
          <a:xfrm rot="20042922">
            <a:off x="1449735" y="1855160"/>
            <a:ext cx="6244530" cy="1579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100">
                <a:solidFill>
                  <a:srgbClr val="DBCC00"/>
                </a:solidFill>
              </a:defRPr>
            </a:lvl1pPr>
          </a:lstStyle>
          <a:p>
            <a:pPr/>
            <a:r>
              <a:t>TO EDIT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08;p18"/>
          <p:cNvGrpSpPr/>
          <p:nvPr/>
        </p:nvGrpSpPr>
        <p:grpSpPr>
          <a:xfrm>
            <a:off x="5963616" y="1492029"/>
            <a:ext cx="2668289" cy="833836"/>
            <a:chOff x="0" y="0"/>
            <a:chExt cx="2668287" cy="833834"/>
          </a:xfrm>
        </p:grpSpPr>
        <p:sp>
          <p:nvSpPr>
            <p:cNvPr id="167" name="Google Shape;109;p18"/>
            <p:cNvSpPr/>
            <p:nvPr/>
          </p:nvSpPr>
          <p:spPr>
            <a:xfrm>
              <a:off x="0" y="0"/>
              <a:ext cx="2668288" cy="833707"/>
            </a:xfrm>
            <a:prstGeom prst="roundRect">
              <a:avLst>
                <a:gd name="adj" fmla="val 9341"/>
              </a:avLst>
            </a:prstGeom>
            <a:solidFill>
              <a:srgbClr val="BDD3F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pic>
          <p:nvPicPr>
            <p:cNvPr id="168" name="ac9193246d14421299f6e236baa4d3d92ef4787c.pngGoogle Shape;110;p18" descr="ac9193246d14421299f6e236baa4d3d92ef4787c.pngGoogle Shape;110;p18"/>
            <p:cNvPicPr>
              <a:picLocks noChangeAspect="1"/>
            </p:cNvPicPr>
            <p:nvPr/>
          </p:nvPicPr>
          <p:blipFill>
            <a:blip r:embed="rId3">
              <a:alphaModFix amt="4000"/>
              <a:extLst/>
            </a:blip>
            <a:srcRect l="0" t="0" r="3" b="71249"/>
            <a:stretch>
              <a:fillRect/>
            </a:stretch>
          </p:blipFill>
          <p:spPr>
            <a:xfrm>
              <a:off x="0" y="0"/>
              <a:ext cx="2668191" cy="833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65" y="0"/>
                  </a:moveTo>
                  <a:cubicBezTo>
                    <a:pt x="297" y="0"/>
                    <a:pt x="0" y="950"/>
                    <a:pt x="0" y="2128"/>
                  </a:cubicBezTo>
                  <a:lnTo>
                    <a:pt x="0" y="19462"/>
                  </a:lnTo>
                  <a:cubicBezTo>
                    <a:pt x="0" y="20639"/>
                    <a:pt x="297" y="21600"/>
                    <a:pt x="665" y="21600"/>
                  </a:cubicBezTo>
                  <a:lnTo>
                    <a:pt x="20935" y="21600"/>
                  </a:lnTo>
                  <a:cubicBezTo>
                    <a:pt x="21303" y="21600"/>
                    <a:pt x="21600" y="20639"/>
                    <a:pt x="21600" y="19462"/>
                  </a:cubicBezTo>
                  <a:lnTo>
                    <a:pt x="21600" y="2128"/>
                  </a:lnTo>
                  <a:cubicBezTo>
                    <a:pt x="21600" y="950"/>
                    <a:pt x="21303" y="0"/>
                    <a:pt x="20935" y="0"/>
                  </a:cubicBezTo>
                  <a:lnTo>
                    <a:pt x="665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grpSp>
        <p:nvGrpSpPr>
          <p:cNvPr id="172" name="Google Shape;111;p18"/>
          <p:cNvGrpSpPr/>
          <p:nvPr/>
        </p:nvGrpSpPr>
        <p:grpSpPr>
          <a:xfrm>
            <a:off x="3192116" y="1492029"/>
            <a:ext cx="2668289" cy="833836"/>
            <a:chOff x="0" y="0"/>
            <a:chExt cx="2668287" cy="833834"/>
          </a:xfrm>
        </p:grpSpPr>
        <p:sp>
          <p:nvSpPr>
            <p:cNvPr id="170" name="Google Shape;112;p18"/>
            <p:cNvSpPr/>
            <p:nvPr/>
          </p:nvSpPr>
          <p:spPr>
            <a:xfrm>
              <a:off x="0" y="0"/>
              <a:ext cx="2668288" cy="833707"/>
            </a:xfrm>
            <a:prstGeom prst="roundRect">
              <a:avLst>
                <a:gd name="adj" fmla="val 9341"/>
              </a:avLst>
            </a:prstGeom>
            <a:solidFill>
              <a:srgbClr val="BDD3F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pic>
          <p:nvPicPr>
            <p:cNvPr id="171" name="ac9193246d14421299f6e236baa4d3d92ef4787c.pngGoogle Shape;113;p18" descr="ac9193246d14421299f6e236baa4d3d92ef4787c.pngGoogle Shape;113;p18"/>
            <p:cNvPicPr>
              <a:picLocks noChangeAspect="1"/>
            </p:cNvPicPr>
            <p:nvPr/>
          </p:nvPicPr>
          <p:blipFill>
            <a:blip r:embed="rId3">
              <a:alphaModFix amt="4000"/>
              <a:extLst/>
            </a:blip>
            <a:srcRect l="0" t="0" r="3" b="71249"/>
            <a:stretch>
              <a:fillRect/>
            </a:stretch>
          </p:blipFill>
          <p:spPr>
            <a:xfrm>
              <a:off x="0" y="0"/>
              <a:ext cx="2668191" cy="833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65" y="0"/>
                  </a:moveTo>
                  <a:cubicBezTo>
                    <a:pt x="297" y="0"/>
                    <a:pt x="0" y="950"/>
                    <a:pt x="0" y="2128"/>
                  </a:cubicBezTo>
                  <a:lnTo>
                    <a:pt x="0" y="19462"/>
                  </a:lnTo>
                  <a:cubicBezTo>
                    <a:pt x="0" y="20639"/>
                    <a:pt x="297" y="21600"/>
                    <a:pt x="665" y="21600"/>
                  </a:cubicBezTo>
                  <a:lnTo>
                    <a:pt x="20935" y="21600"/>
                  </a:lnTo>
                  <a:cubicBezTo>
                    <a:pt x="21303" y="21600"/>
                    <a:pt x="21600" y="20639"/>
                    <a:pt x="21600" y="19462"/>
                  </a:cubicBezTo>
                  <a:lnTo>
                    <a:pt x="21600" y="2128"/>
                  </a:lnTo>
                  <a:cubicBezTo>
                    <a:pt x="21600" y="950"/>
                    <a:pt x="21303" y="0"/>
                    <a:pt x="20935" y="0"/>
                  </a:cubicBezTo>
                  <a:lnTo>
                    <a:pt x="665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grpSp>
        <p:nvGrpSpPr>
          <p:cNvPr id="175" name="Google Shape;114;p18"/>
          <p:cNvGrpSpPr/>
          <p:nvPr/>
        </p:nvGrpSpPr>
        <p:grpSpPr>
          <a:xfrm>
            <a:off x="428642" y="1492029"/>
            <a:ext cx="2668288" cy="833836"/>
            <a:chOff x="0" y="0"/>
            <a:chExt cx="2668287" cy="833834"/>
          </a:xfrm>
        </p:grpSpPr>
        <p:sp>
          <p:nvSpPr>
            <p:cNvPr id="173" name="Google Shape;115;p18"/>
            <p:cNvSpPr/>
            <p:nvPr/>
          </p:nvSpPr>
          <p:spPr>
            <a:xfrm>
              <a:off x="0" y="0"/>
              <a:ext cx="2668288" cy="833707"/>
            </a:xfrm>
            <a:prstGeom prst="roundRect">
              <a:avLst>
                <a:gd name="adj" fmla="val 9341"/>
              </a:avLst>
            </a:prstGeom>
            <a:solidFill>
              <a:srgbClr val="BDD3F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pic>
          <p:nvPicPr>
            <p:cNvPr id="174" name="ac9193246d14421299f6e236baa4d3d92ef4787c.pngGoogle Shape;116;p18" descr="ac9193246d14421299f6e236baa4d3d92ef4787c.pngGoogle Shape;116;p18"/>
            <p:cNvPicPr>
              <a:picLocks noChangeAspect="1"/>
            </p:cNvPicPr>
            <p:nvPr/>
          </p:nvPicPr>
          <p:blipFill>
            <a:blip r:embed="rId3">
              <a:alphaModFix amt="4000"/>
              <a:extLst/>
            </a:blip>
            <a:srcRect l="0" t="0" r="3" b="71249"/>
            <a:stretch>
              <a:fillRect/>
            </a:stretch>
          </p:blipFill>
          <p:spPr>
            <a:xfrm>
              <a:off x="0" y="0"/>
              <a:ext cx="2668191" cy="833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65" y="0"/>
                  </a:moveTo>
                  <a:cubicBezTo>
                    <a:pt x="297" y="0"/>
                    <a:pt x="0" y="950"/>
                    <a:pt x="0" y="2128"/>
                  </a:cubicBezTo>
                  <a:lnTo>
                    <a:pt x="0" y="19462"/>
                  </a:lnTo>
                  <a:cubicBezTo>
                    <a:pt x="0" y="20639"/>
                    <a:pt x="297" y="21600"/>
                    <a:pt x="665" y="21600"/>
                  </a:cubicBezTo>
                  <a:lnTo>
                    <a:pt x="20935" y="21600"/>
                  </a:lnTo>
                  <a:cubicBezTo>
                    <a:pt x="21303" y="21600"/>
                    <a:pt x="21600" y="20639"/>
                    <a:pt x="21600" y="19462"/>
                  </a:cubicBezTo>
                  <a:lnTo>
                    <a:pt x="21600" y="2128"/>
                  </a:lnTo>
                  <a:cubicBezTo>
                    <a:pt x="21600" y="950"/>
                    <a:pt x="21303" y="0"/>
                    <a:pt x="20935" y="0"/>
                  </a:cubicBezTo>
                  <a:lnTo>
                    <a:pt x="665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pic>
        <p:nvPicPr>
          <p:cNvPr id="176" name="Logo_atscale_sans texture.pngGoogle Shape;117;p18" descr="Logo_atscale_sans texture.pngGoogle Shape;117;p1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Google Shape;118;p18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8" name="Google Shape;119;p18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Restitution</a:t>
            </a:r>
          </a:p>
        </p:txBody>
      </p:sp>
      <p:sp>
        <p:nvSpPr>
          <p:cNvPr id="179" name="Google Shape;120;p18"/>
          <p:cNvSpPr txBox="1"/>
          <p:nvPr>
            <p:ph type="ctrTitle"/>
          </p:nvPr>
        </p:nvSpPr>
        <p:spPr>
          <a:xfrm>
            <a:off x="483589" y="638416"/>
            <a:ext cx="6928202" cy="56520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Strong foundations for success</a:t>
            </a:r>
          </a:p>
        </p:txBody>
      </p:sp>
      <p:sp>
        <p:nvSpPr>
          <p:cNvPr id="180" name="Google Shape;121;p18"/>
          <p:cNvSpPr txBox="1"/>
          <p:nvPr/>
        </p:nvSpPr>
        <p:spPr>
          <a:xfrm>
            <a:off x="432824" y="2325727"/>
            <a:ext cx="2668202" cy="360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6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[CLIENT]'s international presence and recent acquisitions serves as a step for Enterprise motion to enter new markets.</a:t>
            </a:r>
          </a:p>
        </p:txBody>
      </p:sp>
      <p:sp>
        <p:nvSpPr>
          <p:cNvPr id="181" name="Google Shape;122;p18"/>
          <p:cNvSpPr txBox="1"/>
          <p:nvPr/>
        </p:nvSpPr>
        <p:spPr>
          <a:xfrm>
            <a:off x="428529" y="1760532"/>
            <a:ext cx="1521602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20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Global Footprint </a:t>
            </a:r>
          </a:p>
        </p:txBody>
      </p:sp>
      <p:sp>
        <p:nvSpPr>
          <p:cNvPr id="182" name="Google Shape;123;p18"/>
          <p:cNvSpPr txBox="1"/>
          <p:nvPr/>
        </p:nvSpPr>
        <p:spPr>
          <a:xfrm>
            <a:off x="3203143" y="2325727"/>
            <a:ext cx="2668202" cy="449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6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Partnerships / Indirect Sales channel is barely launched - large companies in this space usually have roughly 50% of their revenue coming from indirect sales motions. </a:t>
            </a:r>
          </a:p>
        </p:txBody>
      </p:sp>
      <p:sp>
        <p:nvSpPr>
          <p:cNvPr id="183" name="Google Shape;124;p18"/>
          <p:cNvSpPr txBox="1"/>
          <p:nvPr/>
        </p:nvSpPr>
        <p:spPr>
          <a:xfrm>
            <a:off x="3196166" y="1760524"/>
            <a:ext cx="2668201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20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Untapped opportunity</a:t>
            </a:r>
          </a:p>
        </p:txBody>
      </p:sp>
      <p:sp>
        <p:nvSpPr>
          <p:cNvPr id="184" name="Google Shape;125;p18"/>
          <p:cNvSpPr txBox="1"/>
          <p:nvPr/>
        </p:nvSpPr>
        <p:spPr>
          <a:xfrm>
            <a:off x="5961568" y="2325727"/>
            <a:ext cx="2668202" cy="449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6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[CLIENT] can address multiple needs, allowing reps to always find a way-in corporates, a critical enabler for land-and-expand strategies, which is the playbook of enterprise sales motions.</a:t>
            </a:r>
          </a:p>
        </p:txBody>
      </p:sp>
      <p:sp>
        <p:nvSpPr>
          <p:cNvPr id="185" name="Google Shape;126;p18"/>
          <p:cNvSpPr txBox="1"/>
          <p:nvPr/>
        </p:nvSpPr>
        <p:spPr>
          <a:xfrm>
            <a:off x="5955591" y="1760524"/>
            <a:ext cx="2668201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20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Product Suite</a:t>
            </a:r>
          </a:p>
        </p:txBody>
      </p:sp>
      <p:pic>
        <p:nvPicPr>
          <p:cNvPr id="186" name="Fond vert foncé.pngGoogle Shape;127;p18" descr="Fond vert foncé.pngGoogle Shape;127;p18"/>
          <p:cNvPicPr>
            <a:picLocks noChangeAspect="1"/>
          </p:cNvPicPr>
          <p:nvPr/>
        </p:nvPicPr>
        <p:blipFill>
          <a:blip r:embed="rId5">
            <a:extLst/>
          </a:blip>
          <a:srcRect l="10035" t="0" r="60116" b="71122"/>
          <a:stretch>
            <a:fillRect/>
          </a:stretch>
        </p:blipFill>
        <p:spPr>
          <a:xfrm>
            <a:off x="1643174" y="3049900"/>
            <a:ext cx="2668192" cy="833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" y="0"/>
                </a:moveTo>
                <a:cubicBezTo>
                  <a:pt x="242" y="0"/>
                  <a:pt x="0" y="774"/>
                  <a:pt x="0" y="1727"/>
                </a:cubicBezTo>
                <a:lnTo>
                  <a:pt x="0" y="19873"/>
                </a:lnTo>
                <a:cubicBezTo>
                  <a:pt x="0" y="20826"/>
                  <a:pt x="242" y="21600"/>
                  <a:pt x="540" y="21600"/>
                </a:cubicBezTo>
                <a:lnTo>
                  <a:pt x="21060" y="21600"/>
                </a:lnTo>
                <a:cubicBezTo>
                  <a:pt x="21358" y="21600"/>
                  <a:pt x="21600" y="20826"/>
                  <a:pt x="21600" y="19873"/>
                </a:cubicBezTo>
                <a:lnTo>
                  <a:pt x="21600" y="1727"/>
                </a:lnTo>
                <a:cubicBezTo>
                  <a:pt x="21600" y="774"/>
                  <a:pt x="21358" y="0"/>
                  <a:pt x="21060" y="0"/>
                </a:cubicBezTo>
                <a:lnTo>
                  <a:pt x="540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87" name="Fond vert foncé.pngGoogle Shape;128;p18" descr="Fond vert foncé.pngGoogle Shape;128;p18"/>
          <p:cNvPicPr>
            <a:picLocks noChangeAspect="1"/>
          </p:cNvPicPr>
          <p:nvPr/>
        </p:nvPicPr>
        <p:blipFill>
          <a:blip r:embed="rId5">
            <a:extLst/>
          </a:blip>
          <a:srcRect l="10035" t="0" r="60116" b="71122"/>
          <a:stretch>
            <a:fillRect/>
          </a:stretch>
        </p:blipFill>
        <p:spPr>
          <a:xfrm>
            <a:off x="4410824" y="3049900"/>
            <a:ext cx="2668192" cy="833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" y="0"/>
                </a:moveTo>
                <a:cubicBezTo>
                  <a:pt x="242" y="0"/>
                  <a:pt x="0" y="774"/>
                  <a:pt x="0" y="1727"/>
                </a:cubicBezTo>
                <a:lnTo>
                  <a:pt x="0" y="19873"/>
                </a:lnTo>
                <a:cubicBezTo>
                  <a:pt x="0" y="20826"/>
                  <a:pt x="242" y="21600"/>
                  <a:pt x="540" y="21600"/>
                </a:cubicBezTo>
                <a:lnTo>
                  <a:pt x="21060" y="21600"/>
                </a:lnTo>
                <a:cubicBezTo>
                  <a:pt x="21358" y="21600"/>
                  <a:pt x="21600" y="20826"/>
                  <a:pt x="21600" y="19873"/>
                </a:cubicBezTo>
                <a:lnTo>
                  <a:pt x="21600" y="1727"/>
                </a:lnTo>
                <a:cubicBezTo>
                  <a:pt x="21600" y="774"/>
                  <a:pt x="21358" y="0"/>
                  <a:pt x="21060" y="0"/>
                </a:cubicBezTo>
                <a:lnTo>
                  <a:pt x="54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88" name="Google Shape;129;p18"/>
          <p:cNvSpPr txBox="1"/>
          <p:nvPr/>
        </p:nvSpPr>
        <p:spPr>
          <a:xfrm>
            <a:off x="1644193" y="3883605"/>
            <a:ext cx="2668202" cy="360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6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Reps at [CLIENT] want to perform, they are willing to grow and want to drive change</a:t>
            </a:r>
          </a:p>
        </p:txBody>
      </p:sp>
      <p:sp>
        <p:nvSpPr>
          <p:cNvPr id="189" name="Google Shape;130;p18"/>
          <p:cNvSpPr txBox="1"/>
          <p:nvPr/>
        </p:nvSpPr>
        <p:spPr>
          <a:xfrm>
            <a:off x="1644174" y="3514299"/>
            <a:ext cx="2668202" cy="36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Team Engagement &amp; commitment</a:t>
            </a:r>
          </a:p>
        </p:txBody>
      </p:sp>
      <p:sp>
        <p:nvSpPr>
          <p:cNvPr id="190" name="Google Shape;131;p18"/>
          <p:cNvSpPr txBox="1"/>
          <p:nvPr/>
        </p:nvSpPr>
        <p:spPr>
          <a:xfrm>
            <a:off x="4402618" y="3883605"/>
            <a:ext cx="2668201" cy="360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6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The new leadership has already initiated the right actions: driving change management, and pushing for accountability. </a:t>
            </a:r>
          </a:p>
        </p:txBody>
      </p:sp>
      <p:sp>
        <p:nvSpPr>
          <p:cNvPr id="191" name="Google Shape;132;p18"/>
          <p:cNvSpPr txBox="1"/>
          <p:nvPr/>
        </p:nvSpPr>
        <p:spPr>
          <a:xfrm>
            <a:off x="4402599" y="3490624"/>
            <a:ext cx="2668201" cy="39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>
              <a:defRPr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Senior Management</a:t>
            </a:r>
          </a:p>
        </p:txBody>
      </p:sp>
      <p:sp>
        <p:nvSpPr>
          <p:cNvPr id="192" name="TO EDIT"/>
          <p:cNvSpPr txBox="1"/>
          <p:nvPr/>
        </p:nvSpPr>
        <p:spPr>
          <a:xfrm rot="20042922">
            <a:off x="1449735" y="1855160"/>
            <a:ext cx="6244530" cy="1579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100">
                <a:solidFill>
                  <a:srgbClr val="DBCC00"/>
                </a:solidFill>
              </a:defRPr>
            </a:lvl1pPr>
          </a:lstStyle>
          <a:p>
            <a:pPr/>
            <a:r>
              <a:t>TO EDIT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37;p19"/>
          <p:cNvSpPr txBox="1"/>
          <p:nvPr>
            <p:ph type="ctrTitle"/>
          </p:nvPr>
        </p:nvSpPr>
        <p:spPr>
          <a:xfrm>
            <a:off x="483602" y="638424"/>
            <a:ext cx="8272499" cy="56520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8 Building Blocks have to be mastered to achieve profitable growth </a:t>
            </a:r>
          </a:p>
        </p:txBody>
      </p:sp>
      <p:sp>
        <p:nvSpPr>
          <p:cNvPr id="195" name="Google Shape;138;p19"/>
          <p:cNvSpPr txBox="1"/>
          <p:nvPr/>
        </p:nvSpPr>
        <p:spPr>
          <a:xfrm>
            <a:off x="861199" y="2110923"/>
            <a:ext cx="936601" cy="30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9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Sales Reps Excellence</a:t>
            </a:r>
          </a:p>
        </p:txBody>
      </p:sp>
      <p:sp>
        <p:nvSpPr>
          <p:cNvPr id="196" name="Google Shape;139;p19"/>
          <p:cNvSpPr txBox="1"/>
          <p:nvPr/>
        </p:nvSpPr>
        <p:spPr>
          <a:xfrm>
            <a:off x="861199" y="3723078"/>
            <a:ext cx="936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9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Sales engine</a:t>
            </a:r>
          </a:p>
        </p:txBody>
      </p:sp>
      <p:sp>
        <p:nvSpPr>
          <p:cNvPr id="197" name="Google Shape;140;p19"/>
          <p:cNvSpPr txBox="1"/>
          <p:nvPr/>
        </p:nvSpPr>
        <p:spPr>
          <a:xfrm>
            <a:off x="2321161" y="1779086"/>
            <a:ext cx="881101" cy="28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Hiring &amp; Ramp-up</a:t>
            </a:r>
          </a:p>
        </p:txBody>
      </p:sp>
      <p:sp>
        <p:nvSpPr>
          <p:cNvPr id="198" name="Google Shape;141;p19"/>
          <p:cNvSpPr txBox="1"/>
          <p:nvPr/>
        </p:nvSpPr>
        <p:spPr>
          <a:xfrm>
            <a:off x="3580381" y="1856477"/>
            <a:ext cx="8811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Enablement</a:t>
            </a:r>
          </a:p>
        </p:txBody>
      </p:sp>
      <p:sp>
        <p:nvSpPr>
          <p:cNvPr id="199" name="Google Shape;142;p19"/>
          <p:cNvSpPr txBox="1"/>
          <p:nvPr/>
        </p:nvSpPr>
        <p:spPr>
          <a:xfrm>
            <a:off x="4854014" y="1788705"/>
            <a:ext cx="1010101" cy="28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pPr>
            <a:r>
              <a:t>Sales Performance</a:t>
            </a:r>
          </a:p>
          <a:p>
            <a: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pPr>
            <a:r>
              <a:t>management</a:t>
            </a:r>
          </a:p>
        </p:txBody>
      </p:sp>
      <p:sp>
        <p:nvSpPr>
          <p:cNvPr id="200" name="Google Shape;143;p19"/>
          <p:cNvSpPr txBox="1"/>
          <p:nvPr/>
        </p:nvSpPr>
        <p:spPr>
          <a:xfrm>
            <a:off x="3164439" y="2508250"/>
            <a:ext cx="16047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Talent Management</a:t>
            </a:r>
          </a:p>
        </p:txBody>
      </p:sp>
      <p:sp>
        <p:nvSpPr>
          <p:cNvPr id="201" name="Google Shape;144;p19"/>
          <p:cNvSpPr txBox="1"/>
          <p:nvPr/>
        </p:nvSpPr>
        <p:spPr>
          <a:xfrm>
            <a:off x="2316864" y="3353361"/>
            <a:ext cx="881101" cy="28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Demand Generation</a:t>
            </a:r>
          </a:p>
        </p:txBody>
      </p:sp>
      <p:sp>
        <p:nvSpPr>
          <p:cNvPr id="202" name="Google Shape;145;p19"/>
          <p:cNvSpPr txBox="1"/>
          <p:nvPr/>
        </p:nvSpPr>
        <p:spPr>
          <a:xfrm>
            <a:off x="3576084" y="3430752"/>
            <a:ext cx="8811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Execution</a:t>
            </a:r>
          </a:p>
        </p:txBody>
      </p:sp>
      <p:sp>
        <p:nvSpPr>
          <p:cNvPr id="203" name="Google Shape;146;p19"/>
          <p:cNvSpPr txBox="1"/>
          <p:nvPr/>
        </p:nvSpPr>
        <p:spPr>
          <a:xfrm>
            <a:off x="4849719" y="3440370"/>
            <a:ext cx="10101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Client relationship</a:t>
            </a:r>
          </a:p>
        </p:txBody>
      </p:sp>
      <p:sp>
        <p:nvSpPr>
          <p:cNvPr id="204" name="Google Shape;147;p19"/>
          <p:cNvSpPr txBox="1"/>
          <p:nvPr/>
        </p:nvSpPr>
        <p:spPr>
          <a:xfrm>
            <a:off x="3160142" y="4082525"/>
            <a:ext cx="16047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Revenue Operations</a:t>
            </a:r>
          </a:p>
        </p:txBody>
      </p:sp>
      <p:pic>
        <p:nvPicPr>
          <p:cNvPr id="205" name="ATSCALE IBIZA382.jpgGoogle Shape;148;p19" descr="ATSCALE IBIZA382.jpgGoogle Shape;148;p19"/>
          <p:cNvPicPr>
            <a:picLocks noChangeAspect="1"/>
          </p:cNvPicPr>
          <p:nvPr/>
        </p:nvPicPr>
        <p:blipFill>
          <a:blip r:embed="rId3">
            <a:extLst/>
          </a:blip>
          <a:srcRect l="41672" t="0" r="12885" b="0"/>
          <a:stretch>
            <a:fillRect/>
          </a:stretch>
        </p:blipFill>
        <p:spPr>
          <a:xfrm>
            <a:off x="6413875" y="1299149"/>
            <a:ext cx="2341960" cy="3437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28" y="0"/>
                </a:moveTo>
                <a:cubicBezTo>
                  <a:pt x="191" y="0"/>
                  <a:pt x="0" y="130"/>
                  <a:pt x="0" y="292"/>
                </a:cubicBezTo>
                <a:lnTo>
                  <a:pt x="0" y="21308"/>
                </a:lnTo>
                <a:cubicBezTo>
                  <a:pt x="0" y="21470"/>
                  <a:pt x="191" y="21600"/>
                  <a:pt x="428" y="21600"/>
                </a:cubicBezTo>
                <a:lnTo>
                  <a:pt x="21172" y="21600"/>
                </a:lnTo>
                <a:cubicBezTo>
                  <a:pt x="21409" y="21600"/>
                  <a:pt x="21600" y="21470"/>
                  <a:pt x="21600" y="21308"/>
                </a:cubicBezTo>
                <a:lnTo>
                  <a:pt x="21600" y="292"/>
                </a:lnTo>
                <a:cubicBezTo>
                  <a:pt x="21600" y="130"/>
                  <a:pt x="21409" y="0"/>
                  <a:pt x="21172" y="0"/>
                </a:cubicBezTo>
                <a:lnTo>
                  <a:pt x="428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06" name="Google Shape;149;p19"/>
          <p:cNvSpPr/>
          <p:nvPr/>
        </p:nvSpPr>
        <p:spPr>
          <a:xfrm rot="10800000">
            <a:off x="398149" y="3041001"/>
            <a:ext cx="5931301" cy="17063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1" y="0"/>
                </a:moveTo>
                <a:lnTo>
                  <a:pt x="21459" y="0"/>
                </a:lnTo>
                <a:cubicBezTo>
                  <a:pt x="21537" y="0"/>
                  <a:pt x="21600" y="220"/>
                  <a:pt x="21600" y="492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492"/>
                </a:lnTo>
                <a:cubicBezTo>
                  <a:pt x="0" y="220"/>
                  <a:pt x="63" y="0"/>
                  <a:pt x="141" y="0"/>
                </a:cubicBezTo>
                <a:close/>
              </a:path>
            </a:pathLst>
          </a:custGeom>
          <a:solidFill>
            <a:srgbClr val="EEEEEE">
              <a:alpha val="5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207" name="Logo_atscale_sans texture.pngGoogle Shape;150;p19" descr="Logo_atscale_sans texture.pngGoogle Shape;150;p1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Google Shape;151;p19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9" name="Google Shape;152;p19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Restitution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157;p20"/>
          <p:cNvSpPr txBox="1"/>
          <p:nvPr>
            <p:ph type="ctrTitle"/>
          </p:nvPr>
        </p:nvSpPr>
        <p:spPr>
          <a:xfrm>
            <a:off x="483602" y="638424"/>
            <a:ext cx="8272499" cy="56520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Our model captures the quintessence of top-tier performance</a:t>
            </a:r>
          </a:p>
        </p:txBody>
      </p:sp>
      <p:pic>
        <p:nvPicPr>
          <p:cNvPr id="212" name="Logo_atscale_sans texture.pngGoogle Shape;158;p20" descr="Logo_atscale_sans texture.pngGoogle Shape;158;p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Google Shape;159;p20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4" name="Google Shape;160;p20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Restitution</a:t>
            </a:r>
          </a:p>
        </p:txBody>
      </p:sp>
      <p:sp>
        <p:nvSpPr>
          <p:cNvPr id="215" name="Google Shape;161;p20"/>
          <p:cNvSpPr txBox="1"/>
          <p:nvPr/>
        </p:nvSpPr>
        <p:spPr>
          <a:xfrm>
            <a:off x="573599" y="2014045"/>
            <a:ext cx="1074901" cy="30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900">
                <a:solidFill>
                  <a:srgbClr val="2E46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Sales Reps Excellence</a:t>
            </a:r>
          </a:p>
        </p:txBody>
      </p:sp>
      <p:pic>
        <p:nvPicPr>
          <p:cNvPr id="216" name="Google Shape;162;p20" descr="Google Shape;162;p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11198" y="1979440"/>
            <a:ext cx="2082302" cy="272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Google Shape;163;p20" descr="Google Shape;163;p2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11148" y="1682495"/>
            <a:ext cx="1029001" cy="2711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Google Shape;164;p20" descr="Google Shape;164;p2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464498" y="1682495"/>
            <a:ext cx="1029001" cy="271128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Google Shape;165;p20"/>
          <p:cNvSpPr txBox="1"/>
          <p:nvPr/>
        </p:nvSpPr>
        <p:spPr>
          <a:xfrm>
            <a:off x="6411198" y="1628220"/>
            <a:ext cx="1029001" cy="38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Performance Routine</a:t>
            </a:r>
          </a:p>
        </p:txBody>
      </p:sp>
      <p:sp>
        <p:nvSpPr>
          <p:cNvPr id="220" name="Google Shape;166;p20"/>
          <p:cNvSpPr txBox="1"/>
          <p:nvPr/>
        </p:nvSpPr>
        <p:spPr>
          <a:xfrm>
            <a:off x="7464549" y="1682394"/>
            <a:ext cx="10290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Floor Animation</a:t>
            </a:r>
          </a:p>
        </p:txBody>
      </p:sp>
      <p:sp>
        <p:nvSpPr>
          <p:cNvPr id="221" name="Google Shape;167;p20"/>
          <p:cNvSpPr txBox="1"/>
          <p:nvPr/>
        </p:nvSpPr>
        <p:spPr>
          <a:xfrm>
            <a:off x="6411148" y="1979615"/>
            <a:ext cx="20823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Under &amp; Top Performance Management</a:t>
            </a:r>
          </a:p>
        </p:txBody>
      </p:sp>
      <p:pic>
        <p:nvPicPr>
          <p:cNvPr id="222" name="Google Shape;168;p20" descr="Google Shape;168;p2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48499" y="1682490"/>
            <a:ext cx="1029001" cy="2711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Google Shape;169;p20" descr="Google Shape;169;p2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701850" y="1682490"/>
            <a:ext cx="1029000" cy="2711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Google Shape;170;p20" descr="Google Shape;170;p2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48474" y="1979330"/>
            <a:ext cx="1029001" cy="2711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Google Shape;171;p20" descr="Google Shape;171;p2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701825" y="1979330"/>
            <a:ext cx="1029000" cy="27112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Google Shape;172;p20"/>
          <p:cNvSpPr txBox="1"/>
          <p:nvPr/>
        </p:nvSpPr>
        <p:spPr>
          <a:xfrm>
            <a:off x="1648524" y="1682394"/>
            <a:ext cx="10290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Talent Acquisition</a:t>
            </a:r>
          </a:p>
        </p:txBody>
      </p:sp>
      <p:sp>
        <p:nvSpPr>
          <p:cNvPr id="227" name="Google Shape;173;p20"/>
          <p:cNvSpPr txBox="1"/>
          <p:nvPr/>
        </p:nvSpPr>
        <p:spPr>
          <a:xfrm>
            <a:off x="2701875" y="1682394"/>
            <a:ext cx="1029000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Hiring process</a:t>
            </a:r>
          </a:p>
        </p:txBody>
      </p:sp>
      <p:sp>
        <p:nvSpPr>
          <p:cNvPr id="228" name="Google Shape;174;p20"/>
          <p:cNvSpPr txBox="1"/>
          <p:nvPr/>
        </p:nvSpPr>
        <p:spPr>
          <a:xfrm>
            <a:off x="1648499" y="1979220"/>
            <a:ext cx="10290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New hire onboarding</a:t>
            </a:r>
          </a:p>
        </p:txBody>
      </p:sp>
      <p:sp>
        <p:nvSpPr>
          <p:cNvPr id="229" name="Google Shape;175;p20"/>
          <p:cNvSpPr txBox="1"/>
          <p:nvPr/>
        </p:nvSpPr>
        <p:spPr>
          <a:xfrm>
            <a:off x="2701850" y="1979220"/>
            <a:ext cx="1029000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New hire ramp-up</a:t>
            </a:r>
          </a:p>
        </p:txBody>
      </p:sp>
      <p:pic>
        <p:nvPicPr>
          <p:cNvPr id="230" name="Google Shape;176;p20" descr="Google Shape;176;p2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083187" y="1682490"/>
            <a:ext cx="1029000" cy="2711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Google Shape;177;p20" descr="Google Shape;177;p2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083211" y="1979428"/>
            <a:ext cx="1029001" cy="2711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Google Shape;178;p20" descr="Google Shape;178;p2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029836" y="1979428"/>
            <a:ext cx="1029001" cy="271128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Google Shape;179;p20"/>
          <p:cNvSpPr txBox="1"/>
          <p:nvPr/>
        </p:nvSpPr>
        <p:spPr>
          <a:xfrm>
            <a:off x="5083200" y="1682394"/>
            <a:ext cx="10290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Collaterals</a:t>
            </a:r>
          </a:p>
        </p:txBody>
      </p:sp>
      <p:sp>
        <p:nvSpPr>
          <p:cNvPr id="234" name="Google Shape;180;p20"/>
          <p:cNvSpPr txBox="1"/>
          <p:nvPr/>
        </p:nvSpPr>
        <p:spPr>
          <a:xfrm>
            <a:off x="4029824" y="1979220"/>
            <a:ext cx="10290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Playbook</a:t>
            </a:r>
          </a:p>
        </p:txBody>
      </p:sp>
      <p:sp>
        <p:nvSpPr>
          <p:cNvPr id="235" name="Google Shape;181;p20"/>
          <p:cNvSpPr txBox="1"/>
          <p:nvPr/>
        </p:nvSpPr>
        <p:spPr>
          <a:xfrm>
            <a:off x="5083175" y="1979220"/>
            <a:ext cx="1029000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Training</a:t>
            </a:r>
          </a:p>
        </p:txBody>
      </p:sp>
      <p:pic>
        <p:nvPicPr>
          <p:cNvPr id="236" name="Google Shape;182;p20" descr="Google Shape;182;p2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029912" y="1682487"/>
            <a:ext cx="1028901" cy="271102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Google Shape;183;p20"/>
          <p:cNvSpPr txBox="1"/>
          <p:nvPr/>
        </p:nvSpPr>
        <p:spPr>
          <a:xfrm>
            <a:off x="4029850" y="1682394"/>
            <a:ext cx="10290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Methodology</a:t>
            </a:r>
          </a:p>
        </p:txBody>
      </p:sp>
      <p:grpSp>
        <p:nvGrpSpPr>
          <p:cNvPr id="240" name="Google Shape;184;p20"/>
          <p:cNvGrpSpPr/>
          <p:nvPr/>
        </p:nvGrpSpPr>
        <p:grpSpPr>
          <a:xfrm>
            <a:off x="1648524" y="1366700"/>
            <a:ext cx="2082301" cy="309850"/>
            <a:chOff x="0" y="0"/>
            <a:chExt cx="2082300" cy="309849"/>
          </a:xfrm>
        </p:grpSpPr>
        <p:sp>
          <p:nvSpPr>
            <p:cNvPr id="238" name="Rectangle aux angles arrondis"/>
            <p:cNvSpPr/>
            <p:nvPr/>
          </p:nvSpPr>
          <p:spPr>
            <a:xfrm>
              <a:off x="0" y="19324"/>
              <a:ext cx="2082301" cy="2712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</a:pPr>
            </a:p>
          </p:txBody>
        </p:sp>
        <p:sp>
          <p:nvSpPr>
            <p:cNvPr id="239" name="Sales Hiring &amp; Ramp-up"/>
            <p:cNvSpPr txBox="1"/>
            <p:nvPr/>
          </p:nvSpPr>
          <p:spPr>
            <a:xfrm>
              <a:off x="13239" y="0"/>
              <a:ext cx="2055822" cy="309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8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Hiring &amp; Ramp-up</a:t>
              </a:r>
            </a:p>
          </p:txBody>
        </p:sp>
      </p:grpSp>
      <p:grpSp>
        <p:nvGrpSpPr>
          <p:cNvPr id="243" name="Google Shape;185;p20"/>
          <p:cNvGrpSpPr/>
          <p:nvPr/>
        </p:nvGrpSpPr>
        <p:grpSpPr>
          <a:xfrm>
            <a:off x="4029848" y="1366700"/>
            <a:ext cx="2082302" cy="309850"/>
            <a:chOff x="0" y="0"/>
            <a:chExt cx="2082300" cy="309849"/>
          </a:xfrm>
        </p:grpSpPr>
        <p:sp>
          <p:nvSpPr>
            <p:cNvPr id="241" name="Rectangle aux angles arrondis"/>
            <p:cNvSpPr/>
            <p:nvPr/>
          </p:nvSpPr>
          <p:spPr>
            <a:xfrm>
              <a:off x="0" y="19324"/>
              <a:ext cx="2082301" cy="2712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</a:pPr>
            </a:p>
          </p:txBody>
        </p:sp>
        <p:sp>
          <p:nvSpPr>
            <p:cNvPr id="242" name="Sales Enablement"/>
            <p:cNvSpPr txBox="1"/>
            <p:nvPr/>
          </p:nvSpPr>
          <p:spPr>
            <a:xfrm>
              <a:off x="13239" y="0"/>
              <a:ext cx="2055822" cy="309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8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Enablement</a:t>
              </a:r>
            </a:p>
          </p:txBody>
        </p:sp>
      </p:grpSp>
      <p:grpSp>
        <p:nvGrpSpPr>
          <p:cNvPr id="246" name="Google Shape;186;p20"/>
          <p:cNvGrpSpPr/>
          <p:nvPr/>
        </p:nvGrpSpPr>
        <p:grpSpPr>
          <a:xfrm>
            <a:off x="6411198" y="1366700"/>
            <a:ext cx="2082302" cy="309850"/>
            <a:chOff x="0" y="0"/>
            <a:chExt cx="2082300" cy="309849"/>
          </a:xfrm>
        </p:grpSpPr>
        <p:sp>
          <p:nvSpPr>
            <p:cNvPr id="244" name="Rectangle aux angles arrondis"/>
            <p:cNvSpPr/>
            <p:nvPr/>
          </p:nvSpPr>
          <p:spPr>
            <a:xfrm>
              <a:off x="0" y="19324"/>
              <a:ext cx="2082301" cy="2712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</a:pPr>
            </a:p>
          </p:txBody>
        </p:sp>
        <p:sp>
          <p:nvSpPr>
            <p:cNvPr id="245" name="Sales Performance Management"/>
            <p:cNvSpPr txBox="1"/>
            <p:nvPr/>
          </p:nvSpPr>
          <p:spPr>
            <a:xfrm>
              <a:off x="13239" y="0"/>
              <a:ext cx="2055822" cy="309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8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Performance Management</a:t>
              </a:r>
            </a:p>
          </p:txBody>
        </p:sp>
      </p:grpSp>
      <p:grpSp>
        <p:nvGrpSpPr>
          <p:cNvPr id="249" name="Google Shape;187;p20"/>
          <p:cNvGrpSpPr/>
          <p:nvPr/>
        </p:nvGrpSpPr>
        <p:grpSpPr>
          <a:xfrm>
            <a:off x="1648524" y="2356455"/>
            <a:ext cx="6879302" cy="309851"/>
            <a:chOff x="0" y="0"/>
            <a:chExt cx="6879300" cy="309849"/>
          </a:xfrm>
        </p:grpSpPr>
        <p:sp>
          <p:nvSpPr>
            <p:cNvPr id="247" name="Rectangle aux angles arrondis"/>
            <p:cNvSpPr/>
            <p:nvPr/>
          </p:nvSpPr>
          <p:spPr>
            <a:xfrm>
              <a:off x="0" y="19324"/>
              <a:ext cx="6879301" cy="2712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</a:pPr>
            </a:p>
          </p:txBody>
        </p:sp>
        <p:sp>
          <p:nvSpPr>
            <p:cNvPr id="248" name="Talent Management"/>
            <p:cNvSpPr txBox="1"/>
            <p:nvPr/>
          </p:nvSpPr>
          <p:spPr>
            <a:xfrm>
              <a:off x="13239" y="0"/>
              <a:ext cx="6852822" cy="309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8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Talent Management</a:t>
              </a:r>
            </a:p>
          </p:txBody>
        </p:sp>
      </p:grpSp>
      <p:pic>
        <p:nvPicPr>
          <p:cNvPr id="250" name="Google Shape;188;p20" descr="Google Shape;188;p2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648524" y="2679999"/>
            <a:ext cx="1688208" cy="272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Google Shape;189;p20" descr="Google Shape;189;p2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382810" y="2679999"/>
            <a:ext cx="1688207" cy="272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Google Shape;190;p20" descr="Google Shape;190;p2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105536" y="2679999"/>
            <a:ext cx="1688207" cy="272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Google Shape;191;p20" descr="Google Shape;191;p2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839618" y="2679999"/>
            <a:ext cx="1688208" cy="272026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Google Shape;192;p20"/>
          <p:cNvSpPr txBox="1"/>
          <p:nvPr/>
        </p:nvSpPr>
        <p:spPr>
          <a:xfrm>
            <a:off x="1648524" y="2680174"/>
            <a:ext cx="16881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Org Structure</a:t>
            </a:r>
          </a:p>
        </p:txBody>
      </p:sp>
      <p:sp>
        <p:nvSpPr>
          <p:cNvPr id="255" name="Google Shape;193;p20"/>
          <p:cNvSpPr txBox="1"/>
          <p:nvPr/>
        </p:nvSpPr>
        <p:spPr>
          <a:xfrm>
            <a:off x="3382879" y="2680174"/>
            <a:ext cx="16881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Career Path</a:t>
            </a:r>
          </a:p>
        </p:txBody>
      </p:sp>
      <p:sp>
        <p:nvSpPr>
          <p:cNvPr id="256" name="Google Shape;194;p20"/>
          <p:cNvSpPr txBox="1"/>
          <p:nvPr/>
        </p:nvSpPr>
        <p:spPr>
          <a:xfrm>
            <a:off x="5105572" y="2680174"/>
            <a:ext cx="16881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Coaching of First Line Sales Managers</a:t>
            </a:r>
          </a:p>
        </p:txBody>
      </p:sp>
      <p:sp>
        <p:nvSpPr>
          <p:cNvPr id="257" name="Google Shape;195;p20"/>
          <p:cNvSpPr txBox="1"/>
          <p:nvPr/>
        </p:nvSpPr>
        <p:spPr>
          <a:xfrm>
            <a:off x="6839646" y="2680174"/>
            <a:ext cx="16881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Manager Academy</a:t>
            </a:r>
          </a:p>
        </p:txBody>
      </p:sp>
      <p:sp>
        <p:nvSpPr>
          <p:cNvPr id="258" name="Google Shape;196;p20"/>
          <p:cNvSpPr txBox="1"/>
          <p:nvPr/>
        </p:nvSpPr>
        <p:spPr>
          <a:xfrm>
            <a:off x="573588" y="3918375"/>
            <a:ext cx="10749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900">
                <a:solidFill>
                  <a:srgbClr val="2E46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Sales Engine</a:t>
            </a:r>
          </a:p>
        </p:txBody>
      </p:sp>
      <p:pic>
        <p:nvPicPr>
          <p:cNvPr id="259" name="Google Shape;197;p20" descr="Google Shape;197;p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11186" y="3798639"/>
            <a:ext cx="2082301" cy="272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Google Shape;198;p20" descr="Google Shape;198;p2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11136" y="3501695"/>
            <a:ext cx="1029001" cy="2711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Google Shape;199;p20" descr="Google Shape;199;p2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464487" y="3501695"/>
            <a:ext cx="1029000" cy="271128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Google Shape;200;p20"/>
          <p:cNvSpPr txBox="1"/>
          <p:nvPr/>
        </p:nvSpPr>
        <p:spPr>
          <a:xfrm>
            <a:off x="6411186" y="3501593"/>
            <a:ext cx="10290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Client Territory Planning</a:t>
            </a:r>
          </a:p>
        </p:txBody>
      </p:sp>
      <p:sp>
        <p:nvSpPr>
          <p:cNvPr id="263" name="Google Shape;201;p20"/>
          <p:cNvSpPr txBox="1"/>
          <p:nvPr/>
        </p:nvSpPr>
        <p:spPr>
          <a:xfrm>
            <a:off x="7464536" y="3447420"/>
            <a:ext cx="1029001" cy="38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Outreach Strategy, SLAs &amp; Quotas</a:t>
            </a:r>
          </a:p>
        </p:txBody>
      </p:sp>
      <p:sp>
        <p:nvSpPr>
          <p:cNvPr id="264" name="Google Shape;202;p20"/>
          <p:cNvSpPr txBox="1"/>
          <p:nvPr/>
        </p:nvSpPr>
        <p:spPr>
          <a:xfrm>
            <a:off x="6411136" y="3798814"/>
            <a:ext cx="20823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Portfolio Growth &amp; Churn Prevention</a:t>
            </a:r>
          </a:p>
        </p:txBody>
      </p:sp>
      <p:pic>
        <p:nvPicPr>
          <p:cNvPr id="265" name="Google Shape;203;p20" descr="Google Shape;203;p2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48486" y="3501690"/>
            <a:ext cx="1029001" cy="2711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Google Shape;204;p20" descr="Google Shape;204;p2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701837" y="3501690"/>
            <a:ext cx="1029001" cy="271128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Google Shape;205;p20"/>
          <p:cNvSpPr txBox="1"/>
          <p:nvPr/>
        </p:nvSpPr>
        <p:spPr>
          <a:xfrm>
            <a:off x="1648511" y="3447420"/>
            <a:ext cx="1029001" cy="38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Demand Generation Strategy</a:t>
            </a:r>
          </a:p>
        </p:txBody>
      </p:sp>
      <p:sp>
        <p:nvSpPr>
          <p:cNvPr id="268" name="Google Shape;206;p20"/>
          <p:cNvSpPr txBox="1"/>
          <p:nvPr/>
        </p:nvSpPr>
        <p:spPr>
          <a:xfrm>
            <a:off x="2701862" y="3447420"/>
            <a:ext cx="1029001" cy="38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Team Structure &amp; Ownership</a:t>
            </a:r>
          </a:p>
        </p:txBody>
      </p:sp>
      <p:pic>
        <p:nvPicPr>
          <p:cNvPr id="269" name="Google Shape;207;p20" descr="Google Shape;207;p2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083175" y="3501690"/>
            <a:ext cx="1029000" cy="271128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Google Shape;208;p20"/>
          <p:cNvSpPr txBox="1"/>
          <p:nvPr/>
        </p:nvSpPr>
        <p:spPr>
          <a:xfrm>
            <a:off x="5083187" y="3447420"/>
            <a:ext cx="1029001" cy="38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Discovery &amp; Qualification</a:t>
            </a:r>
          </a:p>
        </p:txBody>
      </p:sp>
      <p:pic>
        <p:nvPicPr>
          <p:cNvPr id="271" name="Google Shape;209;p20" descr="Google Shape;209;p2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029900" y="3501687"/>
            <a:ext cx="1028901" cy="271102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Google Shape;210;p20"/>
          <p:cNvSpPr txBox="1"/>
          <p:nvPr/>
        </p:nvSpPr>
        <p:spPr>
          <a:xfrm>
            <a:off x="4029836" y="3501593"/>
            <a:ext cx="10290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Prospection</a:t>
            </a:r>
          </a:p>
        </p:txBody>
      </p:sp>
      <p:grpSp>
        <p:nvGrpSpPr>
          <p:cNvPr id="275" name="Google Shape;211;p20"/>
          <p:cNvGrpSpPr/>
          <p:nvPr/>
        </p:nvGrpSpPr>
        <p:grpSpPr>
          <a:xfrm>
            <a:off x="1648511" y="3185900"/>
            <a:ext cx="2082302" cy="309851"/>
            <a:chOff x="0" y="0"/>
            <a:chExt cx="2082300" cy="309849"/>
          </a:xfrm>
        </p:grpSpPr>
        <p:sp>
          <p:nvSpPr>
            <p:cNvPr id="273" name="Rectangle aux angles arrondis"/>
            <p:cNvSpPr/>
            <p:nvPr/>
          </p:nvSpPr>
          <p:spPr>
            <a:xfrm>
              <a:off x="0" y="19324"/>
              <a:ext cx="2082301" cy="2712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</a:pPr>
            </a:p>
          </p:txBody>
        </p:sp>
        <p:sp>
          <p:nvSpPr>
            <p:cNvPr id="274" name="Demand Generation"/>
            <p:cNvSpPr txBox="1"/>
            <p:nvPr/>
          </p:nvSpPr>
          <p:spPr>
            <a:xfrm>
              <a:off x="13239" y="0"/>
              <a:ext cx="2055822" cy="309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8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Demand Generation</a:t>
              </a:r>
            </a:p>
          </p:txBody>
        </p:sp>
      </p:grpSp>
      <p:grpSp>
        <p:nvGrpSpPr>
          <p:cNvPr id="278" name="Google Shape;212;p20"/>
          <p:cNvGrpSpPr/>
          <p:nvPr/>
        </p:nvGrpSpPr>
        <p:grpSpPr>
          <a:xfrm>
            <a:off x="4029836" y="3185900"/>
            <a:ext cx="2082301" cy="309851"/>
            <a:chOff x="0" y="0"/>
            <a:chExt cx="2082300" cy="309849"/>
          </a:xfrm>
        </p:grpSpPr>
        <p:sp>
          <p:nvSpPr>
            <p:cNvPr id="276" name="Rectangle aux angles arrondis"/>
            <p:cNvSpPr/>
            <p:nvPr/>
          </p:nvSpPr>
          <p:spPr>
            <a:xfrm>
              <a:off x="0" y="19324"/>
              <a:ext cx="2082301" cy="2712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</a:pPr>
            </a:p>
          </p:txBody>
        </p:sp>
        <p:sp>
          <p:nvSpPr>
            <p:cNvPr id="277" name="Sales Execution"/>
            <p:cNvSpPr txBox="1"/>
            <p:nvPr/>
          </p:nvSpPr>
          <p:spPr>
            <a:xfrm>
              <a:off x="13239" y="0"/>
              <a:ext cx="2055822" cy="309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8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Execution</a:t>
              </a:r>
            </a:p>
          </p:txBody>
        </p:sp>
      </p:grpSp>
      <p:grpSp>
        <p:nvGrpSpPr>
          <p:cNvPr id="281" name="Google Shape;213;p20"/>
          <p:cNvGrpSpPr/>
          <p:nvPr/>
        </p:nvGrpSpPr>
        <p:grpSpPr>
          <a:xfrm>
            <a:off x="6411186" y="3185900"/>
            <a:ext cx="2082301" cy="309851"/>
            <a:chOff x="0" y="0"/>
            <a:chExt cx="2082300" cy="309849"/>
          </a:xfrm>
        </p:grpSpPr>
        <p:sp>
          <p:nvSpPr>
            <p:cNvPr id="279" name="Rectangle aux angles arrondis"/>
            <p:cNvSpPr/>
            <p:nvPr/>
          </p:nvSpPr>
          <p:spPr>
            <a:xfrm>
              <a:off x="0" y="19324"/>
              <a:ext cx="2082301" cy="2712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</a:pPr>
            </a:p>
          </p:txBody>
        </p:sp>
        <p:sp>
          <p:nvSpPr>
            <p:cNvPr id="280" name="Client Relationship"/>
            <p:cNvSpPr txBox="1"/>
            <p:nvPr/>
          </p:nvSpPr>
          <p:spPr>
            <a:xfrm>
              <a:off x="13239" y="0"/>
              <a:ext cx="2055822" cy="309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8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Client Relationship</a:t>
              </a:r>
            </a:p>
          </p:txBody>
        </p:sp>
      </p:grpSp>
      <p:grpSp>
        <p:nvGrpSpPr>
          <p:cNvPr id="284" name="Google Shape;214;p20"/>
          <p:cNvGrpSpPr/>
          <p:nvPr/>
        </p:nvGrpSpPr>
        <p:grpSpPr>
          <a:xfrm>
            <a:off x="1648511" y="4175656"/>
            <a:ext cx="6879302" cy="309851"/>
            <a:chOff x="0" y="0"/>
            <a:chExt cx="6879300" cy="309849"/>
          </a:xfrm>
        </p:grpSpPr>
        <p:sp>
          <p:nvSpPr>
            <p:cNvPr id="282" name="Rectangle aux angles arrondis"/>
            <p:cNvSpPr/>
            <p:nvPr/>
          </p:nvSpPr>
          <p:spPr>
            <a:xfrm>
              <a:off x="0" y="19324"/>
              <a:ext cx="6879301" cy="2712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</a:pPr>
            </a:p>
          </p:txBody>
        </p:sp>
        <p:sp>
          <p:nvSpPr>
            <p:cNvPr id="283" name="Revenue Operations"/>
            <p:cNvSpPr txBox="1"/>
            <p:nvPr/>
          </p:nvSpPr>
          <p:spPr>
            <a:xfrm>
              <a:off x="13239" y="0"/>
              <a:ext cx="6852822" cy="309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8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Revenue Operations</a:t>
              </a:r>
            </a:p>
          </p:txBody>
        </p:sp>
      </p:grpSp>
      <p:pic>
        <p:nvPicPr>
          <p:cNvPr id="285" name="Google Shape;215;p20" descr="Google Shape;215;p2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648524" y="3798525"/>
            <a:ext cx="681268" cy="268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Google Shape;216;p20" descr="Google Shape;216;p2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349036" y="3798525"/>
            <a:ext cx="681268" cy="268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Google Shape;217;p20" descr="Google Shape;217;p2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049558" y="3798525"/>
            <a:ext cx="681268" cy="268501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Google Shape;218;p20"/>
          <p:cNvSpPr txBox="1"/>
          <p:nvPr/>
        </p:nvSpPr>
        <p:spPr>
          <a:xfrm>
            <a:off x="1648474" y="3744526"/>
            <a:ext cx="681301" cy="38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Alignment with Sales</a:t>
            </a:r>
          </a:p>
        </p:txBody>
      </p:sp>
      <p:sp>
        <p:nvSpPr>
          <p:cNvPr id="289" name="Google Shape;219;p20"/>
          <p:cNvSpPr txBox="1"/>
          <p:nvPr/>
        </p:nvSpPr>
        <p:spPr>
          <a:xfrm>
            <a:off x="2349025" y="3744526"/>
            <a:ext cx="681301" cy="38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Campaign Management</a:t>
            </a:r>
          </a:p>
        </p:txBody>
      </p:sp>
      <p:sp>
        <p:nvSpPr>
          <p:cNvPr id="290" name="Google Shape;220;p20"/>
          <p:cNvSpPr txBox="1"/>
          <p:nvPr/>
        </p:nvSpPr>
        <p:spPr>
          <a:xfrm>
            <a:off x="3049549" y="3744526"/>
            <a:ext cx="681301" cy="38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Full funnel data</a:t>
            </a:r>
          </a:p>
        </p:txBody>
      </p:sp>
      <p:pic>
        <p:nvPicPr>
          <p:cNvPr id="291" name="Google Shape;221;p20" descr="Google Shape;221;p20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647438" y="4499200"/>
            <a:ext cx="2277474" cy="27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" name="Google Shape;222;p20" descr="Google Shape;222;p20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3948350" y="4499200"/>
            <a:ext cx="2277475" cy="27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3" name="Google Shape;223;p20" descr="Google Shape;223;p20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249263" y="4499200"/>
            <a:ext cx="2277475" cy="272101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Google Shape;224;p20"/>
          <p:cNvSpPr txBox="1"/>
          <p:nvPr/>
        </p:nvSpPr>
        <p:spPr>
          <a:xfrm>
            <a:off x="3949465" y="4499375"/>
            <a:ext cx="22773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Target-Setting, Compensation Plans, Forecasts </a:t>
            </a:r>
          </a:p>
        </p:txBody>
      </p:sp>
      <p:sp>
        <p:nvSpPr>
          <p:cNvPr id="295" name="Google Shape;225;p20"/>
          <p:cNvSpPr txBox="1"/>
          <p:nvPr/>
        </p:nvSpPr>
        <p:spPr>
          <a:xfrm>
            <a:off x="6251309" y="4499299"/>
            <a:ext cx="22776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Toolstack</a:t>
            </a:r>
          </a:p>
        </p:txBody>
      </p:sp>
      <p:sp>
        <p:nvSpPr>
          <p:cNvPr id="296" name="Google Shape;226;p20"/>
          <p:cNvSpPr txBox="1"/>
          <p:nvPr/>
        </p:nvSpPr>
        <p:spPr>
          <a:xfrm>
            <a:off x="1647482" y="4499299"/>
            <a:ext cx="22773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Go-to market &amp; process</a:t>
            </a:r>
          </a:p>
        </p:txBody>
      </p:sp>
      <p:pic>
        <p:nvPicPr>
          <p:cNvPr id="297" name="Google Shape;227;p20" descr="Google Shape;227;p20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4029850" y="3789215"/>
            <a:ext cx="681276" cy="2871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8" name="Google Shape;228;p20" descr="Google Shape;228;p20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4730338" y="3798515"/>
            <a:ext cx="681275" cy="2871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" name="Google Shape;229;p20" descr="Google Shape;229;p20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5430837" y="3798515"/>
            <a:ext cx="681276" cy="287110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Google Shape;230;p20"/>
          <p:cNvSpPr txBox="1"/>
          <p:nvPr/>
        </p:nvSpPr>
        <p:spPr>
          <a:xfrm>
            <a:off x="4029824" y="3798700"/>
            <a:ext cx="6813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Demo</a:t>
            </a:r>
          </a:p>
        </p:txBody>
      </p:sp>
      <p:sp>
        <p:nvSpPr>
          <p:cNvPr id="301" name="Google Shape;231;p20"/>
          <p:cNvSpPr txBox="1"/>
          <p:nvPr/>
        </p:nvSpPr>
        <p:spPr>
          <a:xfrm>
            <a:off x="4730374" y="3744526"/>
            <a:ext cx="681301" cy="38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Proposal &amp; negotiation</a:t>
            </a:r>
          </a:p>
        </p:txBody>
      </p:sp>
      <p:sp>
        <p:nvSpPr>
          <p:cNvPr id="302" name="Google Shape;232;p20"/>
          <p:cNvSpPr txBox="1"/>
          <p:nvPr/>
        </p:nvSpPr>
        <p:spPr>
          <a:xfrm>
            <a:off x="5430899" y="3798700"/>
            <a:ext cx="6813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Closing</a:t>
            </a:r>
          </a:p>
        </p:txBody>
      </p:sp>
      <p:pic>
        <p:nvPicPr>
          <p:cNvPr id="303" name="hexagon arrow.pngGoogle Shape;233;p20" descr="hexagon arrow.pngGoogle Shape;233;p20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3787252" y="1739955"/>
            <a:ext cx="174651" cy="172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4" name="hexagon arrow.pngGoogle Shape;234;p20" descr="hexagon arrow.pngGoogle Shape;234;p20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6174340" y="1739955"/>
            <a:ext cx="174651" cy="172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hexagon arrow.pngGoogle Shape;235;p20" descr="hexagon arrow.pngGoogle Shape;235;p20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3787252" y="3557163"/>
            <a:ext cx="174651" cy="172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6" name="hexagon arrow.pngGoogle Shape;236;p20" descr="hexagon arrow.pngGoogle Shape;236;p20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6174340" y="3557163"/>
            <a:ext cx="174651" cy="1722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Logo_atscale_sans texture.pngGoogle Shape;241;p21" descr="Logo_atscale_sans texture.pngGoogle Shape;241;p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Google Shape;242;p21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10" name="Google Shape;243;p21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11" name="Google Shape;244;p21"/>
          <p:cNvSpPr txBox="1"/>
          <p:nvPr/>
        </p:nvSpPr>
        <p:spPr>
          <a:xfrm>
            <a:off x="1064393" y="1574301"/>
            <a:ext cx="23889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Introduction</a:t>
            </a:r>
          </a:p>
        </p:txBody>
      </p:sp>
      <p:pic>
        <p:nvPicPr>
          <p:cNvPr id="312" name="Hexagone.pngGoogle Shape;245;p21" descr="Hexagone.pngGoogle Shape;245;p2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225376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Google Shape;246;p21"/>
          <p:cNvSpPr txBox="1"/>
          <p:nvPr>
            <p:ph type="ctrTitle"/>
          </p:nvPr>
        </p:nvSpPr>
        <p:spPr>
          <a:xfrm>
            <a:off x="621584" y="2258927"/>
            <a:ext cx="277801" cy="354901"/>
          </a:xfrm>
          <a:prstGeom prst="rect">
            <a:avLst/>
          </a:prstGeom>
        </p:spPr>
        <p:txBody>
          <a:bodyPr lIns="51750" tIns="51750" rIns="51750" bIns="51750"/>
          <a:lstStyle>
            <a:lvl1pPr algn="l">
              <a:defRPr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314" name="Hexagone.pngGoogle Shape;247;p21" descr="Hexagone.pngGoogle Shape;247;p2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301811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Google Shape;248;p21"/>
          <p:cNvSpPr txBox="1"/>
          <p:nvPr/>
        </p:nvSpPr>
        <p:spPr>
          <a:xfrm>
            <a:off x="621584" y="3023277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316" name="Hexagone.pngGoogle Shape;249;p21" descr="Hexagone.pngGoogle Shape;249;p2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3778691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Google Shape;250;p21"/>
          <p:cNvSpPr txBox="1"/>
          <p:nvPr/>
        </p:nvSpPr>
        <p:spPr>
          <a:xfrm>
            <a:off x="609373" y="3783851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18" name="Google Shape;251;p21"/>
          <p:cNvSpPr txBox="1"/>
          <p:nvPr/>
        </p:nvSpPr>
        <p:spPr>
          <a:xfrm>
            <a:off x="1064400" y="2310901"/>
            <a:ext cx="23889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Revenue Audit findings </a:t>
            </a:r>
          </a:p>
        </p:txBody>
      </p:sp>
      <p:sp>
        <p:nvSpPr>
          <p:cNvPr id="319" name="Google Shape;252;p21"/>
          <p:cNvSpPr txBox="1"/>
          <p:nvPr/>
        </p:nvSpPr>
        <p:spPr>
          <a:xfrm>
            <a:off x="1064400" y="3014549"/>
            <a:ext cx="3424500" cy="476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Competency-Gap Analysis per Building Block</a:t>
            </a:r>
          </a:p>
        </p:txBody>
      </p:sp>
      <p:sp>
        <p:nvSpPr>
          <p:cNvPr id="320" name="Google Shape;253;p21"/>
          <p:cNvSpPr txBox="1"/>
          <p:nvPr/>
        </p:nvSpPr>
        <p:spPr>
          <a:xfrm>
            <a:off x="1064399" y="3827950"/>
            <a:ext cx="32055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6-month Roadmap</a:t>
            </a:r>
          </a:p>
        </p:txBody>
      </p:sp>
      <p:pic>
        <p:nvPicPr>
          <p:cNvPr id="321" name="Hexagone.pngGoogle Shape;254;p21" descr="Hexagone.pngGoogle Shape;254;p2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148941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Google Shape;255;p21"/>
          <p:cNvSpPr txBox="1"/>
          <p:nvPr/>
        </p:nvSpPr>
        <p:spPr>
          <a:xfrm>
            <a:off x="639902" y="1494576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260;p22"/>
          <p:cNvSpPr/>
          <p:nvPr/>
        </p:nvSpPr>
        <p:spPr>
          <a:xfrm rot="5400000">
            <a:off x="3031224" y="2969639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B6D7A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325" name="Google Shape;261;p22"/>
          <p:cNvSpPr/>
          <p:nvPr/>
        </p:nvSpPr>
        <p:spPr>
          <a:xfrm rot="16200000">
            <a:off x="2155074" y="2969608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EBC5D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326" name="Google Shape;262;p22"/>
          <p:cNvSpPr/>
          <p:nvPr/>
        </p:nvSpPr>
        <p:spPr>
          <a:xfrm>
            <a:off x="4049600" y="1294139"/>
            <a:ext cx="219301" cy="3571800"/>
          </a:xfrm>
          <a:prstGeom prst="rect">
            <a:avLst/>
          </a:prstGeom>
          <a:solidFill>
            <a:srgbClr val="FCE5CD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327" name="Google Shape;263;p22"/>
          <p:cNvSpPr/>
          <p:nvPr/>
        </p:nvSpPr>
        <p:spPr>
          <a:xfrm>
            <a:off x="4268637" y="1294139"/>
            <a:ext cx="219301" cy="3571800"/>
          </a:xfrm>
          <a:prstGeom prst="rect">
            <a:avLst/>
          </a:prstGeom>
          <a:solidFill>
            <a:srgbClr val="FFF2CC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328" name="Google Shape;264;p22"/>
          <p:cNvSpPr/>
          <p:nvPr/>
        </p:nvSpPr>
        <p:spPr>
          <a:xfrm>
            <a:off x="4487674" y="1294139"/>
            <a:ext cx="219301" cy="3571800"/>
          </a:xfrm>
          <a:prstGeom prst="rect">
            <a:avLst/>
          </a:prstGeom>
          <a:solidFill>
            <a:srgbClr val="D9EAD3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329" name="Google Shape;265;p22"/>
          <p:cNvSpPr txBox="1"/>
          <p:nvPr>
            <p:ph type="ctrTitle"/>
          </p:nvPr>
        </p:nvSpPr>
        <p:spPr>
          <a:xfrm>
            <a:off x="483599" y="750299"/>
            <a:ext cx="3049802" cy="418501"/>
          </a:xfrm>
          <a:prstGeom prst="rect">
            <a:avLst/>
          </a:prstGeom>
        </p:spPr>
        <p:txBody>
          <a:bodyPr/>
          <a:lstStyle>
            <a:lvl1pPr algn="l" defTabSz="768095">
              <a:defRPr sz="1512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Hiring &amp; Ramp-Up :</a:t>
            </a:r>
          </a:p>
        </p:txBody>
      </p:sp>
      <p:pic>
        <p:nvPicPr>
          <p:cNvPr id="330" name="Logo_atscale_sans texture.pngGoogle Shape;266;p22" descr="Logo_atscale_sans texture.pngGoogle Shape;266;p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331" name="Google Shape;267;p22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2" name="Google Shape;268;p22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Synthesis</a:t>
            </a:r>
          </a:p>
        </p:txBody>
      </p:sp>
      <p:pic>
        <p:nvPicPr>
          <p:cNvPr id="333" name="Google Shape;269;p22" descr="Google Shape;269;p2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85575" y="823977"/>
            <a:ext cx="908957" cy="271129"/>
          </a:xfrm>
          <a:prstGeom prst="rect">
            <a:avLst/>
          </a:prstGeom>
          <a:ln w="12700">
            <a:miter lim="400000"/>
          </a:ln>
        </p:spPr>
      </p:pic>
      <p:sp>
        <p:nvSpPr>
          <p:cNvPr id="334" name="Google Shape;270;p22"/>
          <p:cNvSpPr txBox="1"/>
          <p:nvPr/>
        </p:nvSpPr>
        <p:spPr>
          <a:xfrm>
            <a:off x="7862724" y="823666"/>
            <a:ext cx="9090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[CLIENT] Grade : </a:t>
            </a:r>
          </a:p>
        </p:txBody>
      </p:sp>
      <p:grpSp>
        <p:nvGrpSpPr>
          <p:cNvPr id="337" name="Google Shape;271;p22"/>
          <p:cNvGrpSpPr/>
          <p:nvPr/>
        </p:nvGrpSpPr>
        <p:grpSpPr>
          <a:xfrm>
            <a:off x="483599" y="1545563"/>
            <a:ext cx="1095301" cy="351601"/>
            <a:chOff x="0" y="0"/>
            <a:chExt cx="1095300" cy="351600"/>
          </a:xfrm>
        </p:grpSpPr>
        <p:sp>
          <p:nvSpPr>
            <p:cNvPr id="335" name="Rectangle aux angles arrondis"/>
            <p:cNvSpPr/>
            <p:nvPr/>
          </p:nvSpPr>
          <p:spPr>
            <a:xfrm>
              <a:off x="0" y="0"/>
              <a:ext cx="1095301" cy="3516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336" name="Talent Acquisition"/>
            <p:cNvSpPr txBox="1"/>
            <p:nvPr/>
          </p:nvSpPr>
          <p:spPr>
            <a:xfrm>
              <a:off x="17163" y="33575"/>
              <a:ext cx="1060974" cy="284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Talent Acquisition</a:t>
              </a:r>
            </a:p>
          </p:txBody>
        </p:sp>
      </p:grpSp>
      <p:sp>
        <p:nvSpPr>
          <p:cNvPr id="338" name="Google Shape;272;p22"/>
          <p:cNvSpPr txBox="1"/>
          <p:nvPr/>
        </p:nvSpPr>
        <p:spPr>
          <a:xfrm flipH="1" rot="10800000">
            <a:off x="1655099" y="156673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Process for headcount planning</a:t>
            </a:r>
          </a:p>
        </p:txBody>
      </p:sp>
      <p:sp>
        <p:nvSpPr>
          <p:cNvPr id="339" name="Google Shape;273;p22"/>
          <p:cNvSpPr txBox="1"/>
          <p:nvPr/>
        </p:nvSpPr>
        <p:spPr>
          <a:xfrm flipH="1" rot="10800000">
            <a:off x="1655099" y="172194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Pipeline management and use of data in Talent Acquisition</a:t>
            </a:r>
          </a:p>
        </p:txBody>
      </p:sp>
      <p:sp>
        <p:nvSpPr>
          <p:cNvPr id="340" name="Google Shape;274;p22"/>
          <p:cNvSpPr/>
          <p:nvPr/>
        </p:nvSpPr>
        <p:spPr>
          <a:xfrm flipV="1">
            <a:off x="499033" y="1933992"/>
            <a:ext cx="4434900" cy="1260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1" name="Google Shape;277;p22"/>
          <p:cNvSpPr/>
          <p:nvPr/>
        </p:nvSpPr>
        <p:spPr>
          <a:xfrm>
            <a:off x="4325111" y="1580196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42" name="Google Shape;278;p22"/>
          <p:cNvSpPr/>
          <p:nvPr/>
        </p:nvSpPr>
        <p:spPr>
          <a:xfrm>
            <a:off x="4325111" y="158019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43" name="Google Shape;279;p22"/>
          <p:cNvSpPr/>
          <p:nvPr/>
        </p:nvSpPr>
        <p:spPr>
          <a:xfrm>
            <a:off x="499032" y="1496135"/>
            <a:ext cx="8266802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4" name="Google Shape;280;p22"/>
          <p:cNvSpPr txBox="1"/>
          <p:nvPr/>
        </p:nvSpPr>
        <p:spPr>
          <a:xfrm>
            <a:off x="1655099" y="1195492"/>
            <a:ext cx="21756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Assessment vs. best in class</a:t>
            </a:r>
          </a:p>
        </p:txBody>
      </p:sp>
      <p:sp>
        <p:nvSpPr>
          <p:cNvPr id="345" name="Google Shape;281;p22"/>
          <p:cNvSpPr txBox="1"/>
          <p:nvPr/>
        </p:nvSpPr>
        <p:spPr>
          <a:xfrm>
            <a:off x="4925750" y="1195474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346" name="Google Shape;282;p22"/>
          <p:cNvSpPr txBox="1"/>
          <p:nvPr/>
        </p:nvSpPr>
        <p:spPr>
          <a:xfrm>
            <a:off x="6957600" y="1195493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Initiatives recommended</a:t>
            </a:r>
          </a:p>
        </p:txBody>
      </p:sp>
      <p:sp>
        <p:nvSpPr>
          <p:cNvPr id="347" name="Google Shape;283;p22"/>
          <p:cNvSpPr/>
          <p:nvPr/>
        </p:nvSpPr>
        <p:spPr>
          <a:xfrm>
            <a:off x="4325111" y="172977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grpSp>
        <p:nvGrpSpPr>
          <p:cNvPr id="350" name="Google Shape;284;p22"/>
          <p:cNvGrpSpPr/>
          <p:nvPr/>
        </p:nvGrpSpPr>
        <p:grpSpPr>
          <a:xfrm>
            <a:off x="491325" y="1996021"/>
            <a:ext cx="1095301" cy="1151101"/>
            <a:chOff x="0" y="0"/>
            <a:chExt cx="1095300" cy="1151099"/>
          </a:xfrm>
        </p:grpSpPr>
        <p:sp>
          <p:nvSpPr>
            <p:cNvPr id="348" name="Rectangle aux angles arrondis"/>
            <p:cNvSpPr/>
            <p:nvPr/>
          </p:nvSpPr>
          <p:spPr>
            <a:xfrm>
              <a:off x="0" y="0"/>
              <a:ext cx="1095301" cy="1151100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349" name="Hiring Process"/>
            <p:cNvSpPr txBox="1"/>
            <p:nvPr/>
          </p:nvSpPr>
          <p:spPr>
            <a:xfrm>
              <a:off x="19212" y="433325"/>
              <a:ext cx="1056876" cy="284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Hiring Process</a:t>
              </a:r>
            </a:p>
          </p:txBody>
        </p:sp>
      </p:grpSp>
      <p:sp>
        <p:nvSpPr>
          <p:cNvPr id="351" name="Google Shape;285;p22"/>
          <p:cNvSpPr txBox="1"/>
          <p:nvPr/>
        </p:nvSpPr>
        <p:spPr>
          <a:xfrm flipH="1" rot="10800000">
            <a:off x="1655099" y="199775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Hiring process</a:t>
            </a:r>
          </a:p>
        </p:txBody>
      </p:sp>
      <p:sp>
        <p:nvSpPr>
          <p:cNvPr id="352" name="Google Shape;286;p22"/>
          <p:cNvSpPr txBox="1"/>
          <p:nvPr/>
        </p:nvSpPr>
        <p:spPr>
          <a:xfrm flipH="1" rot="10800000">
            <a:off x="1655099" y="214053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Documentation of feedback</a:t>
            </a:r>
          </a:p>
        </p:txBody>
      </p:sp>
      <p:sp>
        <p:nvSpPr>
          <p:cNvPr id="353" name="Google Shape;287;p22"/>
          <p:cNvSpPr txBox="1"/>
          <p:nvPr/>
        </p:nvSpPr>
        <p:spPr>
          <a:xfrm flipH="1" rot="10800000">
            <a:off x="1655099" y="229573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Assessment of candidates</a:t>
            </a:r>
          </a:p>
        </p:txBody>
      </p:sp>
      <p:sp>
        <p:nvSpPr>
          <p:cNvPr id="354" name="Google Shape;288;p22"/>
          <p:cNvSpPr txBox="1"/>
          <p:nvPr/>
        </p:nvSpPr>
        <p:spPr>
          <a:xfrm flipH="1" rot="10800000">
            <a:off x="1655099" y="2438516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Case studies</a:t>
            </a:r>
          </a:p>
        </p:txBody>
      </p:sp>
      <p:sp>
        <p:nvSpPr>
          <p:cNvPr id="355" name="Google Shape;289;p22"/>
          <p:cNvSpPr txBox="1"/>
          <p:nvPr/>
        </p:nvSpPr>
        <p:spPr>
          <a:xfrm flipH="1" rot="10800000">
            <a:off x="1655099" y="259372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Evaluation of candidate fit with company values</a:t>
            </a:r>
          </a:p>
        </p:txBody>
      </p:sp>
      <p:sp>
        <p:nvSpPr>
          <p:cNvPr id="356" name="Google Shape;290;p22"/>
          <p:cNvSpPr txBox="1"/>
          <p:nvPr/>
        </p:nvSpPr>
        <p:spPr>
          <a:xfrm flipH="1" rot="10800000">
            <a:off x="1655099" y="273650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Hiring committee</a:t>
            </a:r>
          </a:p>
        </p:txBody>
      </p:sp>
      <p:sp>
        <p:nvSpPr>
          <p:cNvPr id="357" name="Google Shape;291;p22"/>
          <p:cNvSpPr txBox="1"/>
          <p:nvPr/>
        </p:nvSpPr>
        <p:spPr>
          <a:xfrm flipH="1" rot="10800000">
            <a:off x="1655099" y="289171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Acquisition of interviewing skills</a:t>
            </a:r>
          </a:p>
        </p:txBody>
      </p:sp>
      <p:sp>
        <p:nvSpPr>
          <p:cNvPr id="358" name="Google Shape;292;p22"/>
          <p:cNvSpPr txBox="1"/>
          <p:nvPr/>
        </p:nvSpPr>
        <p:spPr>
          <a:xfrm flipH="1" rot="10800000">
            <a:off x="1655099" y="303449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Evaluation of candidates competencies</a:t>
            </a:r>
          </a:p>
        </p:txBody>
      </p:sp>
      <p:sp>
        <p:nvSpPr>
          <p:cNvPr id="359" name="Google Shape;293;p22"/>
          <p:cNvSpPr/>
          <p:nvPr/>
        </p:nvSpPr>
        <p:spPr>
          <a:xfrm flipV="1">
            <a:off x="499032" y="3195349"/>
            <a:ext cx="4443302" cy="120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62" name="Google Shape;294;p22"/>
          <p:cNvGrpSpPr/>
          <p:nvPr/>
        </p:nvGrpSpPr>
        <p:grpSpPr>
          <a:xfrm>
            <a:off x="499025" y="3245979"/>
            <a:ext cx="1095301" cy="459000"/>
            <a:chOff x="0" y="0"/>
            <a:chExt cx="1095300" cy="458999"/>
          </a:xfrm>
        </p:grpSpPr>
        <p:sp>
          <p:nvSpPr>
            <p:cNvPr id="360" name="Rectangle aux angles arrondis"/>
            <p:cNvSpPr/>
            <p:nvPr/>
          </p:nvSpPr>
          <p:spPr>
            <a:xfrm>
              <a:off x="0" y="0"/>
              <a:ext cx="1095301" cy="459000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361" name="New Hire Onboarding"/>
            <p:cNvSpPr txBox="1"/>
            <p:nvPr/>
          </p:nvSpPr>
          <p:spPr>
            <a:xfrm>
              <a:off x="8051" y="87275"/>
              <a:ext cx="1079198" cy="284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New Hire Onboarding</a:t>
              </a:r>
            </a:p>
          </p:txBody>
        </p:sp>
      </p:grpSp>
      <p:sp>
        <p:nvSpPr>
          <p:cNvPr id="363" name="Google Shape;295;p22"/>
          <p:cNvSpPr txBox="1"/>
          <p:nvPr/>
        </p:nvSpPr>
        <p:spPr>
          <a:xfrm flipH="1" rot="10800000">
            <a:off x="1662813" y="328116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onboarding program</a:t>
            </a:r>
          </a:p>
        </p:txBody>
      </p:sp>
      <p:sp>
        <p:nvSpPr>
          <p:cNvPr id="364" name="Google Shape;296;p22"/>
          <p:cNvSpPr txBox="1"/>
          <p:nvPr/>
        </p:nvSpPr>
        <p:spPr>
          <a:xfrm flipH="1" rot="10800000">
            <a:off x="1662813" y="342394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Accountability and ownership for decreasing ramp-up time</a:t>
            </a:r>
          </a:p>
        </p:txBody>
      </p:sp>
      <p:sp>
        <p:nvSpPr>
          <p:cNvPr id="365" name="Google Shape;297;p22"/>
          <p:cNvSpPr txBox="1"/>
          <p:nvPr/>
        </p:nvSpPr>
        <p:spPr>
          <a:xfrm flipH="1" rot="10800000">
            <a:off x="1662813" y="357914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Presence and check-in of direct line manager during first weeks</a:t>
            </a:r>
          </a:p>
        </p:txBody>
      </p:sp>
      <p:sp>
        <p:nvSpPr>
          <p:cNvPr id="366" name="Google Shape;298;p22"/>
          <p:cNvSpPr/>
          <p:nvPr/>
        </p:nvSpPr>
        <p:spPr>
          <a:xfrm flipV="1">
            <a:off x="499033" y="3752608"/>
            <a:ext cx="4426201" cy="180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69" name="Google Shape;299;p22"/>
          <p:cNvGrpSpPr/>
          <p:nvPr/>
        </p:nvGrpSpPr>
        <p:grpSpPr>
          <a:xfrm>
            <a:off x="483599" y="3803836"/>
            <a:ext cx="1095301" cy="1062001"/>
            <a:chOff x="0" y="0"/>
            <a:chExt cx="1095300" cy="1062000"/>
          </a:xfrm>
        </p:grpSpPr>
        <p:sp>
          <p:nvSpPr>
            <p:cNvPr id="367" name="Rectangle aux angles arrondis"/>
            <p:cNvSpPr/>
            <p:nvPr/>
          </p:nvSpPr>
          <p:spPr>
            <a:xfrm>
              <a:off x="0" y="0"/>
              <a:ext cx="1095301" cy="10620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368" name="New Hire Ramp Up"/>
            <p:cNvSpPr txBox="1"/>
            <p:nvPr/>
          </p:nvSpPr>
          <p:spPr>
            <a:xfrm>
              <a:off x="18628" y="388775"/>
              <a:ext cx="1058044" cy="284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New Hire Ramp Up</a:t>
              </a:r>
            </a:p>
          </p:txBody>
        </p:sp>
      </p:grpSp>
      <p:sp>
        <p:nvSpPr>
          <p:cNvPr id="370" name="Google Shape;300;p22"/>
          <p:cNvSpPr txBox="1"/>
          <p:nvPr/>
        </p:nvSpPr>
        <p:spPr>
          <a:xfrm flipH="1" rot="10800000">
            <a:off x="1662813" y="382290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Peer-to-peer knowledge sharing</a:t>
            </a:r>
          </a:p>
        </p:txBody>
      </p:sp>
      <p:sp>
        <p:nvSpPr>
          <p:cNvPr id="371" name="Google Shape;301;p22"/>
          <p:cNvSpPr txBox="1"/>
          <p:nvPr/>
        </p:nvSpPr>
        <p:spPr>
          <a:xfrm flipH="1" rot="10800000">
            <a:off x="1662813" y="396567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Prospect list received day 1</a:t>
            </a:r>
          </a:p>
        </p:txBody>
      </p:sp>
      <p:sp>
        <p:nvSpPr>
          <p:cNvPr id="372" name="Google Shape;302;p22"/>
          <p:cNvSpPr txBox="1"/>
          <p:nvPr/>
        </p:nvSpPr>
        <p:spPr>
          <a:xfrm flipH="1" rot="10800000">
            <a:off x="1662813" y="412088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Bank of pitches and demos at disposal</a:t>
            </a:r>
          </a:p>
        </p:txBody>
      </p:sp>
      <p:sp>
        <p:nvSpPr>
          <p:cNvPr id="373" name="Google Shape;303;p22"/>
          <p:cNvSpPr txBox="1"/>
          <p:nvPr/>
        </p:nvSpPr>
        <p:spPr>
          <a:xfrm flipH="1" rot="10800000">
            <a:off x="1662813" y="426366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Mock calls and demos</a:t>
            </a:r>
          </a:p>
        </p:txBody>
      </p:sp>
      <p:sp>
        <p:nvSpPr>
          <p:cNvPr id="374" name="Google Shape;304;p22"/>
          <p:cNvSpPr txBox="1"/>
          <p:nvPr/>
        </p:nvSpPr>
        <p:spPr>
          <a:xfrm flipH="1" rot="10800000">
            <a:off x="1662813" y="441887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Velocity to acquire confidence in pitching our product</a:t>
            </a:r>
          </a:p>
        </p:txBody>
      </p:sp>
      <p:sp>
        <p:nvSpPr>
          <p:cNvPr id="375" name="Google Shape;305;p22"/>
          <p:cNvSpPr txBox="1"/>
          <p:nvPr/>
        </p:nvSpPr>
        <p:spPr>
          <a:xfrm flipH="1" rot="10800000">
            <a:off x="1662813" y="457008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Assessment of the product knowledge of new hires</a:t>
            </a:r>
          </a:p>
        </p:txBody>
      </p:sp>
      <p:sp>
        <p:nvSpPr>
          <p:cNvPr id="376" name="Google Shape;320;p22"/>
          <p:cNvSpPr txBox="1"/>
          <p:nvPr/>
        </p:nvSpPr>
        <p:spPr>
          <a:xfrm flipH="1" rot="10800000">
            <a:off x="1655212" y="472388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Immediate course-correction of knowledge gaps</a:t>
            </a:r>
          </a:p>
        </p:txBody>
      </p:sp>
      <p:sp>
        <p:nvSpPr>
          <p:cNvPr id="377" name="Google Shape;321;p22"/>
          <p:cNvSpPr/>
          <p:nvPr/>
        </p:nvSpPr>
        <p:spPr>
          <a:xfrm>
            <a:off x="4325111" y="172978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78" name="Google Shape;322;p22"/>
          <p:cNvSpPr/>
          <p:nvPr/>
        </p:nvSpPr>
        <p:spPr>
          <a:xfrm>
            <a:off x="4325111" y="200939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79" name="Google Shape;323;p22"/>
          <p:cNvSpPr/>
          <p:nvPr/>
        </p:nvSpPr>
        <p:spPr>
          <a:xfrm>
            <a:off x="4325111" y="214873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80" name="Google Shape;324;p22"/>
          <p:cNvSpPr/>
          <p:nvPr/>
        </p:nvSpPr>
        <p:spPr>
          <a:xfrm>
            <a:off x="4325111" y="230675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81" name="Google Shape;325;p22"/>
          <p:cNvSpPr/>
          <p:nvPr/>
        </p:nvSpPr>
        <p:spPr>
          <a:xfrm>
            <a:off x="4325111" y="245328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82" name="Google Shape;326;p22"/>
          <p:cNvSpPr/>
          <p:nvPr/>
        </p:nvSpPr>
        <p:spPr>
          <a:xfrm>
            <a:off x="4325111" y="259701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83" name="Google Shape;327;p22"/>
          <p:cNvSpPr/>
          <p:nvPr/>
        </p:nvSpPr>
        <p:spPr>
          <a:xfrm>
            <a:off x="4325111" y="273734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84" name="Google Shape;328;p22"/>
          <p:cNvSpPr/>
          <p:nvPr/>
        </p:nvSpPr>
        <p:spPr>
          <a:xfrm>
            <a:off x="4325111" y="289500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85" name="Google Shape;329;p22"/>
          <p:cNvSpPr/>
          <p:nvPr/>
        </p:nvSpPr>
        <p:spPr>
          <a:xfrm>
            <a:off x="4325111" y="304722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86" name="Google Shape;330;p22"/>
          <p:cNvSpPr/>
          <p:nvPr/>
        </p:nvSpPr>
        <p:spPr>
          <a:xfrm>
            <a:off x="4325111" y="329273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87" name="Google Shape;331;p22"/>
          <p:cNvSpPr/>
          <p:nvPr/>
        </p:nvSpPr>
        <p:spPr>
          <a:xfrm>
            <a:off x="4325111" y="343295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88" name="Google Shape;332;p22"/>
          <p:cNvSpPr/>
          <p:nvPr/>
        </p:nvSpPr>
        <p:spPr>
          <a:xfrm>
            <a:off x="4325111" y="359227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89" name="Google Shape;333;p22"/>
          <p:cNvSpPr/>
          <p:nvPr/>
        </p:nvSpPr>
        <p:spPr>
          <a:xfrm>
            <a:off x="4325111" y="383930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90" name="Google Shape;334;p22"/>
          <p:cNvSpPr/>
          <p:nvPr/>
        </p:nvSpPr>
        <p:spPr>
          <a:xfrm>
            <a:off x="4325111" y="397979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91" name="Google Shape;335;p22"/>
          <p:cNvSpPr/>
          <p:nvPr/>
        </p:nvSpPr>
        <p:spPr>
          <a:xfrm>
            <a:off x="4325111" y="412417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92" name="Google Shape;336;p22"/>
          <p:cNvSpPr/>
          <p:nvPr/>
        </p:nvSpPr>
        <p:spPr>
          <a:xfrm>
            <a:off x="4325111" y="426450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93" name="Google Shape;337;p22"/>
          <p:cNvSpPr/>
          <p:nvPr/>
        </p:nvSpPr>
        <p:spPr>
          <a:xfrm>
            <a:off x="4325111" y="443309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94" name="Google Shape;338;p22"/>
          <p:cNvSpPr/>
          <p:nvPr/>
        </p:nvSpPr>
        <p:spPr>
          <a:xfrm>
            <a:off x="4325111" y="457882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95" name="Google Shape;339;p22"/>
          <p:cNvSpPr/>
          <p:nvPr/>
        </p:nvSpPr>
        <p:spPr>
          <a:xfrm>
            <a:off x="4325111" y="473949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96" name="Google Shape;340;p22"/>
          <p:cNvSpPr/>
          <p:nvPr/>
        </p:nvSpPr>
        <p:spPr>
          <a:xfrm>
            <a:off x="4325111" y="2009407"/>
            <a:ext cx="108001" cy="108000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97" name="Google Shape;341;p22"/>
          <p:cNvSpPr/>
          <p:nvPr/>
        </p:nvSpPr>
        <p:spPr>
          <a:xfrm>
            <a:off x="4325111" y="2306759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98" name="Google Shape;342;p22"/>
          <p:cNvSpPr/>
          <p:nvPr/>
        </p:nvSpPr>
        <p:spPr>
          <a:xfrm>
            <a:off x="4325111" y="245329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399" name="Google Shape;343;p22"/>
          <p:cNvSpPr/>
          <p:nvPr/>
        </p:nvSpPr>
        <p:spPr>
          <a:xfrm>
            <a:off x="4325111" y="259702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00" name="Google Shape;344;p22"/>
          <p:cNvSpPr/>
          <p:nvPr/>
        </p:nvSpPr>
        <p:spPr>
          <a:xfrm>
            <a:off x="4325111" y="273734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01" name="Google Shape;345;p22"/>
          <p:cNvSpPr/>
          <p:nvPr/>
        </p:nvSpPr>
        <p:spPr>
          <a:xfrm>
            <a:off x="4325111" y="289501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02" name="Google Shape;346;p22"/>
          <p:cNvSpPr/>
          <p:nvPr/>
        </p:nvSpPr>
        <p:spPr>
          <a:xfrm>
            <a:off x="4325111" y="304723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03" name="Google Shape;347;p22"/>
          <p:cNvSpPr/>
          <p:nvPr/>
        </p:nvSpPr>
        <p:spPr>
          <a:xfrm>
            <a:off x="4325111" y="329619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04" name="Google Shape;348;p22"/>
          <p:cNvSpPr/>
          <p:nvPr/>
        </p:nvSpPr>
        <p:spPr>
          <a:xfrm>
            <a:off x="4325111" y="343194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05" name="Google Shape;349;p22"/>
          <p:cNvSpPr/>
          <p:nvPr/>
        </p:nvSpPr>
        <p:spPr>
          <a:xfrm>
            <a:off x="4325111" y="359228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06" name="Google Shape;350;p22"/>
          <p:cNvSpPr/>
          <p:nvPr/>
        </p:nvSpPr>
        <p:spPr>
          <a:xfrm>
            <a:off x="4325111" y="383931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07" name="Google Shape;351;p22"/>
          <p:cNvSpPr/>
          <p:nvPr/>
        </p:nvSpPr>
        <p:spPr>
          <a:xfrm>
            <a:off x="4325111" y="397980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08" name="Google Shape;352;p22"/>
          <p:cNvSpPr/>
          <p:nvPr/>
        </p:nvSpPr>
        <p:spPr>
          <a:xfrm>
            <a:off x="4325111" y="412623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09" name="Google Shape;353;p22"/>
          <p:cNvSpPr/>
          <p:nvPr/>
        </p:nvSpPr>
        <p:spPr>
          <a:xfrm>
            <a:off x="4325111" y="426195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10" name="Google Shape;354;p22"/>
          <p:cNvSpPr/>
          <p:nvPr/>
        </p:nvSpPr>
        <p:spPr>
          <a:xfrm>
            <a:off x="4325111" y="443115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11" name="Google Shape;355;p22"/>
          <p:cNvSpPr/>
          <p:nvPr/>
        </p:nvSpPr>
        <p:spPr>
          <a:xfrm>
            <a:off x="4325111" y="458088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12" name="Google Shape;356;p22"/>
          <p:cNvSpPr/>
          <p:nvPr/>
        </p:nvSpPr>
        <p:spPr>
          <a:xfrm>
            <a:off x="4325111" y="473950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13" name="Google Shape;357;p22"/>
          <p:cNvSpPr txBox="1"/>
          <p:nvPr/>
        </p:nvSpPr>
        <p:spPr>
          <a:xfrm>
            <a:off x="3246093" y="741008"/>
            <a:ext cx="3030601" cy="41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768095">
              <a:defRPr b="1" sz="1512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414" name="Google Shape;358;p22"/>
          <p:cNvSpPr txBox="1"/>
          <p:nvPr/>
        </p:nvSpPr>
        <p:spPr>
          <a:xfrm>
            <a:off x="8453587" y="792474"/>
            <a:ext cx="335401" cy="30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b="1" sz="6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415" name="Google Shape;359;p22"/>
          <p:cNvSpPr txBox="1"/>
          <p:nvPr/>
        </p:nvSpPr>
        <p:spPr>
          <a:xfrm>
            <a:off x="3830575" y="1238843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16" name="Google Shape;360;p22"/>
          <p:cNvSpPr txBox="1"/>
          <p:nvPr/>
        </p:nvSpPr>
        <p:spPr>
          <a:xfrm>
            <a:off x="405308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7" name="Google Shape;361;p22"/>
          <p:cNvSpPr txBox="1"/>
          <p:nvPr/>
        </p:nvSpPr>
        <p:spPr>
          <a:xfrm>
            <a:off x="426863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8" name="Google Shape;362;p22"/>
          <p:cNvSpPr txBox="1"/>
          <p:nvPr/>
        </p:nvSpPr>
        <p:spPr>
          <a:xfrm>
            <a:off x="4487662" y="1238849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9" name="Google Shape;363;p22"/>
          <p:cNvSpPr txBox="1"/>
          <p:nvPr/>
        </p:nvSpPr>
        <p:spPr>
          <a:xfrm>
            <a:off x="4706713" y="1243936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424" name="Google Shape;370;p22"/>
          <p:cNvGrpSpPr/>
          <p:nvPr/>
        </p:nvGrpSpPr>
        <p:grpSpPr>
          <a:xfrm>
            <a:off x="353225" y="4944834"/>
            <a:ext cx="2346525" cy="167513"/>
            <a:chOff x="0" y="0"/>
            <a:chExt cx="2346523" cy="167512"/>
          </a:xfrm>
        </p:grpSpPr>
        <p:sp>
          <p:nvSpPr>
            <p:cNvPr id="420" name="Google Shape;371;p22"/>
            <p:cNvSpPr txBox="1"/>
            <p:nvPr/>
          </p:nvSpPr>
          <p:spPr>
            <a:xfrm>
              <a:off x="138524" y="1450"/>
              <a:ext cx="857400" cy="144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Atscale assessment</a:t>
              </a:r>
            </a:p>
          </p:txBody>
        </p:sp>
        <p:sp>
          <p:nvSpPr>
            <p:cNvPr id="421" name="Google Shape;372;p22"/>
            <p:cNvSpPr txBox="1"/>
            <p:nvPr/>
          </p:nvSpPr>
          <p:spPr>
            <a:xfrm>
              <a:off x="1175924" y="0"/>
              <a:ext cx="1170600" cy="14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[CLIENT] self-assessment</a:t>
              </a:r>
            </a:p>
          </p:txBody>
        </p:sp>
        <p:sp>
          <p:nvSpPr>
            <p:cNvPr id="422" name="Google Shape;373;p22"/>
            <p:cNvSpPr/>
            <p:nvPr/>
          </p:nvSpPr>
          <p:spPr>
            <a:xfrm>
              <a:off x="1054074" y="59512"/>
              <a:ext cx="108001" cy="108001"/>
            </a:xfrm>
            <a:prstGeom prst="ellipse">
              <a:avLst/>
            </a:prstGeom>
            <a:solidFill>
              <a:srgbClr val="DDC7C7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  <p:sp>
          <p:nvSpPr>
            <p:cNvPr id="423" name="Google Shape;374;p22"/>
            <p:cNvSpPr/>
            <p:nvPr/>
          </p:nvSpPr>
          <p:spPr>
            <a:xfrm>
              <a:off x="0" y="59512"/>
              <a:ext cx="108000" cy="108001"/>
            </a:xfrm>
            <a:prstGeom prst="ellipse">
              <a:avLst/>
            </a:prstGeom>
            <a:solidFill>
              <a:srgbClr val="BDD3F3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</p:grpSp>
      <p:sp>
        <p:nvSpPr>
          <p:cNvPr id="425" name="Google Shape;375;p22"/>
          <p:cNvSpPr/>
          <p:nvPr/>
        </p:nvSpPr>
        <p:spPr>
          <a:xfrm>
            <a:off x="4959425" y="3581100"/>
            <a:ext cx="3910501" cy="30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426" name="Google Shape;376;p22"/>
          <p:cNvSpPr/>
          <p:nvPr/>
        </p:nvSpPr>
        <p:spPr>
          <a:xfrm>
            <a:off x="4959425" y="4439925"/>
            <a:ext cx="3910501" cy="30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427" name="Google Shape;377;p22"/>
          <p:cNvSpPr/>
          <p:nvPr/>
        </p:nvSpPr>
        <p:spPr>
          <a:xfrm>
            <a:off x="4959425" y="2451249"/>
            <a:ext cx="3910501" cy="2712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428" name="Google Shape;378;p22"/>
          <p:cNvSpPr/>
          <p:nvPr/>
        </p:nvSpPr>
        <p:spPr>
          <a:xfrm>
            <a:off x="4959425" y="1891975"/>
            <a:ext cx="3910501" cy="2712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429" name="Google Shape;379;p22"/>
          <p:cNvSpPr/>
          <p:nvPr/>
        </p:nvSpPr>
        <p:spPr>
          <a:xfrm>
            <a:off x="4959425" y="2765200"/>
            <a:ext cx="3910501" cy="30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385;p23"/>
          <p:cNvSpPr/>
          <p:nvPr/>
        </p:nvSpPr>
        <p:spPr>
          <a:xfrm rot="5400000">
            <a:off x="3031224" y="2969639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B6D7A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432" name="Google Shape;386;p23"/>
          <p:cNvSpPr/>
          <p:nvPr/>
        </p:nvSpPr>
        <p:spPr>
          <a:xfrm rot="16200000">
            <a:off x="2155074" y="2969608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EBC5D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433" name="Google Shape;387;p23"/>
          <p:cNvSpPr/>
          <p:nvPr/>
        </p:nvSpPr>
        <p:spPr>
          <a:xfrm>
            <a:off x="4049600" y="1294139"/>
            <a:ext cx="219301" cy="3571800"/>
          </a:xfrm>
          <a:prstGeom prst="rect">
            <a:avLst/>
          </a:prstGeom>
          <a:solidFill>
            <a:srgbClr val="FCE5CD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434" name="Google Shape;388;p23"/>
          <p:cNvSpPr/>
          <p:nvPr/>
        </p:nvSpPr>
        <p:spPr>
          <a:xfrm>
            <a:off x="4268637" y="1294139"/>
            <a:ext cx="219301" cy="3571800"/>
          </a:xfrm>
          <a:prstGeom prst="rect">
            <a:avLst/>
          </a:prstGeom>
          <a:solidFill>
            <a:srgbClr val="FFF2CC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435" name="Google Shape;389;p23"/>
          <p:cNvSpPr/>
          <p:nvPr/>
        </p:nvSpPr>
        <p:spPr>
          <a:xfrm>
            <a:off x="4487674" y="1294139"/>
            <a:ext cx="219301" cy="3571800"/>
          </a:xfrm>
          <a:prstGeom prst="rect">
            <a:avLst/>
          </a:prstGeom>
          <a:solidFill>
            <a:srgbClr val="D9EAD3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436" name="Google Shape;390;p23"/>
          <p:cNvSpPr txBox="1"/>
          <p:nvPr>
            <p:ph type="ctrTitle"/>
          </p:nvPr>
        </p:nvSpPr>
        <p:spPr>
          <a:xfrm>
            <a:off x="483599" y="750299"/>
            <a:ext cx="2418602" cy="418501"/>
          </a:xfrm>
          <a:prstGeom prst="rect">
            <a:avLst/>
          </a:prstGeom>
        </p:spPr>
        <p:txBody>
          <a:bodyPr/>
          <a:lstStyle>
            <a:lvl1pPr algn="l" defTabSz="768095">
              <a:defRPr sz="1512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Enablement :</a:t>
            </a:r>
          </a:p>
        </p:txBody>
      </p:sp>
      <p:pic>
        <p:nvPicPr>
          <p:cNvPr id="437" name="Logo_atscale_sans texture.pngGoogle Shape;391;p23" descr="Logo_atscale_sans texture.pngGoogle Shape;391;p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438" name="Google Shape;392;p23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9" name="Google Shape;393;p23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Synthesis</a:t>
            </a:r>
          </a:p>
        </p:txBody>
      </p:sp>
      <p:pic>
        <p:nvPicPr>
          <p:cNvPr id="440" name="Google Shape;394;p23" descr="Google Shape;394;p2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85575" y="823977"/>
            <a:ext cx="908957" cy="271129"/>
          </a:xfrm>
          <a:prstGeom prst="rect">
            <a:avLst/>
          </a:prstGeom>
          <a:ln w="12700">
            <a:miter lim="400000"/>
          </a:ln>
        </p:spPr>
      </p:pic>
      <p:sp>
        <p:nvSpPr>
          <p:cNvPr id="441" name="Google Shape;395;p23"/>
          <p:cNvSpPr txBox="1"/>
          <p:nvPr/>
        </p:nvSpPr>
        <p:spPr>
          <a:xfrm>
            <a:off x="7862730" y="823675"/>
            <a:ext cx="8118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[CLIENT] Grade : </a:t>
            </a:r>
          </a:p>
        </p:txBody>
      </p:sp>
      <p:grpSp>
        <p:nvGrpSpPr>
          <p:cNvPr id="444" name="Google Shape;396;p23"/>
          <p:cNvGrpSpPr/>
          <p:nvPr/>
        </p:nvGrpSpPr>
        <p:grpSpPr>
          <a:xfrm>
            <a:off x="483599" y="1545598"/>
            <a:ext cx="1095301" cy="828002"/>
            <a:chOff x="0" y="0"/>
            <a:chExt cx="1095300" cy="828000"/>
          </a:xfrm>
        </p:grpSpPr>
        <p:sp>
          <p:nvSpPr>
            <p:cNvPr id="442" name="Rectangle aux angles arrondis"/>
            <p:cNvSpPr/>
            <p:nvPr/>
          </p:nvSpPr>
          <p:spPr>
            <a:xfrm>
              <a:off x="0" y="0"/>
              <a:ext cx="1095301" cy="8280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443" name="Knowledge Management"/>
            <p:cNvSpPr txBox="1"/>
            <p:nvPr/>
          </p:nvSpPr>
          <p:spPr>
            <a:xfrm>
              <a:off x="40420" y="209862"/>
              <a:ext cx="1014460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Knowledge Management</a:t>
              </a:r>
            </a:p>
          </p:txBody>
        </p:sp>
      </p:grpSp>
      <p:sp>
        <p:nvSpPr>
          <p:cNvPr id="445" name="Google Shape;397;p23"/>
          <p:cNvSpPr txBox="1"/>
          <p:nvPr/>
        </p:nvSpPr>
        <p:spPr>
          <a:xfrm flipH="1" rot="10800000">
            <a:off x="1655099" y="155331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Documentation culture</a:t>
            </a:r>
          </a:p>
        </p:txBody>
      </p:sp>
      <p:sp>
        <p:nvSpPr>
          <p:cNvPr id="446" name="Google Shape;398;p23"/>
          <p:cNvSpPr txBox="1"/>
          <p:nvPr/>
        </p:nvSpPr>
        <p:spPr>
          <a:xfrm flipH="1" rot="10800000">
            <a:off x="1655099" y="169508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Capture and Organize Knowledge</a:t>
            </a:r>
          </a:p>
        </p:txBody>
      </p:sp>
      <p:sp>
        <p:nvSpPr>
          <p:cNvPr id="447" name="Google Shape;399;p23"/>
          <p:cNvSpPr/>
          <p:nvPr/>
        </p:nvSpPr>
        <p:spPr>
          <a:xfrm flipV="1">
            <a:off x="499033" y="2396593"/>
            <a:ext cx="4434900" cy="660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8" name="Google Shape;402;p23"/>
          <p:cNvSpPr/>
          <p:nvPr/>
        </p:nvSpPr>
        <p:spPr>
          <a:xfrm>
            <a:off x="4325111" y="156676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49" name="Google Shape;403;p23"/>
          <p:cNvSpPr/>
          <p:nvPr/>
        </p:nvSpPr>
        <p:spPr>
          <a:xfrm>
            <a:off x="4325111" y="156676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50" name="Google Shape;404;p23"/>
          <p:cNvSpPr/>
          <p:nvPr/>
        </p:nvSpPr>
        <p:spPr>
          <a:xfrm>
            <a:off x="499032" y="1496135"/>
            <a:ext cx="8266802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1" name="Google Shape;405;p23"/>
          <p:cNvSpPr txBox="1"/>
          <p:nvPr/>
        </p:nvSpPr>
        <p:spPr>
          <a:xfrm>
            <a:off x="1655099" y="1195492"/>
            <a:ext cx="21756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Assessment vs. best in class</a:t>
            </a:r>
          </a:p>
        </p:txBody>
      </p:sp>
      <p:sp>
        <p:nvSpPr>
          <p:cNvPr id="452" name="Google Shape;406;p23"/>
          <p:cNvSpPr txBox="1"/>
          <p:nvPr/>
        </p:nvSpPr>
        <p:spPr>
          <a:xfrm>
            <a:off x="4925750" y="1195474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453" name="Google Shape;407;p23"/>
          <p:cNvSpPr txBox="1"/>
          <p:nvPr/>
        </p:nvSpPr>
        <p:spPr>
          <a:xfrm>
            <a:off x="6957600" y="1195493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Initiatives recommended</a:t>
            </a:r>
          </a:p>
        </p:txBody>
      </p:sp>
      <p:sp>
        <p:nvSpPr>
          <p:cNvPr id="454" name="Google Shape;408;p23"/>
          <p:cNvSpPr/>
          <p:nvPr/>
        </p:nvSpPr>
        <p:spPr>
          <a:xfrm>
            <a:off x="4325111" y="170963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grpSp>
        <p:nvGrpSpPr>
          <p:cNvPr id="457" name="Google Shape;409;p23"/>
          <p:cNvGrpSpPr/>
          <p:nvPr/>
        </p:nvGrpSpPr>
        <p:grpSpPr>
          <a:xfrm>
            <a:off x="491325" y="2436799"/>
            <a:ext cx="1095301" cy="517201"/>
            <a:chOff x="0" y="0"/>
            <a:chExt cx="1095300" cy="517200"/>
          </a:xfrm>
        </p:grpSpPr>
        <p:sp>
          <p:nvSpPr>
            <p:cNvPr id="455" name="Rectangle aux angles arrondis"/>
            <p:cNvSpPr/>
            <p:nvPr/>
          </p:nvSpPr>
          <p:spPr>
            <a:xfrm>
              <a:off x="0" y="0"/>
              <a:ext cx="1095301" cy="5172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456" name="Sales Collaterals"/>
            <p:cNvSpPr txBox="1"/>
            <p:nvPr/>
          </p:nvSpPr>
          <p:spPr>
            <a:xfrm>
              <a:off x="9071" y="116374"/>
              <a:ext cx="1077158" cy="284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Collaterals</a:t>
              </a:r>
            </a:p>
          </p:txBody>
        </p:sp>
      </p:grpSp>
      <p:sp>
        <p:nvSpPr>
          <p:cNvPr id="458" name="Google Shape;410;p23"/>
          <p:cNvSpPr txBox="1"/>
          <p:nvPr/>
        </p:nvSpPr>
        <p:spPr>
          <a:xfrm flipH="1" rot="10800000">
            <a:off x="1655099" y="183659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Knowledge Sharing</a:t>
            </a:r>
          </a:p>
        </p:txBody>
      </p:sp>
      <p:sp>
        <p:nvSpPr>
          <p:cNvPr id="459" name="Google Shape;411;p23"/>
          <p:cNvSpPr txBox="1"/>
          <p:nvPr/>
        </p:nvSpPr>
        <p:spPr>
          <a:xfrm flipH="1" rot="10800000">
            <a:off x="1655099" y="197266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Training and Onboarding</a:t>
            </a:r>
          </a:p>
        </p:txBody>
      </p:sp>
      <p:sp>
        <p:nvSpPr>
          <p:cNvPr id="460" name="Google Shape;412;p23"/>
          <p:cNvSpPr txBox="1"/>
          <p:nvPr/>
        </p:nvSpPr>
        <p:spPr>
          <a:xfrm flipH="1" rot="10800000">
            <a:off x="1655099" y="2107726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Continuous Learning</a:t>
            </a:r>
          </a:p>
        </p:txBody>
      </p:sp>
      <p:sp>
        <p:nvSpPr>
          <p:cNvPr id="461" name="Google Shape;413;p23"/>
          <p:cNvSpPr txBox="1"/>
          <p:nvPr/>
        </p:nvSpPr>
        <p:spPr>
          <a:xfrm flipH="1" rot="10800000">
            <a:off x="1655099" y="225050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Feedback and Improvement</a:t>
            </a:r>
          </a:p>
        </p:txBody>
      </p:sp>
      <p:sp>
        <p:nvSpPr>
          <p:cNvPr id="462" name="Google Shape;414;p23"/>
          <p:cNvSpPr txBox="1"/>
          <p:nvPr/>
        </p:nvSpPr>
        <p:spPr>
          <a:xfrm flipH="1" rot="10800000">
            <a:off x="1655099" y="244600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Importance of sales enablement </a:t>
            </a:r>
          </a:p>
        </p:txBody>
      </p:sp>
      <p:sp>
        <p:nvSpPr>
          <p:cNvPr id="463" name="Google Shape;415;p23"/>
          <p:cNvSpPr txBox="1"/>
          <p:nvPr/>
        </p:nvSpPr>
        <p:spPr>
          <a:xfrm flipH="1" rot="10800000">
            <a:off x="1655099" y="256863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enablement platform</a:t>
            </a:r>
          </a:p>
        </p:txBody>
      </p:sp>
      <p:sp>
        <p:nvSpPr>
          <p:cNvPr id="464" name="Google Shape;416;p23"/>
          <p:cNvSpPr txBox="1"/>
          <p:nvPr/>
        </p:nvSpPr>
        <p:spPr>
          <a:xfrm flipH="1" rot="10800000">
            <a:off x="1655099" y="269026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enablement materials </a:t>
            </a:r>
          </a:p>
        </p:txBody>
      </p:sp>
      <p:sp>
        <p:nvSpPr>
          <p:cNvPr id="465" name="Google Shape;417;p23"/>
          <p:cNvSpPr txBox="1"/>
          <p:nvPr/>
        </p:nvSpPr>
        <p:spPr>
          <a:xfrm flipH="1" rot="10800000">
            <a:off x="1655099" y="281290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Monitoring of results of sales enablement actions</a:t>
            </a:r>
          </a:p>
        </p:txBody>
      </p:sp>
      <p:sp>
        <p:nvSpPr>
          <p:cNvPr id="466" name="Google Shape;418;p23"/>
          <p:cNvSpPr/>
          <p:nvPr/>
        </p:nvSpPr>
        <p:spPr>
          <a:xfrm flipV="1">
            <a:off x="499033" y="2988208"/>
            <a:ext cx="4434900" cy="6900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69" name="Google Shape;419;p23"/>
          <p:cNvGrpSpPr/>
          <p:nvPr/>
        </p:nvGrpSpPr>
        <p:grpSpPr>
          <a:xfrm>
            <a:off x="499025" y="3031099"/>
            <a:ext cx="1095301" cy="517201"/>
            <a:chOff x="0" y="0"/>
            <a:chExt cx="1095300" cy="517200"/>
          </a:xfrm>
        </p:grpSpPr>
        <p:sp>
          <p:nvSpPr>
            <p:cNvPr id="467" name="Rectangle aux angles arrondis"/>
            <p:cNvSpPr/>
            <p:nvPr/>
          </p:nvSpPr>
          <p:spPr>
            <a:xfrm>
              <a:off x="0" y="0"/>
              <a:ext cx="1095301" cy="5172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468" name="Playbooks"/>
            <p:cNvSpPr txBox="1"/>
            <p:nvPr/>
          </p:nvSpPr>
          <p:spPr>
            <a:xfrm>
              <a:off x="9071" y="116374"/>
              <a:ext cx="1077158" cy="284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Playbooks</a:t>
              </a:r>
            </a:p>
          </p:txBody>
        </p:sp>
      </p:grpSp>
      <p:sp>
        <p:nvSpPr>
          <p:cNvPr id="470" name="Google Shape;420;p23"/>
          <p:cNvSpPr txBox="1"/>
          <p:nvPr/>
        </p:nvSpPr>
        <p:spPr>
          <a:xfrm flipH="1" rot="10800000">
            <a:off x="1662813" y="3032716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Playbook</a:t>
            </a:r>
          </a:p>
        </p:txBody>
      </p:sp>
      <p:sp>
        <p:nvSpPr>
          <p:cNvPr id="471" name="Google Shape;421;p23"/>
          <p:cNvSpPr txBox="1"/>
          <p:nvPr/>
        </p:nvSpPr>
        <p:spPr>
          <a:xfrm flipH="1" rot="10800000">
            <a:off x="1662813" y="315535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Accuracy of Playbook</a:t>
            </a:r>
          </a:p>
        </p:txBody>
      </p:sp>
      <p:sp>
        <p:nvSpPr>
          <p:cNvPr id="472" name="Google Shape;422;p23"/>
          <p:cNvSpPr txBox="1"/>
          <p:nvPr/>
        </p:nvSpPr>
        <p:spPr>
          <a:xfrm flipH="1" rot="10800000">
            <a:off x="1662813" y="328370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Leveraging top performers</a:t>
            </a:r>
          </a:p>
        </p:txBody>
      </p:sp>
      <p:sp>
        <p:nvSpPr>
          <p:cNvPr id="473" name="Google Shape;423;p23"/>
          <p:cNvSpPr/>
          <p:nvPr/>
        </p:nvSpPr>
        <p:spPr>
          <a:xfrm flipV="1">
            <a:off x="499032" y="3575308"/>
            <a:ext cx="4430402" cy="450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76" name="Google Shape;424;p23"/>
          <p:cNvGrpSpPr/>
          <p:nvPr/>
        </p:nvGrpSpPr>
        <p:grpSpPr>
          <a:xfrm>
            <a:off x="483599" y="3611300"/>
            <a:ext cx="1095301" cy="1254601"/>
            <a:chOff x="0" y="0"/>
            <a:chExt cx="1095300" cy="1254599"/>
          </a:xfrm>
        </p:grpSpPr>
        <p:sp>
          <p:nvSpPr>
            <p:cNvPr id="474" name="Rectangle aux angles arrondis"/>
            <p:cNvSpPr/>
            <p:nvPr/>
          </p:nvSpPr>
          <p:spPr>
            <a:xfrm>
              <a:off x="0" y="0"/>
              <a:ext cx="1095301" cy="1254600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475" name="Sales Training"/>
            <p:cNvSpPr txBox="1"/>
            <p:nvPr/>
          </p:nvSpPr>
          <p:spPr>
            <a:xfrm>
              <a:off x="19212" y="485075"/>
              <a:ext cx="1056876" cy="284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Training</a:t>
              </a:r>
            </a:p>
          </p:txBody>
        </p:sp>
      </p:grpSp>
      <p:sp>
        <p:nvSpPr>
          <p:cNvPr id="477" name="Google Shape;425;p23"/>
          <p:cNvSpPr txBox="1"/>
          <p:nvPr/>
        </p:nvSpPr>
        <p:spPr>
          <a:xfrm flipH="1" rot="10800000">
            <a:off x="1662813" y="386990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trainer</a:t>
            </a:r>
          </a:p>
        </p:txBody>
      </p:sp>
      <p:sp>
        <p:nvSpPr>
          <p:cNvPr id="478" name="Google Shape;426;p23"/>
          <p:cNvSpPr txBox="1"/>
          <p:nvPr/>
        </p:nvSpPr>
        <p:spPr>
          <a:xfrm flipH="1" rot="10800000">
            <a:off x="1662813" y="4005967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Train the trainer</a:t>
            </a:r>
          </a:p>
        </p:txBody>
      </p:sp>
      <p:sp>
        <p:nvSpPr>
          <p:cNvPr id="479" name="Google Shape;427;p23"/>
          <p:cNvSpPr txBox="1"/>
          <p:nvPr/>
        </p:nvSpPr>
        <p:spPr>
          <a:xfrm flipH="1" rot="10800000">
            <a:off x="1662813" y="4147746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Curriculum</a:t>
            </a:r>
          </a:p>
        </p:txBody>
      </p:sp>
      <p:sp>
        <p:nvSpPr>
          <p:cNvPr id="480" name="Google Shape;428;p23"/>
          <p:cNvSpPr txBox="1"/>
          <p:nvPr/>
        </p:nvSpPr>
        <p:spPr>
          <a:xfrm flipH="1" rot="10800000">
            <a:off x="1662813" y="429052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Training quality measurement </a:t>
            </a:r>
          </a:p>
        </p:txBody>
      </p:sp>
      <p:sp>
        <p:nvSpPr>
          <p:cNvPr id="481" name="Google Shape;429;p23"/>
          <p:cNvSpPr txBox="1"/>
          <p:nvPr/>
        </p:nvSpPr>
        <p:spPr>
          <a:xfrm flipH="1" rot="10800000">
            <a:off x="1662813" y="443230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Training ROI</a:t>
            </a:r>
          </a:p>
        </p:txBody>
      </p:sp>
      <p:sp>
        <p:nvSpPr>
          <p:cNvPr id="482" name="Google Shape;430;p23"/>
          <p:cNvSpPr txBox="1"/>
          <p:nvPr/>
        </p:nvSpPr>
        <p:spPr>
          <a:xfrm flipH="1" rot="10800000">
            <a:off x="1662813" y="457679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Manager's involvement</a:t>
            </a:r>
          </a:p>
        </p:txBody>
      </p:sp>
      <p:sp>
        <p:nvSpPr>
          <p:cNvPr id="483" name="Google Shape;443;p23"/>
          <p:cNvSpPr txBox="1"/>
          <p:nvPr/>
        </p:nvSpPr>
        <p:spPr>
          <a:xfrm flipH="1" rot="10800000">
            <a:off x="1655212" y="473059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Budget</a:t>
            </a:r>
          </a:p>
        </p:txBody>
      </p:sp>
      <p:sp>
        <p:nvSpPr>
          <p:cNvPr id="484" name="Google Shape;444;p23"/>
          <p:cNvSpPr/>
          <p:nvPr/>
        </p:nvSpPr>
        <p:spPr>
          <a:xfrm>
            <a:off x="4325111" y="170964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85" name="Google Shape;445;p23"/>
          <p:cNvSpPr/>
          <p:nvPr/>
        </p:nvSpPr>
        <p:spPr>
          <a:xfrm>
            <a:off x="4325111" y="184824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86" name="Google Shape;446;p23"/>
          <p:cNvSpPr/>
          <p:nvPr/>
        </p:nvSpPr>
        <p:spPr>
          <a:xfrm>
            <a:off x="4325111" y="198086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87" name="Google Shape;447;p23"/>
          <p:cNvSpPr/>
          <p:nvPr/>
        </p:nvSpPr>
        <p:spPr>
          <a:xfrm>
            <a:off x="4325111" y="211873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88" name="Google Shape;448;p23"/>
          <p:cNvSpPr/>
          <p:nvPr/>
        </p:nvSpPr>
        <p:spPr>
          <a:xfrm>
            <a:off x="4325111" y="226527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89" name="Google Shape;449;p23"/>
          <p:cNvSpPr/>
          <p:nvPr/>
        </p:nvSpPr>
        <p:spPr>
          <a:xfrm>
            <a:off x="4325111" y="246272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90" name="Google Shape;450;p23"/>
          <p:cNvSpPr/>
          <p:nvPr/>
        </p:nvSpPr>
        <p:spPr>
          <a:xfrm>
            <a:off x="4325111" y="258290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91" name="Google Shape;451;p23"/>
          <p:cNvSpPr/>
          <p:nvPr/>
        </p:nvSpPr>
        <p:spPr>
          <a:xfrm>
            <a:off x="4325111" y="270027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92" name="Google Shape;452;p23"/>
          <p:cNvSpPr/>
          <p:nvPr/>
        </p:nvSpPr>
        <p:spPr>
          <a:xfrm>
            <a:off x="4325111" y="281892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93" name="Google Shape;453;p23"/>
          <p:cNvSpPr/>
          <p:nvPr/>
        </p:nvSpPr>
        <p:spPr>
          <a:xfrm>
            <a:off x="4325111" y="304428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94" name="Google Shape;454;p23"/>
          <p:cNvSpPr/>
          <p:nvPr/>
        </p:nvSpPr>
        <p:spPr>
          <a:xfrm>
            <a:off x="4325111" y="316436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95" name="Google Shape;455;p23"/>
          <p:cNvSpPr/>
          <p:nvPr/>
        </p:nvSpPr>
        <p:spPr>
          <a:xfrm>
            <a:off x="4325111" y="329682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96" name="Google Shape;456;p23"/>
          <p:cNvSpPr/>
          <p:nvPr/>
        </p:nvSpPr>
        <p:spPr>
          <a:xfrm>
            <a:off x="4325111" y="342298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97" name="Google Shape;457;p23"/>
          <p:cNvSpPr/>
          <p:nvPr/>
        </p:nvSpPr>
        <p:spPr>
          <a:xfrm>
            <a:off x="4325111" y="361048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98" name="Google Shape;458;p23"/>
          <p:cNvSpPr/>
          <p:nvPr/>
        </p:nvSpPr>
        <p:spPr>
          <a:xfrm>
            <a:off x="4325111" y="374815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499" name="Google Shape;459;p23"/>
          <p:cNvSpPr/>
          <p:nvPr/>
        </p:nvSpPr>
        <p:spPr>
          <a:xfrm>
            <a:off x="4325111" y="387504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00" name="Google Shape;460;p23"/>
          <p:cNvSpPr/>
          <p:nvPr/>
        </p:nvSpPr>
        <p:spPr>
          <a:xfrm>
            <a:off x="4325111" y="401677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01" name="Google Shape;461;p23"/>
          <p:cNvSpPr/>
          <p:nvPr/>
        </p:nvSpPr>
        <p:spPr>
          <a:xfrm>
            <a:off x="4325111" y="415579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02" name="Google Shape;462;p23"/>
          <p:cNvSpPr/>
          <p:nvPr/>
        </p:nvSpPr>
        <p:spPr>
          <a:xfrm>
            <a:off x="4325111" y="429631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03" name="Google Shape;463;p23"/>
          <p:cNvSpPr/>
          <p:nvPr/>
        </p:nvSpPr>
        <p:spPr>
          <a:xfrm>
            <a:off x="4325111" y="184825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04" name="Google Shape;464;p23"/>
          <p:cNvSpPr/>
          <p:nvPr/>
        </p:nvSpPr>
        <p:spPr>
          <a:xfrm>
            <a:off x="4325111" y="1980149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05" name="Google Shape;465;p23"/>
          <p:cNvSpPr/>
          <p:nvPr/>
        </p:nvSpPr>
        <p:spPr>
          <a:xfrm>
            <a:off x="4325111" y="212270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06" name="Google Shape;466;p23"/>
          <p:cNvSpPr/>
          <p:nvPr/>
        </p:nvSpPr>
        <p:spPr>
          <a:xfrm>
            <a:off x="4325111" y="226528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07" name="Google Shape;467;p23"/>
          <p:cNvSpPr/>
          <p:nvPr/>
        </p:nvSpPr>
        <p:spPr>
          <a:xfrm>
            <a:off x="4325111" y="246272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08" name="Google Shape;468;p23"/>
          <p:cNvSpPr/>
          <p:nvPr/>
        </p:nvSpPr>
        <p:spPr>
          <a:xfrm>
            <a:off x="4325111" y="2582909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09" name="Google Shape;469;p23"/>
          <p:cNvSpPr/>
          <p:nvPr/>
        </p:nvSpPr>
        <p:spPr>
          <a:xfrm>
            <a:off x="4325111" y="270028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10" name="Google Shape;470;p23"/>
          <p:cNvSpPr/>
          <p:nvPr/>
        </p:nvSpPr>
        <p:spPr>
          <a:xfrm>
            <a:off x="4325111" y="2844130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11" name="Google Shape;471;p23"/>
          <p:cNvSpPr/>
          <p:nvPr/>
        </p:nvSpPr>
        <p:spPr>
          <a:xfrm>
            <a:off x="4325111" y="304774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12" name="Google Shape;472;p23"/>
          <p:cNvSpPr/>
          <p:nvPr/>
        </p:nvSpPr>
        <p:spPr>
          <a:xfrm>
            <a:off x="4325111" y="316541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13" name="Google Shape;473;p23"/>
          <p:cNvSpPr/>
          <p:nvPr/>
        </p:nvSpPr>
        <p:spPr>
          <a:xfrm>
            <a:off x="4325111" y="329683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14" name="Google Shape;474;p23"/>
          <p:cNvSpPr/>
          <p:nvPr/>
        </p:nvSpPr>
        <p:spPr>
          <a:xfrm>
            <a:off x="4325111" y="342299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15" name="Google Shape;475;p23"/>
          <p:cNvSpPr/>
          <p:nvPr/>
        </p:nvSpPr>
        <p:spPr>
          <a:xfrm>
            <a:off x="4325111" y="361049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16" name="Google Shape;476;p23"/>
          <p:cNvSpPr/>
          <p:nvPr/>
        </p:nvSpPr>
        <p:spPr>
          <a:xfrm>
            <a:off x="4325111" y="375559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17" name="Google Shape;477;p23"/>
          <p:cNvSpPr/>
          <p:nvPr/>
        </p:nvSpPr>
        <p:spPr>
          <a:xfrm>
            <a:off x="4325111" y="388322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18" name="Google Shape;478;p23"/>
          <p:cNvSpPr/>
          <p:nvPr/>
        </p:nvSpPr>
        <p:spPr>
          <a:xfrm>
            <a:off x="4325111" y="401483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19" name="Google Shape;479;p23"/>
          <p:cNvSpPr txBox="1"/>
          <p:nvPr/>
        </p:nvSpPr>
        <p:spPr>
          <a:xfrm flipH="1" rot="10800000">
            <a:off x="1655224" y="3411449"/>
            <a:ext cx="19665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Ownership</a:t>
            </a:r>
          </a:p>
        </p:txBody>
      </p:sp>
      <p:sp>
        <p:nvSpPr>
          <p:cNvPr id="520" name="Google Shape;480;p23"/>
          <p:cNvSpPr/>
          <p:nvPr/>
        </p:nvSpPr>
        <p:spPr>
          <a:xfrm>
            <a:off x="4325111" y="415785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21" name="Google Shape;481;p23"/>
          <p:cNvSpPr txBox="1"/>
          <p:nvPr/>
        </p:nvSpPr>
        <p:spPr>
          <a:xfrm flipH="1" rot="10800000">
            <a:off x="1663949" y="3735775"/>
            <a:ext cx="18645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Training calendar</a:t>
            </a:r>
          </a:p>
        </p:txBody>
      </p:sp>
      <p:sp>
        <p:nvSpPr>
          <p:cNvPr id="522" name="Google Shape;482;p23"/>
          <p:cNvSpPr txBox="1"/>
          <p:nvPr/>
        </p:nvSpPr>
        <p:spPr>
          <a:xfrm flipH="1" rot="10800000">
            <a:off x="1663925" y="3597949"/>
            <a:ext cx="1902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On-boarding including sales training</a:t>
            </a:r>
          </a:p>
        </p:txBody>
      </p:sp>
      <p:sp>
        <p:nvSpPr>
          <p:cNvPr id="523" name="Google Shape;483;p23"/>
          <p:cNvSpPr/>
          <p:nvPr/>
        </p:nvSpPr>
        <p:spPr>
          <a:xfrm>
            <a:off x="4325111" y="444315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24" name="Google Shape;484;p23"/>
          <p:cNvSpPr/>
          <p:nvPr/>
        </p:nvSpPr>
        <p:spPr>
          <a:xfrm>
            <a:off x="4325111" y="458655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25" name="Google Shape;485;p23"/>
          <p:cNvSpPr/>
          <p:nvPr/>
        </p:nvSpPr>
        <p:spPr>
          <a:xfrm>
            <a:off x="4325111" y="473615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26" name="Google Shape;486;p23"/>
          <p:cNvSpPr/>
          <p:nvPr/>
        </p:nvSpPr>
        <p:spPr>
          <a:xfrm>
            <a:off x="4325111" y="444196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27" name="Google Shape;487;p23"/>
          <p:cNvSpPr/>
          <p:nvPr/>
        </p:nvSpPr>
        <p:spPr>
          <a:xfrm>
            <a:off x="4325111" y="458423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28" name="Google Shape;488;p23"/>
          <p:cNvSpPr/>
          <p:nvPr/>
        </p:nvSpPr>
        <p:spPr>
          <a:xfrm>
            <a:off x="4325111" y="473735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29" name="Google Shape;489;p23"/>
          <p:cNvSpPr txBox="1"/>
          <p:nvPr/>
        </p:nvSpPr>
        <p:spPr>
          <a:xfrm>
            <a:off x="2641766" y="741008"/>
            <a:ext cx="3030601" cy="41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768095">
              <a:defRPr b="1" sz="1512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2.2</a:t>
            </a:r>
          </a:p>
        </p:txBody>
      </p:sp>
      <p:sp>
        <p:nvSpPr>
          <p:cNvPr id="530" name="Google Shape;490;p23"/>
          <p:cNvSpPr txBox="1"/>
          <p:nvPr/>
        </p:nvSpPr>
        <p:spPr>
          <a:xfrm>
            <a:off x="8453587" y="792474"/>
            <a:ext cx="335401" cy="30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b="1" sz="6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531" name="Google Shape;491;p23"/>
          <p:cNvSpPr txBox="1"/>
          <p:nvPr/>
        </p:nvSpPr>
        <p:spPr>
          <a:xfrm>
            <a:off x="3830575" y="1238843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32" name="Google Shape;492;p23"/>
          <p:cNvSpPr txBox="1"/>
          <p:nvPr/>
        </p:nvSpPr>
        <p:spPr>
          <a:xfrm>
            <a:off x="405308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33" name="Google Shape;493;p23"/>
          <p:cNvSpPr txBox="1"/>
          <p:nvPr/>
        </p:nvSpPr>
        <p:spPr>
          <a:xfrm>
            <a:off x="426863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34" name="Google Shape;494;p23"/>
          <p:cNvSpPr txBox="1"/>
          <p:nvPr/>
        </p:nvSpPr>
        <p:spPr>
          <a:xfrm>
            <a:off x="4487662" y="1238849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35" name="Google Shape;495;p23"/>
          <p:cNvSpPr txBox="1"/>
          <p:nvPr/>
        </p:nvSpPr>
        <p:spPr>
          <a:xfrm>
            <a:off x="4706713" y="1243936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540" name="Google Shape;510;p23"/>
          <p:cNvGrpSpPr/>
          <p:nvPr/>
        </p:nvGrpSpPr>
        <p:grpSpPr>
          <a:xfrm>
            <a:off x="353225" y="4944834"/>
            <a:ext cx="2346525" cy="167513"/>
            <a:chOff x="0" y="0"/>
            <a:chExt cx="2346523" cy="167512"/>
          </a:xfrm>
        </p:grpSpPr>
        <p:sp>
          <p:nvSpPr>
            <p:cNvPr id="536" name="Google Shape;511;p23"/>
            <p:cNvSpPr txBox="1"/>
            <p:nvPr/>
          </p:nvSpPr>
          <p:spPr>
            <a:xfrm>
              <a:off x="138524" y="1450"/>
              <a:ext cx="857400" cy="144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Atscale assessment</a:t>
              </a:r>
            </a:p>
          </p:txBody>
        </p:sp>
        <p:sp>
          <p:nvSpPr>
            <p:cNvPr id="537" name="Google Shape;512;p23"/>
            <p:cNvSpPr txBox="1"/>
            <p:nvPr/>
          </p:nvSpPr>
          <p:spPr>
            <a:xfrm>
              <a:off x="1175924" y="0"/>
              <a:ext cx="1170600" cy="14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[CLIENT] self-assessment</a:t>
              </a:r>
            </a:p>
          </p:txBody>
        </p:sp>
        <p:sp>
          <p:nvSpPr>
            <p:cNvPr id="538" name="Google Shape;513;p23"/>
            <p:cNvSpPr/>
            <p:nvPr/>
          </p:nvSpPr>
          <p:spPr>
            <a:xfrm>
              <a:off x="1054074" y="59512"/>
              <a:ext cx="108001" cy="108001"/>
            </a:xfrm>
            <a:prstGeom prst="ellipse">
              <a:avLst/>
            </a:prstGeom>
            <a:solidFill>
              <a:srgbClr val="DDC7C7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  <p:sp>
          <p:nvSpPr>
            <p:cNvPr id="539" name="Google Shape;514;p23"/>
            <p:cNvSpPr/>
            <p:nvPr/>
          </p:nvSpPr>
          <p:spPr>
            <a:xfrm>
              <a:off x="0" y="59512"/>
              <a:ext cx="108000" cy="108001"/>
            </a:xfrm>
            <a:prstGeom prst="ellipse">
              <a:avLst/>
            </a:prstGeom>
            <a:solidFill>
              <a:srgbClr val="BDD3F3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</p:grpSp>
      <p:sp>
        <p:nvSpPr>
          <p:cNvPr id="541" name="Google Shape;515;p23"/>
          <p:cNvSpPr/>
          <p:nvPr/>
        </p:nvSpPr>
        <p:spPr>
          <a:xfrm>
            <a:off x="4325111" y="430013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42" name="Google Shape;516;p23"/>
          <p:cNvSpPr/>
          <p:nvPr/>
        </p:nvSpPr>
        <p:spPr>
          <a:xfrm>
            <a:off x="4978199" y="2207223"/>
            <a:ext cx="3910502" cy="1941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543" name="Google Shape;517;p23"/>
          <p:cNvSpPr/>
          <p:nvPr/>
        </p:nvSpPr>
        <p:spPr>
          <a:xfrm>
            <a:off x="4971799" y="1548913"/>
            <a:ext cx="3910502" cy="2067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544" name="Google Shape;518;p23"/>
          <p:cNvSpPr/>
          <p:nvPr/>
        </p:nvSpPr>
        <p:spPr>
          <a:xfrm>
            <a:off x="4978199" y="3303299"/>
            <a:ext cx="3910502" cy="2067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545" name="Google Shape;519;p23"/>
          <p:cNvSpPr/>
          <p:nvPr/>
        </p:nvSpPr>
        <p:spPr>
          <a:xfrm>
            <a:off x="4978199" y="3559374"/>
            <a:ext cx="3910502" cy="2067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546" name="Google Shape;520;p23"/>
          <p:cNvSpPr/>
          <p:nvPr/>
        </p:nvSpPr>
        <p:spPr>
          <a:xfrm>
            <a:off x="4978199" y="4062050"/>
            <a:ext cx="3910502" cy="2067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547" name="Google Shape;521;p23"/>
          <p:cNvSpPr/>
          <p:nvPr/>
        </p:nvSpPr>
        <p:spPr>
          <a:xfrm>
            <a:off x="4978199" y="1976575"/>
            <a:ext cx="3910502" cy="2067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27;p24"/>
          <p:cNvSpPr/>
          <p:nvPr/>
        </p:nvSpPr>
        <p:spPr>
          <a:xfrm rot="5400000">
            <a:off x="3031224" y="2969639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B6D7A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50" name="Google Shape;528;p24"/>
          <p:cNvSpPr/>
          <p:nvPr/>
        </p:nvSpPr>
        <p:spPr>
          <a:xfrm rot="16200000">
            <a:off x="2155074" y="2969608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EBC5D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51" name="Google Shape;529;p24"/>
          <p:cNvSpPr/>
          <p:nvPr/>
        </p:nvSpPr>
        <p:spPr>
          <a:xfrm>
            <a:off x="4049600" y="1294139"/>
            <a:ext cx="219301" cy="3571800"/>
          </a:xfrm>
          <a:prstGeom prst="rect">
            <a:avLst/>
          </a:prstGeom>
          <a:solidFill>
            <a:srgbClr val="FCE5CD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552" name="Google Shape;530;p24"/>
          <p:cNvSpPr/>
          <p:nvPr/>
        </p:nvSpPr>
        <p:spPr>
          <a:xfrm>
            <a:off x="4268637" y="1294139"/>
            <a:ext cx="219301" cy="3571800"/>
          </a:xfrm>
          <a:prstGeom prst="rect">
            <a:avLst/>
          </a:prstGeom>
          <a:solidFill>
            <a:srgbClr val="FFF2CC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553" name="Google Shape;531;p24"/>
          <p:cNvSpPr/>
          <p:nvPr/>
        </p:nvSpPr>
        <p:spPr>
          <a:xfrm>
            <a:off x="4487674" y="1294139"/>
            <a:ext cx="219301" cy="3571800"/>
          </a:xfrm>
          <a:prstGeom prst="rect">
            <a:avLst/>
          </a:prstGeom>
          <a:solidFill>
            <a:srgbClr val="D9EAD3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554" name="Google Shape;532;p24"/>
          <p:cNvSpPr txBox="1"/>
          <p:nvPr>
            <p:ph type="ctrTitle"/>
          </p:nvPr>
        </p:nvSpPr>
        <p:spPr>
          <a:xfrm>
            <a:off x="483600" y="750299"/>
            <a:ext cx="5461500" cy="418501"/>
          </a:xfrm>
          <a:prstGeom prst="rect">
            <a:avLst/>
          </a:prstGeom>
        </p:spPr>
        <p:txBody>
          <a:bodyPr/>
          <a:lstStyle>
            <a:lvl1pPr algn="l" defTabSz="768095">
              <a:defRPr sz="1512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Performance Management :</a:t>
            </a:r>
          </a:p>
        </p:txBody>
      </p:sp>
      <p:pic>
        <p:nvPicPr>
          <p:cNvPr id="555" name="Logo_atscale_sans texture.pngGoogle Shape;533;p24" descr="Logo_atscale_sans texture.pngGoogle Shape;533;p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556" name="Google Shape;534;p24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7" name="Google Shape;535;p24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Synthesis</a:t>
            </a:r>
          </a:p>
        </p:txBody>
      </p:sp>
      <p:pic>
        <p:nvPicPr>
          <p:cNvPr id="558" name="Google Shape;536;p24" descr="Google Shape;536;p2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85575" y="823977"/>
            <a:ext cx="908957" cy="271129"/>
          </a:xfrm>
          <a:prstGeom prst="rect">
            <a:avLst/>
          </a:prstGeom>
          <a:ln w="12700">
            <a:miter lim="400000"/>
          </a:ln>
        </p:spPr>
      </p:pic>
      <p:sp>
        <p:nvSpPr>
          <p:cNvPr id="559" name="Google Shape;537;p24"/>
          <p:cNvSpPr txBox="1"/>
          <p:nvPr/>
        </p:nvSpPr>
        <p:spPr>
          <a:xfrm>
            <a:off x="7862731" y="823675"/>
            <a:ext cx="8118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[CLIENT] Grade :  </a:t>
            </a:r>
          </a:p>
        </p:txBody>
      </p:sp>
      <p:grpSp>
        <p:nvGrpSpPr>
          <p:cNvPr id="562" name="Google Shape;538;p24"/>
          <p:cNvGrpSpPr/>
          <p:nvPr/>
        </p:nvGrpSpPr>
        <p:grpSpPr>
          <a:xfrm>
            <a:off x="499025" y="1563219"/>
            <a:ext cx="1095301" cy="1006801"/>
            <a:chOff x="0" y="0"/>
            <a:chExt cx="1095300" cy="1006799"/>
          </a:xfrm>
        </p:grpSpPr>
        <p:sp>
          <p:nvSpPr>
            <p:cNvPr id="560" name="Rectangle aux angles arrondis"/>
            <p:cNvSpPr/>
            <p:nvPr/>
          </p:nvSpPr>
          <p:spPr>
            <a:xfrm>
              <a:off x="0" y="0"/>
              <a:ext cx="1095301" cy="100680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561" name="Sales Performance Routines"/>
            <p:cNvSpPr txBox="1"/>
            <p:nvPr/>
          </p:nvSpPr>
          <p:spPr>
            <a:xfrm>
              <a:off x="49148" y="299262"/>
              <a:ext cx="997004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Performance Routines</a:t>
              </a:r>
            </a:p>
          </p:txBody>
        </p:sp>
      </p:grpSp>
      <p:sp>
        <p:nvSpPr>
          <p:cNvPr id="563" name="Google Shape;539;p24"/>
          <p:cNvSpPr txBox="1"/>
          <p:nvPr/>
        </p:nvSpPr>
        <p:spPr>
          <a:xfrm flipH="1" rot="10800000">
            <a:off x="1655099" y="156673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Comprehensive measure of performance </a:t>
            </a:r>
          </a:p>
        </p:txBody>
      </p:sp>
      <p:sp>
        <p:nvSpPr>
          <p:cNvPr id="564" name="Google Shape;540;p24"/>
          <p:cNvSpPr txBox="1"/>
          <p:nvPr/>
        </p:nvSpPr>
        <p:spPr>
          <a:xfrm flipH="1" rot="10800000">
            <a:off x="1655099" y="172194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One single source of truth</a:t>
            </a:r>
          </a:p>
        </p:txBody>
      </p:sp>
      <p:sp>
        <p:nvSpPr>
          <p:cNvPr id="565" name="Google Shape;541;p24"/>
          <p:cNvSpPr/>
          <p:nvPr/>
        </p:nvSpPr>
        <p:spPr>
          <a:xfrm flipV="1">
            <a:off x="499033" y="2629692"/>
            <a:ext cx="4434900" cy="180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6" name="Google Shape;542;p24"/>
          <p:cNvSpPr/>
          <p:nvPr/>
        </p:nvSpPr>
        <p:spPr>
          <a:xfrm>
            <a:off x="4325111" y="157844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67" name="Google Shape;543;p24"/>
          <p:cNvSpPr/>
          <p:nvPr/>
        </p:nvSpPr>
        <p:spPr>
          <a:xfrm>
            <a:off x="4325111" y="1582251"/>
            <a:ext cx="108001" cy="108000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68" name="Google Shape;544;p24"/>
          <p:cNvSpPr/>
          <p:nvPr/>
        </p:nvSpPr>
        <p:spPr>
          <a:xfrm>
            <a:off x="499032" y="1496135"/>
            <a:ext cx="8266802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9" name="Google Shape;545;p24"/>
          <p:cNvSpPr txBox="1"/>
          <p:nvPr/>
        </p:nvSpPr>
        <p:spPr>
          <a:xfrm>
            <a:off x="1655099" y="1195492"/>
            <a:ext cx="21756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Assessment vs. best in class</a:t>
            </a:r>
          </a:p>
        </p:txBody>
      </p:sp>
      <p:sp>
        <p:nvSpPr>
          <p:cNvPr id="570" name="Google Shape;546;p24"/>
          <p:cNvSpPr txBox="1"/>
          <p:nvPr/>
        </p:nvSpPr>
        <p:spPr>
          <a:xfrm>
            <a:off x="4925750" y="1195474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571" name="Google Shape;547;p24"/>
          <p:cNvSpPr txBox="1"/>
          <p:nvPr/>
        </p:nvSpPr>
        <p:spPr>
          <a:xfrm>
            <a:off x="6957600" y="1195493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Initiatives recommended</a:t>
            </a:r>
          </a:p>
        </p:txBody>
      </p:sp>
      <p:grpSp>
        <p:nvGrpSpPr>
          <p:cNvPr id="574" name="Google Shape;548;p24"/>
          <p:cNvGrpSpPr/>
          <p:nvPr/>
        </p:nvGrpSpPr>
        <p:grpSpPr>
          <a:xfrm>
            <a:off x="499025" y="3651275"/>
            <a:ext cx="1095301" cy="1186801"/>
            <a:chOff x="0" y="0"/>
            <a:chExt cx="1095300" cy="1186800"/>
          </a:xfrm>
        </p:grpSpPr>
        <p:sp>
          <p:nvSpPr>
            <p:cNvPr id="572" name="Rectangle aux angles arrondis"/>
            <p:cNvSpPr/>
            <p:nvPr/>
          </p:nvSpPr>
          <p:spPr>
            <a:xfrm>
              <a:off x="0" y="0"/>
              <a:ext cx="1095301" cy="11868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573" name="Under &amp; Top Performance Management"/>
            <p:cNvSpPr txBox="1"/>
            <p:nvPr/>
          </p:nvSpPr>
          <p:spPr>
            <a:xfrm>
              <a:off x="19212" y="327350"/>
              <a:ext cx="1056876" cy="532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Under &amp; Top Performance Management</a:t>
              </a:r>
            </a:p>
          </p:txBody>
        </p:sp>
      </p:grpSp>
      <p:sp>
        <p:nvSpPr>
          <p:cNvPr id="575" name="Google Shape;549;p24"/>
          <p:cNvSpPr txBox="1"/>
          <p:nvPr/>
        </p:nvSpPr>
        <p:spPr>
          <a:xfrm flipH="1" rot="10800000">
            <a:off x="1655249" y="187378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Consistency of performance management across teams</a:t>
            </a:r>
          </a:p>
        </p:txBody>
      </p:sp>
      <p:sp>
        <p:nvSpPr>
          <p:cNvPr id="576" name="Google Shape;550;p24"/>
          <p:cNvSpPr txBox="1"/>
          <p:nvPr/>
        </p:nvSpPr>
        <p:spPr>
          <a:xfrm flipH="1" rot="10800000">
            <a:off x="1655249" y="201656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Quality of pipeline reviews</a:t>
            </a:r>
          </a:p>
        </p:txBody>
      </p:sp>
      <p:sp>
        <p:nvSpPr>
          <p:cNvPr id="577" name="Google Shape;551;p24"/>
          <p:cNvSpPr txBox="1"/>
          <p:nvPr/>
        </p:nvSpPr>
        <p:spPr>
          <a:xfrm flipH="1" rot="10800000">
            <a:off x="1655249" y="217177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Task prioritization</a:t>
            </a:r>
          </a:p>
        </p:txBody>
      </p:sp>
      <p:sp>
        <p:nvSpPr>
          <p:cNvPr id="578" name="Google Shape;552;p24"/>
          <p:cNvSpPr txBox="1"/>
          <p:nvPr/>
        </p:nvSpPr>
        <p:spPr>
          <a:xfrm flipH="1" rot="10800000">
            <a:off x="1655099" y="2310936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1:1 Structure</a:t>
            </a:r>
          </a:p>
        </p:txBody>
      </p:sp>
      <p:sp>
        <p:nvSpPr>
          <p:cNvPr id="579" name="Google Shape;553;p24"/>
          <p:cNvSpPr txBox="1"/>
          <p:nvPr/>
        </p:nvSpPr>
        <p:spPr>
          <a:xfrm flipH="1" rot="10800000">
            <a:off x="1655099" y="246614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Performance based coaching plans</a:t>
            </a:r>
          </a:p>
        </p:txBody>
      </p:sp>
      <p:sp>
        <p:nvSpPr>
          <p:cNvPr id="580" name="Google Shape;554;p24"/>
          <p:cNvSpPr txBox="1"/>
          <p:nvPr/>
        </p:nvSpPr>
        <p:spPr>
          <a:xfrm flipH="1" rot="10800000">
            <a:off x="1655099" y="270293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Blitz</a:t>
            </a:r>
          </a:p>
        </p:txBody>
      </p:sp>
      <p:sp>
        <p:nvSpPr>
          <p:cNvPr id="581" name="Google Shape;555;p24"/>
          <p:cNvSpPr txBox="1"/>
          <p:nvPr/>
        </p:nvSpPr>
        <p:spPr>
          <a:xfrm flipH="1" rot="10800000">
            <a:off x="1655099" y="285142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Gamification</a:t>
            </a:r>
          </a:p>
        </p:txBody>
      </p:sp>
      <p:sp>
        <p:nvSpPr>
          <p:cNvPr id="582" name="Google Shape;556;p24"/>
          <p:cNvSpPr txBox="1"/>
          <p:nvPr/>
        </p:nvSpPr>
        <p:spPr>
          <a:xfrm flipH="1" rot="10800000">
            <a:off x="1655099" y="299420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SPIFF</a:t>
            </a:r>
          </a:p>
        </p:txBody>
      </p:sp>
      <p:sp>
        <p:nvSpPr>
          <p:cNvPr id="583" name="Google Shape;557;p24"/>
          <p:cNvSpPr/>
          <p:nvPr/>
        </p:nvSpPr>
        <p:spPr>
          <a:xfrm flipV="1">
            <a:off x="499033" y="3601473"/>
            <a:ext cx="4434900" cy="1140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86" name="Google Shape;558;p24"/>
          <p:cNvGrpSpPr/>
          <p:nvPr/>
        </p:nvGrpSpPr>
        <p:grpSpPr>
          <a:xfrm>
            <a:off x="499025" y="2689499"/>
            <a:ext cx="1095301" cy="882901"/>
            <a:chOff x="0" y="0"/>
            <a:chExt cx="1095300" cy="882899"/>
          </a:xfrm>
        </p:grpSpPr>
        <p:sp>
          <p:nvSpPr>
            <p:cNvPr id="584" name="Rectangle aux angles arrondis"/>
            <p:cNvSpPr/>
            <p:nvPr/>
          </p:nvSpPr>
          <p:spPr>
            <a:xfrm>
              <a:off x="0" y="0"/>
              <a:ext cx="1095301" cy="882900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585" name="Sales Floor animation"/>
            <p:cNvSpPr txBox="1"/>
            <p:nvPr/>
          </p:nvSpPr>
          <p:spPr>
            <a:xfrm>
              <a:off x="15486" y="299225"/>
              <a:ext cx="1064328" cy="284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Floor animation</a:t>
              </a:r>
            </a:p>
          </p:txBody>
        </p:sp>
      </p:grpSp>
      <p:sp>
        <p:nvSpPr>
          <p:cNvPr id="587" name="Google Shape;559;p24"/>
          <p:cNvSpPr txBox="1"/>
          <p:nvPr/>
        </p:nvSpPr>
        <p:spPr>
          <a:xfrm flipH="1" rot="10800000">
            <a:off x="1662813" y="314686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Floor Routines</a:t>
            </a:r>
          </a:p>
        </p:txBody>
      </p:sp>
      <p:sp>
        <p:nvSpPr>
          <p:cNvPr id="588" name="Google Shape;560;p24"/>
          <p:cNvSpPr txBox="1"/>
          <p:nvPr/>
        </p:nvSpPr>
        <p:spPr>
          <a:xfrm flipH="1" rot="10800000">
            <a:off x="1662813" y="329636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Role play simulation between IC</a:t>
            </a:r>
          </a:p>
        </p:txBody>
      </p:sp>
      <p:sp>
        <p:nvSpPr>
          <p:cNvPr id="589" name="Google Shape;561;p24"/>
          <p:cNvSpPr txBox="1"/>
          <p:nvPr/>
        </p:nvSpPr>
        <p:spPr>
          <a:xfrm flipH="1" rot="10800000">
            <a:off x="1662813" y="343142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Remote floor animation</a:t>
            </a:r>
          </a:p>
        </p:txBody>
      </p:sp>
      <p:sp>
        <p:nvSpPr>
          <p:cNvPr id="590" name="Google Shape;562;p24"/>
          <p:cNvSpPr txBox="1"/>
          <p:nvPr/>
        </p:nvSpPr>
        <p:spPr>
          <a:xfrm flipH="1" rot="10800000">
            <a:off x="1655225" y="369861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Management of underperformance </a:t>
            </a:r>
          </a:p>
        </p:txBody>
      </p:sp>
      <p:sp>
        <p:nvSpPr>
          <p:cNvPr id="591" name="Google Shape;563;p24"/>
          <p:cNvSpPr txBox="1"/>
          <p:nvPr/>
        </p:nvSpPr>
        <p:spPr>
          <a:xfrm flipH="1" rot="10800000">
            <a:off x="1662813" y="385152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Performance Expectations</a:t>
            </a:r>
          </a:p>
        </p:txBody>
      </p:sp>
      <p:sp>
        <p:nvSpPr>
          <p:cNvPr id="592" name="Google Shape;564;p24"/>
          <p:cNvSpPr txBox="1"/>
          <p:nvPr/>
        </p:nvSpPr>
        <p:spPr>
          <a:xfrm flipH="1" rot="10800000">
            <a:off x="1662813" y="401345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Performance Feedback</a:t>
            </a:r>
          </a:p>
        </p:txBody>
      </p:sp>
      <p:sp>
        <p:nvSpPr>
          <p:cNvPr id="593" name="Google Shape;565;p24"/>
          <p:cNvSpPr txBox="1"/>
          <p:nvPr/>
        </p:nvSpPr>
        <p:spPr>
          <a:xfrm flipH="1" rot="10800000">
            <a:off x="1662813" y="418308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Performance Improvement Plans</a:t>
            </a:r>
          </a:p>
        </p:txBody>
      </p:sp>
      <p:sp>
        <p:nvSpPr>
          <p:cNvPr id="594" name="Google Shape;566;p24"/>
          <p:cNvSpPr txBox="1"/>
          <p:nvPr/>
        </p:nvSpPr>
        <p:spPr>
          <a:xfrm flipH="1" rot="10800000">
            <a:off x="1662813" y="434501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Performance Transparency</a:t>
            </a:r>
          </a:p>
        </p:txBody>
      </p:sp>
      <p:sp>
        <p:nvSpPr>
          <p:cNvPr id="595" name="Google Shape;567;p24"/>
          <p:cNvSpPr txBox="1"/>
          <p:nvPr/>
        </p:nvSpPr>
        <p:spPr>
          <a:xfrm flipH="1" rot="10800000">
            <a:off x="1662813" y="450964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Training and Development</a:t>
            </a:r>
          </a:p>
        </p:txBody>
      </p:sp>
      <p:sp>
        <p:nvSpPr>
          <p:cNvPr id="596" name="Google Shape;568;p24"/>
          <p:cNvSpPr txBox="1"/>
          <p:nvPr/>
        </p:nvSpPr>
        <p:spPr>
          <a:xfrm flipH="1" rot="10800000">
            <a:off x="1655212" y="467688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Top Performance Management</a:t>
            </a:r>
          </a:p>
        </p:txBody>
      </p:sp>
      <p:sp>
        <p:nvSpPr>
          <p:cNvPr id="597" name="Google Shape;569;p24"/>
          <p:cNvSpPr/>
          <p:nvPr/>
        </p:nvSpPr>
        <p:spPr>
          <a:xfrm>
            <a:off x="4325111" y="173156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98" name="Google Shape;570;p24"/>
          <p:cNvSpPr/>
          <p:nvPr/>
        </p:nvSpPr>
        <p:spPr>
          <a:xfrm>
            <a:off x="4325111" y="172977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599" name="Google Shape;571;p24"/>
          <p:cNvSpPr/>
          <p:nvPr/>
        </p:nvSpPr>
        <p:spPr>
          <a:xfrm>
            <a:off x="4325111" y="188636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00" name="Google Shape;572;p24"/>
          <p:cNvSpPr/>
          <p:nvPr/>
        </p:nvSpPr>
        <p:spPr>
          <a:xfrm>
            <a:off x="4325111" y="188457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01" name="Google Shape;573;p24"/>
          <p:cNvSpPr/>
          <p:nvPr/>
        </p:nvSpPr>
        <p:spPr>
          <a:xfrm>
            <a:off x="4325111" y="203299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02" name="Google Shape;574;p24"/>
          <p:cNvSpPr/>
          <p:nvPr/>
        </p:nvSpPr>
        <p:spPr>
          <a:xfrm>
            <a:off x="4325111" y="203120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03" name="Google Shape;575;p24"/>
          <p:cNvSpPr/>
          <p:nvPr/>
        </p:nvSpPr>
        <p:spPr>
          <a:xfrm>
            <a:off x="4325111" y="218452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04" name="Google Shape;576;p24"/>
          <p:cNvSpPr/>
          <p:nvPr/>
        </p:nvSpPr>
        <p:spPr>
          <a:xfrm>
            <a:off x="4325111" y="2182734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05" name="Google Shape;577;p24"/>
          <p:cNvSpPr/>
          <p:nvPr/>
        </p:nvSpPr>
        <p:spPr>
          <a:xfrm>
            <a:off x="4325111" y="232352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06" name="Google Shape;578;p24"/>
          <p:cNvSpPr/>
          <p:nvPr/>
        </p:nvSpPr>
        <p:spPr>
          <a:xfrm>
            <a:off x="4325111" y="232173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07" name="Google Shape;579;p24"/>
          <p:cNvSpPr/>
          <p:nvPr/>
        </p:nvSpPr>
        <p:spPr>
          <a:xfrm>
            <a:off x="4325111" y="248375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08" name="Google Shape;580;p24"/>
          <p:cNvSpPr/>
          <p:nvPr/>
        </p:nvSpPr>
        <p:spPr>
          <a:xfrm>
            <a:off x="4325111" y="248196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09" name="Google Shape;581;p24"/>
          <p:cNvSpPr/>
          <p:nvPr/>
        </p:nvSpPr>
        <p:spPr>
          <a:xfrm>
            <a:off x="4325111" y="271426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10" name="Google Shape;582;p24"/>
          <p:cNvSpPr/>
          <p:nvPr/>
        </p:nvSpPr>
        <p:spPr>
          <a:xfrm>
            <a:off x="4325111" y="271248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11" name="Google Shape;583;p24"/>
          <p:cNvSpPr/>
          <p:nvPr/>
        </p:nvSpPr>
        <p:spPr>
          <a:xfrm>
            <a:off x="4325111" y="286231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12" name="Google Shape;584;p24"/>
          <p:cNvSpPr/>
          <p:nvPr/>
        </p:nvSpPr>
        <p:spPr>
          <a:xfrm>
            <a:off x="4325111" y="286053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13" name="Google Shape;585;p24"/>
          <p:cNvSpPr/>
          <p:nvPr/>
        </p:nvSpPr>
        <p:spPr>
          <a:xfrm>
            <a:off x="4325111" y="300110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14" name="Google Shape;586;p24"/>
          <p:cNvSpPr/>
          <p:nvPr/>
        </p:nvSpPr>
        <p:spPr>
          <a:xfrm>
            <a:off x="4325111" y="299932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15" name="Google Shape;587;p24"/>
          <p:cNvSpPr/>
          <p:nvPr/>
        </p:nvSpPr>
        <p:spPr>
          <a:xfrm>
            <a:off x="4325111" y="315611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16" name="Google Shape;588;p24"/>
          <p:cNvSpPr/>
          <p:nvPr/>
        </p:nvSpPr>
        <p:spPr>
          <a:xfrm>
            <a:off x="4325111" y="315432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17" name="Google Shape;589;p24"/>
          <p:cNvSpPr/>
          <p:nvPr/>
        </p:nvSpPr>
        <p:spPr>
          <a:xfrm>
            <a:off x="4325111" y="330626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18" name="Google Shape;590;p24"/>
          <p:cNvSpPr/>
          <p:nvPr/>
        </p:nvSpPr>
        <p:spPr>
          <a:xfrm>
            <a:off x="4325111" y="330447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19" name="Google Shape;591;p24"/>
          <p:cNvSpPr/>
          <p:nvPr/>
        </p:nvSpPr>
        <p:spPr>
          <a:xfrm>
            <a:off x="4325111" y="3442446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20" name="Google Shape;592;p24"/>
          <p:cNvSpPr/>
          <p:nvPr/>
        </p:nvSpPr>
        <p:spPr>
          <a:xfrm>
            <a:off x="4325111" y="344065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21" name="Google Shape;593;p24"/>
          <p:cNvSpPr/>
          <p:nvPr/>
        </p:nvSpPr>
        <p:spPr>
          <a:xfrm>
            <a:off x="4325111" y="371067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22" name="Google Shape;594;p24"/>
          <p:cNvSpPr/>
          <p:nvPr/>
        </p:nvSpPr>
        <p:spPr>
          <a:xfrm>
            <a:off x="4325111" y="3712664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23" name="Google Shape;595;p24"/>
          <p:cNvSpPr/>
          <p:nvPr/>
        </p:nvSpPr>
        <p:spPr>
          <a:xfrm>
            <a:off x="4325111" y="386041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24" name="Google Shape;596;p24"/>
          <p:cNvSpPr/>
          <p:nvPr/>
        </p:nvSpPr>
        <p:spPr>
          <a:xfrm>
            <a:off x="4325111" y="385863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25" name="Google Shape;597;p24"/>
          <p:cNvSpPr/>
          <p:nvPr/>
        </p:nvSpPr>
        <p:spPr>
          <a:xfrm>
            <a:off x="4325111" y="402518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26" name="Google Shape;598;p24"/>
          <p:cNvSpPr/>
          <p:nvPr/>
        </p:nvSpPr>
        <p:spPr>
          <a:xfrm>
            <a:off x="4325111" y="402339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27" name="Google Shape;599;p24"/>
          <p:cNvSpPr/>
          <p:nvPr/>
        </p:nvSpPr>
        <p:spPr>
          <a:xfrm>
            <a:off x="4325111" y="419485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28" name="Google Shape;600;p24"/>
          <p:cNvSpPr/>
          <p:nvPr/>
        </p:nvSpPr>
        <p:spPr>
          <a:xfrm>
            <a:off x="4325111" y="418928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29" name="Google Shape;601;p24"/>
          <p:cNvSpPr/>
          <p:nvPr/>
        </p:nvSpPr>
        <p:spPr>
          <a:xfrm>
            <a:off x="4325111" y="435340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30" name="Google Shape;602;p24"/>
          <p:cNvSpPr/>
          <p:nvPr/>
        </p:nvSpPr>
        <p:spPr>
          <a:xfrm>
            <a:off x="4325111" y="435161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31" name="Google Shape;603;p24"/>
          <p:cNvSpPr/>
          <p:nvPr/>
        </p:nvSpPr>
        <p:spPr>
          <a:xfrm>
            <a:off x="4325111" y="4521336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32" name="Google Shape;604;p24"/>
          <p:cNvSpPr/>
          <p:nvPr/>
        </p:nvSpPr>
        <p:spPr>
          <a:xfrm>
            <a:off x="4325111" y="451954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33" name="Google Shape;605;p24"/>
          <p:cNvSpPr/>
          <p:nvPr/>
        </p:nvSpPr>
        <p:spPr>
          <a:xfrm>
            <a:off x="4325111" y="468654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34" name="Google Shape;606;p24"/>
          <p:cNvSpPr/>
          <p:nvPr/>
        </p:nvSpPr>
        <p:spPr>
          <a:xfrm>
            <a:off x="4325111" y="4684760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35" name="Google Shape;607;p24"/>
          <p:cNvSpPr txBox="1"/>
          <p:nvPr/>
        </p:nvSpPr>
        <p:spPr>
          <a:xfrm>
            <a:off x="4260020" y="741008"/>
            <a:ext cx="3030602" cy="41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768095">
              <a:defRPr b="1" sz="1512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636" name="Google Shape;608;p24"/>
          <p:cNvSpPr txBox="1"/>
          <p:nvPr/>
        </p:nvSpPr>
        <p:spPr>
          <a:xfrm>
            <a:off x="8453587" y="792474"/>
            <a:ext cx="335401" cy="30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b="1" sz="6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637" name="Google Shape;609;p24"/>
          <p:cNvSpPr txBox="1"/>
          <p:nvPr/>
        </p:nvSpPr>
        <p:spPr>
          <a:xfrm>
            <a:off x="3830575" y="1238843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38" name="Google Shape;610;p24"/>
          <p:cNvSpPr txBox="1"/>
          <p:nvPr/>
        </p:nvSpPr>
        <p:spPr>
          <a:xfrm>
            <a:off x="405308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39" name="Google Shape;611;p24"/>
          <p:cNvSpPr txBox="1"/>
          <p:nvPr/>
        </p:nvSpPr>
        <p:spPr>
          <a:xfrm>
            <a:off x="426863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40" name="Google Shape;612;p24"/>
          <p:cNvSpPr txBox="1"/>
          <p:nvPr/>
        </p:nvSpPr>
        <p:spPr>
          <a:xfrm>
            <a:off x="4487662" y="1238849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41" name="Google Shape;613;p24"/>
          <p:cNvSpPr txBox="1"/>
          <p:nvPr/>
        </p:nvSpPr>
        <p:spPr>
          <a:xfrm>
            <a:off x="4706713" y="1243936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646" name="Google Shape;640;p24"/>
          <p:cNvGrpSpPr/>
          <p:nvPr/>
        </p:nvGrpSpPr>
        <p:grpSpPr>
          <a:xfrm>
            <a:off x="353225" y="4944834"/>
            <a:ext cx="2346525" cy="167513"/>
            <a:chOff x="0" y="0"/>
            <a:chExt cx="2346523" cy="167512"/>
          </a:xfrm>
        </p:grpSpPr>
        <p:sp>
          <p:nvSpPr>
            <p:cNvPr id="642" name="Google Shape;641;p24"/>
            <p:cNvSpPr txBox="1"/>
            <p:nvPr/>
          </p:nvSpPr>
          <p:spPr>
            <a:xfrm>
              <a:off x="138524" y="1450"/>
              <a:ext cx="857400" cy="144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Atscale assessment</a:t>
              </a:r>
            </a:p>
          </p:txBody>
        </p:sp>
        <p:sp>
          <p:nvSpPr>
            <p:cNvPr id="643" name="Google Shape;642;p24"/>
            <p:cNvSpPr txBox="1"/>
            <p:nvPr/>
          </p:nvSpPr>
          <p:spPr>
            <a:xfrm>
              <a:off x="1175924" y="0"/>
              <a:ext cx="1170600" cy="14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[CLIENT] self-assessment</a:t>
              </a:r>
            </a:p>
          </p:txBody>
        </p:sp>
        <p:sp>
          <p:nvSpPr>
            <p:cNvPr id="644" name="Google Shape;643;p24"/>
            <p:cNvSpPr/>
            <p:nvPr/>
          </p:nvSpPr>
          <p:spPr>
            <a:xfrm>
              <a:off x="1054074" y="59512"/>
              <a:ext cx="108001" cy="108001"/>
            </a:xfrm>
            <a:prstGeom prst="ellipse">
              <a:avLst/>
            </a:prstGeom>
            <a:solidFill>
              <a:srgbClr val="DDC7C7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  <p:sp>
          <p:nvSpPr>
            <p:cNvPr id="645" name="Google Shape;644;p24"/>
            <p:cNvSpPr/>
            <p:nvPr/>
          </p:nvSpPr>
          <p:spPr>
            <a:xfrm>
              <a:off x="0" y="59512"/>
              <a:ext cx="108000" cy="108001"/>
            </a:xfrm>
            <a:prstGeom prst="ellipse">
              <a:avLst/>
            </a:prstGeom>
            <a:solidFill>
              <a:srgbClr val="BDD3F3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</p:grpSp>
      <p:sp>
        <p:nvSpPr>
          <p:cNvPr id="647" name="Google Shape;645;p24"/>
          <p:cNvSpPr/>
          <p:nvPr/>
        </p:nvSpPr>
        <p:spPr>
          <a:xfrm>
            <a:off x="4978200" y="2194549"/>
            <a:ext cx="3950100" cy="4851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648" name="Google Shape;646;p24"/>
          <p:cNvSpPr/>
          <p:nvPr/>
        </p:nvSpPr>
        <p:spPr>
          <a:xfrm>
            <a:off x="4971800" y="3758800"/>
            <a:ext cx="3950101" cy="2712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649" name="Google Shape;647;p24"/>
          <p:cNvSpPr/>
          <p:nvPr/>
        </p:nvSpPr>
        <p:spPr>
          <a:xfrm>
            <a:off x="4978200" y="1709738"/>
            <a:ext cx="3950100" cy="2712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650" name="Google Shape;648;p24"/>
          <p:cNvSpPr/>
          <p:nvPr/>
        </p:nvSpPr>
        <p:spPr>
          <a:xfrm>
            <a:off x="4978200" y="2949474"/>
            <a:ext cx="3950100" cy="27120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4;p25"/>
          <p:cNvSpPr/>
          <p:nvPr/>
        </p:nvSpPr>
        <p:spPr>
          <a:xfrm rot="5400000">
            <a:off x="3031224" y="2969639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B6D7A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653" name="Google Shape;655;p25"/>
          <p:cNvSpPr/>
          <p:nvPr/>
        </p:nvSpPr>
        <p:spPr>
          <a:xfrm rot="16200000">
            <a:off x="2155074" y="2969608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EBC5D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654" name="Google Shape;656;p25"/>
          <p:cNvSpPr/>
          <p:nvPr/>
        </p:nvSpPr>
        <p:spPr>
          <a:xfrm>
            <a:off x="4049600" y="1294139"/>
            <a:ext cx="219301" cy="3571800"/>
          </a:xfrm>
          <a:prstGeom prst="rect">
            <a:avLst/>
          </a:prstGeom>
          <a:solidFill>
            <a:srgbClr val="FCE5CD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655" name="Google Shape;657;p25"/>
          <p:cNvSpPr/>
          <p:nvPr/>
        </p:nvSpPr>
        <p:spPr>
          <a:xfrm>
            <a:off x="4268637" y="1294139"/>
            <a:ext cx="219301" cy="3571800"/>
          </a:xfrm>
          <a:prstGeom prst="rect">
            <a:avLst/>
          </a:prstGeom>
          <a:solidFill>
            <a:srgbClr val="FFF2CC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656" name="Google Shape;658;p25"/>
          <p:cNvSpPr/>
          <p:nvPr/>
        </p:nvSpPr>
        <p:spPr>
          <a:xfrm>
            <a:off x="4487674" y="1294139"/>
            <a:ext cx="219301" cy="3571800"/>
          </a:xfrm>
          <a:prstGeom prst="rect">
            <a:avLst/>
          </a:prstGeom>
          <a:solidFill>
            <a:srgbClr val="D9EAD3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657" name="Google Shape;659;p25"/>
          <p:cNvSpPr txBox="1"/>
          <p:nvPr>
            <p:ph type="ctrTitle"/>
          </p:nvPr>
        </p:nvSpPr>
        <p:spPr>
          <a:xfrm>
            <a:off x="483599" y="750299"/>
            <a:ext cx="2606401" cy="418501"/>
          </a:xfrm>
          <a:prstGeom prst="rect">
            <a:avLst/>
          </a:prstGeom>
        </p:spPr>
        <p:txBody>
          <a:bodyPr/>
          <a:lstStyle>
            <a:lvl1pPr algn="l" defTabSz="768095">
              <a:defRPr sz="1512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Talent Management : </a:t>
            </a:r>
          </a:p>
        </p:txBody>
      </p:sp>
      <p:pic>
        <p:nvPicPr>
          <p:cNvPr id="658" name="Logo_atscale_sans texture.pngGoogle Shape;660;p25" descr="Logo_atscale_sans texture.pngGoogle Shape;660;p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659" name="Google Shape;661;p25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0" name="Google Shape;662;p25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Synthesis</a:t>
            </a:r>
          </a:p>
        </p:txBody>
      </p:sp>
      <p:pic>
        <p:nvPicPr>
          <p:cNvPr id="661" name="Google Shape;663;p25" descr="Google Shape;663;p2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85575" y="823977"/>
            <a:ext cx="908957" cy="271129"/>
          </a:xfrm>
          <a:prstGeom prst="rect">
            <a:avLst/>
          </a:prstGeom>
          <a:ln w="12700">
            <a:miter lim="400000"/>
          </a:ln>
        </p:spPr>
      </p:pic>
      <p:sp>
        <p:nvSpPr>
          <p:cNvPr id="662" name="Google Shape;664;p25"/>
          <p:cNvSpPr txBox="1"/>
          <p:nvPr/>
        </p:nvSpPr>
        <p:spPr>
          <a:xfrm>
            <a:off x="7862731" y="823675"/>
            <a:ext cx="8118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[CLIENT] Grade :  </a:t>
            </a:r>
          </a:p>
        </p:txBody>
      </p:sp>
      <p:grpSp>
        <p:nvGrpSpPr>
          <p:cNvPr id="665" name="Google Shape;665;p25"/>
          <p:cNvGrpSpPr/>
          <p:nvPr/>
        </p:nvGrpSpPr>
        <p:grpSpPr>
          <a:xfrm>
            <a:off x="483599" y="1545600"/>
            <a:ext cx="1095301" cy="573301"/>
            <a:chOff x="0" y="0"/>
            <a:chExt cx="1095300" cy="573299"/>
          </a:xfrm>
        </p:grpSpPr>
        <p:sp>
          <p:nvSpPr>
            <p:cNvPr id="663" name="Rectangle aux angles arrondis"/>
            <p:cNvSpPr/>
            <p:nvPr/>
          </p:nvSpPr>
          <p:spPr>
            <a:xfrm>
              <a:off x="0" y="0"/>
              <a:ext cx="1095301" cy="57330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664" name="Org Structure"/>
            <p:cNvSpPr txBox="1"/>
            <p:nvPr/>
          </p:nvSpPr>
          <p:spPr>
            <a:xfrm>
              <a:off x="27985" y="144425"/>
              <a:ext cx="1039330" cy="284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Org Structure</a:t>
              </a:r>
            </a:p>
          </p:txBody>
        </p:sp>
      </p:grpSp>
      <p:sp>
        <p:nvSpPr>
          <p:cNvPr id="666" name="Google Shape;666;p25"/>
          <p:cNvSpPr txBox="1"/>
          <p:nvPr/>
        </p:nvSpPr>
        <p:spPr>
          <a:xfrm flipH="1" rot="10800000">
            <a:off x="1655099" y="155331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Latest organizational update</a:t>
            </a:r>
          </a:p>
        </p:txBody>
      </p:sp>
      <p:sp>
        <p:nvSpPr>
          <p:cNvPr id="667" name="Google Shape;667;p25"/>
          <p:cNvSpPr txBox="1"/>
          <p:nvPr/>
        </p:nvSpPr>
        <p:spPr>
          <a:xfrm flipH="1" rot="10800000">
            <a:off x="1655099" y="169508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Easiness of organizational change</a:t>
            </a:r>
          </a:p>
        </p:txBody>
      </p:sp>
      <p:sp>
        <p:nvSpPr>
          <p:cNvPr id="668" name="Google Shape;668;p25"/>
          <p:cNvSpPr/>
          <p:nvPr/>
        </p:nvSpPr>
        <p:spPr>
          <a:xfrm>
            <a:off x="499028" y="2154750"/>
            <a:ext cx="44115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9" name="Google Shape;669;p25"/>
          <p:cNvSpPr/>
          <p:nvPr/>
        </p:nvSpPr>
        <p:spPr>
          <a:xfrm>
            <a:off x="4325111" y="156676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70" name="Google Shape;670;p25"/>
          <p:cNvSpPr/>
          <p:nvPr/>
        </p:nvSpPr>
        <p:spPr>
          <a:xfrm>
            <a:off x="4325111" y="156676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671" name="Google Shape;671;p25"/>
          <p:cNvSpPr/>
          <p:nvPr/>
        </p:nvSpPr>
        <p:spPr>
          <a:xfrm>
            <a:off x="499032" y="1496135"/>
            <a:ext cx="8266802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72" name="Google Shape;672;p25"/>
          <p:cNvSpPr txBox="1"/>
          <p:nvPr/>
        </p:nvSpPr>
        <p:spPr>
          <a:xfrm>
            <a:off x="1655099" y="1195492"/>
            <a:ext cx="21756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Assessment vs. best in class</a:t>
            </a:r>
          </a:p>
        </p:txBody>
      </p:sp>
      <p:sp>
        <p:nvSpPr>
          <p:cNvPr id="673" name="Google Shape;673;p25"/>
          <p:cNvSpPr txBox="1"/>
          <p:nvPr/>
        </p:nvSpPr>
        <p:spPr>
          <a:xfrm>
            <a:off x="4925750" y="1195474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674" name="Google Shape;674;p25"/>
          <p:cNvSpPr txBox="1"/>
          <p:nvPr/>
        </p:nvSpPr>
        <p:spPr>
          <a:xfrm>
            <a:off x="6957600" y="1195493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Initiatives recommended</a:t>
            </a:r>
          </a:p>
        </p:txBody>
      </p:sp>
      <p:sp>
        <p:nvSpPr>
          <p:cNvPr id="675" name="Google Shape;675;p25"/>
          <p:cNvSpPr/>
          <p:nvPr/>
        </p:nvSpPr>
        <p:spPr>
          <a:xfrm>
            <a:off x="4325111" y="170963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grpSp>
        <p:nvGrpSpPr>
          <p:cNvPr id="678" name="Google Shape;676;p25"/>
          <p:cNvGrpSpPr/>
          <p:nvPr/>
        </p:nvGrpSpPr>
        <p:grpSpPr>
          <a:xfrm>
            <a:off x="499025" y="2168150"/>
            <a:ext cx="1095301" cy="532100"/>
            <a:chOff x="0" y="0"/>
            <a:chExt cx="1095300" cy="532099"/>
          </a:xfrm>
        </p:grpSpPr>
        <p:sp>
          <p:nvSpPr>
            <p:cNvPr id="676" name="Rectangle aux angles arrondis"/>
            <p:cNvSpPr/>
            <p:nvPr/>
          </p:nvSpPr>
          <p:spPr>
            <a:xfrm>
              <a:off x="0" y="22450"/>
              <a:ext cx="1095301" cy="4872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677" name="Career Path and Competency Framework"/>
            <p:cNvSpPr txBox="1"/>
            <p:nvPr/>
          </p:nvSpPr>
          <p:spPr>
            <a:xfrm>
              <a:off x="8545" y="0"/>
              <a:ext cx="1078210" cy="532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Career Path and Competency Framework</a:t>
              </a:r>
            </a:p>
          </p:txBody>
        </p:sp>
      </p:grpSp>
      <p:sp>
        <p:nvSpPr>
          <p:cNvPr id="679" name="Google Shape;677;p25"/>
          <p:cNvSpPr txBox="1"/>
          <p:nvPr/>
        </p:nvSpPr>
        <p:spPr>
          <a:xfrm flipH="1" rot="10800000">
            <a:off x="1655099" y="183659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Clarity of process of organizational change</a:t>
            </a:r>
          </a:p>
        </p:txBody>
      </p:sp>
      <p:sp>
        <p:nvSpPr>
          <p:cNvPr id="680" name="Google Shape;678;p25"/>
          <p:cNvSpPr txBox="1"/>
          <p:nvPr/>
        </p:nvSpPr>
        <p:spPr>
          <a:xfrm flipH="1" rot="10800000">
            <a:off x="1655099" y="197266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Prescriptor for organizational change</a:t>
            </a:r>
          </a:p>
        </p:txBody>
      </p:sp>
      <p:sp>
        <p:nvSpPr>
          <p:cNvPr id="681" name="Google Shape;679;p25"/>
          <p:cNvSpPr txBox="1"/>
          <p:nvPr/>
        </p:nvSpPr>
        <p:spPr>
          <a:xfrm flipH="1" rot="10800000">
            <a:off x="1655099" y="220173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Robustness of Career Path</a:t>
            </a:r>
          </a:p>
        </p:txBody>
      </p:sp>
      <p:sp>
        <p:nvSpPr>
          <p:cNvPr id="682" name="Google Shape;680;p25"/>
          <p:cNvSpPr txBox="1"/>
          <p:nvPr/>
        </p:nvSpPr>
        <p:spPr>
          <a:xfrm flipH="1" rot="10800000">
            <a:off x="1655099" y="235794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Robustness of Competency framework</a:t>
            </a:r>
          </a:p>
        </p:txBody>
      </p:sp>
      <p:sp>
        <p:nvSpPr>
          <p:cNvPr id="683" name="Google Shape;681;p25"/>
          <p:cNvSpPr txBox="1"/>
          <p:nvPr/>
        </p:nvSpPr>
        <p:spPr>
          <a:xfrm flipH="1" rot="10800000">
            <a:off x="1655099" y="251986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Applying Competency Framework to Performance reviews</a:t>
            </a:r>
          </a:p>
        </p:txBody>
      </p:sp>
      <p:sp>
        <p:nvSpPr>
          <p:cNvPr id="684" name="Google Shape;682;p25"/>
          <p:cNvSpPr txBox="1"/>
          <p:nvPr/>
        </p:nvSpPr>
        <p:spPr>
          <a:xfrm flipH="1" rot="10800000">
            <a:off x="1655099" y="279693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Perception of Performance Review Process</a:t>
            </a:r>
          </a:p>
        </p:txBody>
      </p:sp>
      <p:sp>
        <p:nvSpPr>
          <p:cNvPr id="685" name="Google Shape;683;p25"/>
          <p:cNvSpPr txBox="1"/>
          <p:nvPr/>
        </p:nvSpPr>
        <p:spPr>
          <a:xfrm flipH="1" rot="10800000">
            <a:off x="1655099" y="296557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Homogeneity Performance Review Process</a:t>
            </a:r>
          </a:p>
        </p:txBody>
      </p:sp>
      <p:sp>
        <p:nvSpPr>
          <p:cNvPr id="686" name="Google Shape;684;p25"/>
          <p:cNvSpPr txBox="1"/>
          <p:nvPr/>
        </p:nvSpPr>
        <p:spPr>
          <a:xfrm flipH="1" rot="10800000">
            <a:off x="1655099" y="312849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Link between Performance Reviews &amp; Compensation</a:t>
            </a:r>
          </a:p>
        </p:txBody>
      </p:sp>
      <p:sp>
        <p:nvSpPr>
          <p:cNvPr id="687" name="Google Shape;685;p25"/>
          <p:cNvSpPr/>
          <p:nvPr/>
        </p:nvSpPr>
        <p:spPr>
          <a:xfrm>
            <a:off x="514396" y="2726525"/>
            <a:ext cx="4411502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690" name="Google Shape;686;p25"/>
          <p:cNvGrpSpPr/>
          <p:nvPr/>
        </p:nvGrpSpPr>
        <p:grpSpPr>
          <a:xfrm>
            <a:off x="499025" y="2769175"/>
            <a:ext cx="1095301" cy="1259101"/>
            <a:chOff x="0" y="0"/>
            <a:chExt cx="1095300" cy="1259099"/>
          </a:xfrm>
        </p:grpSpPr>
        <p:sp>
          <p:nvSpPr>
            <p:cNvPr id="688" name="Rectangle aux angles arrondis"/>
            <p:cNvSpPr/>
            <p:nvPr/>
          </p:nvSpPr>
          <p:spPr>
            <a:xfrm>
              <a:off x="0" y="0"/>
              <a:ext cx="1095301" cy="1259100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689" name="Employee Engagement"/>
            <p:cNvSpPr txBox="1"/>
            <p:nvPr/>
          </p:nvSpPr>
          <p:spPr>
            <a:xfrm>
              <a:off x="19212" y="425412"/>
              <a:ext cx="1056876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Employee Engagement</a:t>
              </a:r>
            </a:p>
          </p:txBody>
        </p:sp>
      </p:grpSp>
      <p:sp>
        <p:nvSpPr>
          <p:cNvPr id="691" name="Google Shape;687;p25"/>
          <p:cNvSpPr txBox="1"/>
          <p:nvPr/>
        </p:nvSpPr>
        <p:spPr>
          <a:xfrm flipH="1" rot="10800000">
            <a:off x="1662813" y="328787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Perform and Develop mindset</a:t>
            </a:r>
          </a:p>
        </p:txBody>
      </p:sp>
      <p:sp>
        <p:nvSpPr>
          <p:cNvPr id="692" name="Google Shape;688;p25"/>
          <p:cNvSpPr txBox="1"/>
          <p:nvPr/>
        </p:nvSpPr>
        <p:spPr>
          <a:xfrm flipH="1" rot="10800000">
            <a:off x="1662813" y="343737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360 performance reviews</a:t>
            </a:r>
          </a:p>
        </p:txBody>
      </p:sp>
      <p:sp>
        <p:nvSpPr>
          <p:cNvPr id="693" name="Google Shape;689;p25"/>
          <p:cNvSpPr txBox="1"/>
          <p:nvPr/>
        </p:nvSpPr>
        <p:spPr>
          <a:xfrm flipH="1" rot="10800000">
            <a:off x="1662813" y="357914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Individual Development Plans</a:t>
            </a:r>
          </a:p>
        </p:txBody>
      </p:sp>
      <p:sp>
        <p:nvSpPr>
          <p:cNvPr id="694" name="Google Shape;690;p25"/>
          <p:cNvSpPr/>
          <p:nvPr/>
        </p:nvSpPr>
        <p:spPr>
          <a:xfrm>
            <a:off x="499028" y="4076700"/>
            <a:ext cx="4411501" cy="0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697" name="Google Shape;691;p25"/>
          <p:cNvGrpSpPr/>
          <p:nvPr/>
        </p:nvGrpSpPr>
        <p:grpSpPr>
          <a:xfrm>
            <a:off x="483599" y="4124774"/>
            <a:ext cx="1095301" cy="741301"/>
            <a:chOff x="0" y="0"/>
            <a:chExt cx="1095300" cy="741300"/>
          </a:xfrm>
        </p:grpSpPr>
        <p:sp>
          <p:nvSpPr>
            <p:cNvPr id="695" name="Rectangle aux angles arrondis"/>
            <p:cNvSpPr/>
            <p:nvPr/>
          </p:nvSpPr>
          <p:spPr>
            <a:xfrm>
              <a:off x="0" y="0"/>
              <a:ext cx="1095301" cy="7413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696" name="Manager Academy"/>
            <p:cNvSpPr txBox="1"/>
            <p:nvPr/>
          </p:nvSpPr>
          <p:spPr>
            <a:xfrm>
              <a:off x="13002" y="228425"/>
              <a:ext cx="1069296" cy="284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Manager Academy</a:t>
              </a:r>
            </a:p>
          </p:txBody>
        </p:sp>
      </p:grpSp>
      <p:sp>
        <p:nvSpPr>
          <p:cNvPr id="698" name="Google Shape;692;p25"/>
          <p:cNvSpPr txBox="1"/>
          <p:nvPr/>
        </p:nvSpPr>
        <p:spPr>
          <a:xfrm flipH="1" rot="10800000">
            <a:off x="1662813" y="4147746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Maturity in Management Trainings</a:t>
            </a:r>
          </a:p>
        </p:txBody>
      </p:sp>
      <p:sp>
        <p:nvSpPr>
          <p:cNvPr id="699" name="Google Shape;693;p25"/>
          <p:cNvSpPr txBox="1"/>
          <p:nvPr/>
        </p:nvSpPr>
        <p:spPr>
          <a:xfrm flipH="1" rot="10800000">
            <a:off x="1662813" y="429052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Onboarding of First-Time Managers</a:t>
            </a:r>
          </a:p>
        </p:txBody>
      </p:sp>
      <p:sp>
        <p:nvSpPr>
          <p:cNvPr id="700" name="Google Shape;694;p25"/>
          <p:cNvSpPr txBox="1"/>
          <p:nvPr/>
        </p:nvSpPr>
        <p:spPr>
          <a:xfrm flipH="1" rot="10800000">
            <a:off x="1662813" y="443230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Curriculum Design for Managers </a:t>
            </a:r>
          </a:p>
        </p:txBody>
      </p:sp>
      <p:sp>
        <p:nvSpPr>
          <p:cNvPr id="701" name="Google Shape;695;p25"/>
          <p:cNvSpPr txBox="1"/>
          <p:nvPr/>
        </p:nvSpPr>
        <p:spPr>
          <a:xfrm flipH="1" rot="10800000">
            <a:off x="1662813" y="457679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Curriculum per Management Level</a:t>
            </a:r>
          </a:p>
        </p:txBody>
      </p:sp>
      <p:sp>
        <p:nvSpPr>
          <p:cNvPr id="702" name="Google Shape;696;p25"/>
          <p:cNvSpPr txBox="1"/>
          <p:nvPr/>
        </p:nvSpPr>
        <p:spPr>
          <a:xfrm flipH="1" rot="10800000">
            <a:off x="1655212" y="473059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Measurement of Impact of Management Trainings </a:t>
            </a:r>
          </a:p>
        </p:txBody>
      </p:sp>
      <p:sp>
        <p:nvSpPr>
          <p:cNvPr id="703" name="Google Shape;697;p25"/>
          <p:cNvSpPr/>
          <p:nvPr/>
        </p:nvSpPr>
        <p:spPr>
          <a:xfrm>
            <a:off x="4325111" y="170964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04" name="Google Shape;698;p25"/>
          <p:cNvSpPr/>
          <p:nvPr/>
        </p:nvSpPr>
        <p:spPr>
          <a:xfrm>
            <a:off x="4325111" y="184824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05" name="Google Shape;699;p25"/>
          <p:cNvSpPr/>
          <p:nvPr/>
        </p:nvSpPr>
        <p:spPr>
          <a:xfrm>
            <a:off x="4325111" y="198086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06" name="Google Shape;700;p25"/>
          <p:cNvSpPr/>
          <p:nvPr/>
        </p:nvSpPr>
        <p:spPr>
          <a:xfrm>
            <a:off x="4325111" y="2172456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07" name="Google Shape;701;p25"/>
          <p:cNvSpPr/>
          <p:nvPr/>
        </p:nvSpPr>
        <p:spPr>
          <a:xfrm>
            <a:off x="4325111" y="237271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08" name="Google Shape;702;p25"/>
          <p:cNvSpPr/>
          <p:nvPr/>
        </p:nvSpPr>
        <p:spPr>
          <a:xfrm>
            <a:off x="4325111" y="252986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09" name="Google Shape;703;p25"/>
          <p:cNvSpPr/>
          <p:nvPr/>
        </p:nvSpPr>
        <p:spPr>
          <a:xfrm>
            <a:off x="4325111" y="281220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10" name="Google Shape;704;p25"/>
          <p:cNvSpPr/>
          <p:nvPr/>
        </p:nvSpPr>
        <p:spPr>
          <a:xfrm>
            <a:off x="4325111" y="2970426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11" name="Google Shape;705;p25"/>
          <p:cNvSpPr/>
          <p:nvPr/>
        </p:nvSpPr>
        <p:spPr>
          <a:xfrm>
            <a:off x="4325111" y="313750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12" name="Google Shape;706;p25"/>
          <p:cNvSpPr/>
          <p:nvPr/>
        </p:nvSpPr>
        <p:spPr>
          <a:xfrm>
            <a:off x="4325111" y="329682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13" name="Google Shape;707;p25"/>
          <p:cNvSpPr/>
          <p:nvPr/>
        </p:nvSpPr>
        <p:spPr>
          <a:xfrm>
            <a:off x="4325111" y="344984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14" name="Google Shape;708;p25"/>
          <p:cNvSpPr/>
          <p:nvPr/>
        </p:nvSpPr>
        <p:spPr>
          <a:xfrm>
            <a:off x="4325111" y="359034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15" name="Google Shape;709;p25"/>
          <p:cNvSpPr/>
          <p:nvPr/>
        </p:nvSpPr>
        <p:spPr>
          <a:xfrm>
            <a:off x="4325111" y="372800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16" name="Google Shape;710;p25"/>
          <p:cNvSpPr/>
          <p:nvPr/>
        </p:nvSpPr>
        <p:spPr>
          <a:xfrm>
            <a:off x="4325111" y="388176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17" name="Google Shape;711;p25"/>
          <p:cNvSpPr/>
          <p:nvPr/>
        </p:nvSpPr>
        <p:spPr>
          <a:xfrm>
            <a:off x="4325111" y="415579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18" name="Google Shape;712;p25"/>
          <p:cNvSpPr/>
          <p:nvPr/>
        </p:nvSpPr>
        <p:spPr>
          <a:xfrm>
            <a:off x="4325111" y="429631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19" name="Google Shape;713;p25"/>
          <p:cNvSpPr/>
          <p:nvPr/>
        </p:nvSpPr>
        <p:spPr>
          <a:xfrm>
            <a:off x="4325111" y="184825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20" name="Google Shape;714;p25"/>
          <p:cNvSpPr/>
          <p:nvPr/>
        </p:nvSpPr>
        <p:spPr>
          <a:xfrm>
            <a:off x="4325111" y="217246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21" name="Google Shape;715;p25"/>
          <p:cNvSpPr/>
          <p:nvPr/>
        </p:nvSpPr>
        <p:spPr>
          <a:xfrm>
            <a:off x="4325111" y="237271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22" name="Google Shape;716;p25"/>
          <p:cNvSpPr/>
          <p:nvPr/>
        </p:nvSpPr>
        <p:spPr>
          <a:xfrm>
            <a:off x="4325111" y="252987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23" name="Google Shape;717;p25"/>
          <p:cNvSpPr/>
          <p:nvPr/>
        </p:nvSpPr>
        <p:spPr>
          <a:xfrm>
            <a:off x="4325111" y="2834764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24" name="Google Shape;718;p25"/>
          <p:cNvSpPr/>
          <p:nvPr/>
        </p:nvSpPr>
        <p:spPr>
          <a:xfrm>
            <a:off x="4325111" y="297388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25" name="Google Shape;719;p25"/>
          <p:cNvSpPr/>
          <p:nvPr/>
        </p:nvSpPr>
        <p:spPr>
          <a:xfrm>
            <a:off x="4325111" y="313363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26" name="Google Shape;720;p25"/>
          <p:cNvSpPr/>
          <p:nvPr/>
        </p:nvSpPr>
        <p:spPr>
          <a:xfrm>
            <a:off x="4325111" y="329683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27" name="Google Shape;721;p25"/>
          <p:cNvSpPr/>
          <p:nvPr/>
        </p:nvSpPr>
        <p:spPr>
          <a:xfrm>
            <a:off x="4325111" y="344985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28" name="Google Shape;722;p25"/>
          <p:cNvSpPr/>
          <p:nvPr/>
        </p:nvSpPr>
        <p:spPr>
          <a:xfrm>
            <a:off x="4325111" y="359035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29" name="Google Shape;723;p25"/>
          <p:cNvSpPr/>
          <p:nvPr/>
        </p:nvSpPr>
        <p:spPr>
          <a:xfrm>
            <a:off x="4325111" y="375886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30" name="Google Shape;724;p25"/>
          <p:cNvSpPr/>
          <p:nvPr/>
        </p:nvSpPr>
        <p:spPr>
          <a:xfrm>
            <a:off x="4325111" y="388322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31" name="Google Shape;725;p25"/>
          <p:cNvSpPr txBox="1"/>
          <p:nvPr/>
        </p:nvSpPr>
        <p:spPr>
          <a:xfrm flipH="1" rot="10800000">
            <a:off x="1655224" y="3720328"/>
            <a:ext cx="19665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Measure of Employees' Engagement</a:t>
            </a:r>
          </a:p>
        </p:txBody>
      </p:sp>
      <p:sp>
        <p:nvSpPr>
          <p:cNvPr id="732" name="Google Shape;726;p25"/>
          <p:cNvSpPr/>
          <p:nvPr/>
        </p:nvSpPr>
        <p:spPr>
          <a:xfrm>
            <a:off x="4325111" y="4132519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33" name="Google Shape;727;p25"/>
          <p:cNvSpPr/>
          <p:nvPr/>
        </p:nvSpPr>
        <p:spPr>
          <a:xfrm>
            <a:off x="4325111" y="429635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34" name="Google Shape;728;p25"/>
          <p:cNvSpPr txBox="1"/>
          <p:nvPr/>
        </p:nvSpPr>
        <p:spPr>
          <a:xfrm flipH="1" rot="10800000">
            <a:off x="1656613" y="3874493"/>
            <a:ext cx="1902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Maturity in Future of work</a:t>
            </a:r>
          </a:p>
        </p:txBody>
      </p:sp>
      <p:sp>
        <p:nvSpPr>
          <p:cNvPr id="735" name="Google Shape;729;p25"/>
          <p:cNvSpPr/>
          <p:nvPr/>
        </p:nvSpPr>
        <p:spPr>
          <a:xfrm>
            <a:off x="4325111" y="444315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36" name="Google Shape;730;p25"/>
          <p:cNvSpPr/>
          <p:nvPr/>
        </p:nvSpPr>
        <p:spPr>
          <a:xfrm>
            <a:off x="4325111" y="458655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37" name="Google Shape;731;p25"/>
          <p:cNvSpPr/>
          <p:nvPr/>
        </p:nvSpPr>
        <p:spPr>
          <a:xfrm>
            <a:off x="4325111" y="473615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38" name="Google Shape;732;p25"/>
          <p:cNvSpPr/>
          <p:nvPr/>
        </p:nvSpPr>
        <p:spPr>
          <a:xfrm>
            <a:off x="4325111" y="4588824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39" name="Google Shape;733;p25"/>
          <p:cNvSpPr/>
          <p:nvPr/>
        </p:nvSpPr>
        <p:spPr>
          <a:xfrm>
            <a:off x="4325111" y="473735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40" name="Google Shape;734;p25"/>
          <p:cNvSpPr/>
          <p:nvPr/>
        </p:nvSpPr>
        <p:spPr>
          <a:xfrm>
            <a:off x="4325111" y="444028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41" name="Google Shape;735;p25"/>
          <p:cNvSpPr txBox="1"/>
          <p:nvPr/>
        </p:nvSpPr>
        <p:spPr>
          <a:xfrm>
            <a:off x="2876781" y="741008"/>
            <a:ext cx="3030602" cy="41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768095">
              <a:defRPr b="1" sz="1512">
                <a:solidFill>
                  <a:srgbClr val="FF990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742" name="Google Shape;736;p25"/>
          <p:cNvSpPr txBox="1"/>
          <p:nvPr/>
        </p:nvSpPr>
        <p:spPr>
          <a:xfrm>
            <a:off x="8453587" y="792474"/>
            <a:ext cx="335401" cy="30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b="1" sz="6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743" name="Google Shape;737;p25"/>
          <p:cNvSpPr txBox="1"/>
          <p:nvPr/>
        </p:nvSpPr>
        <p:spPr>
          <a:xfrm>
            <a:off x="3830575" y="1238843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44" name="Google Shape;738;p25"/>
          <p:cNvSpPr txBox="1"/>
          <p:nvPr/>
        </p:nvSpPr>
        <p:spPr>
          <a:xfrm>
            <a:off x="405308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45" name="Google Shape;739;p25"/>
          <p:cNvSpPr txBox="1"/>
          <p:nvPr/>
        </p:nvSpPr>
        <p:spPr>
          <a:xfrm>
            <a:off x="426863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46" name="Google Shape;740;p25"/>
          <p:cNvSpPr txBox="1"/>
          <p:nvPr/>
        </p:nvSpPr>
        <p:spPr>
          <a:xfrm>
            <a:off x="4487662" y="1238849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47" name="Google Shape;741;p25"/>
          <p:cNvSpPr txBox="1"/>
          <p:nvPr/>
        </p:nvSpPr>
        <p:spPr>
          <a:xfrm>
            <a:off x="4706713" y="1243936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752" name="Google Shape;770;p25"/>
          <p:cNvGrpSpPr/>
          <p:nvPr/>
        </p:nvGrpSpPr>
        <p:grpSpPr>
          <a:xfrm>
            <a:off x="353225" y="4944834"/>
            <a:ext cx="2346525" cy="167513"/>
            <a:chOff x="0" y="0"/>
            <a:chExt cx="2346523" cy="167512"/>
          </a:xfrm>
        </p:grpSpPr>
        <p:sp>
          <p:nvSpPr>
            <p:cNvPr id="748" name="Google Shape;771;p25"/>
            <p:cNvSpPr txBox="1"/>
            <p:nvPr/>
          </p:nvSpPr>
          <p:spPr>
            <a:xfrm>
              <a:off x="138524" y="1450"/>
              <a:ext cx="857400" cy="144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Atscale assessment</a:t>
              </a:r>
            </a:p>
          </p:txBody>
        </p:sp>
        <p:sp>
          <p:nvSpPr>
            <p:cNvPr id="749" name="Google Shape;772;p25"/>
            <p:cNvSpPr txBox="1"/>
            <p:nvPr/>
          </p:nvSpPr>
          <p:spPr>
            <a:xfrm>
              <a:off x="1175924" y="0"/>
              <a:ext cx="1170600" cy="14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[CLIENT] self-assessment</a:t>
              </a:r>
            </a:p>
          </p:txBody>
        </p:sp>
        <p:sp>
          <p:nvSpPr>
            <p:cNvPr id="750" name="Google Shape;773;p25"/>
            <p:cNvSpPr/>
            <p:nvPr/>
          </p:nvSpPr>
          <p:spPr>
            <a:xfrm>
              <a:off x="1054074" y="59512"/>
              <a:ext cx="108001" cy="108001"/>
            </a:xfrm>
            <a:prstGeom prst="ellipse">
              <a:avLst/>
            </a:prstGeom>
            <a:solidFill>
              <a:srgbClr val="DDC7C7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  <p:sp>
          <p:nvSpPr>
            <p:cNvPr id="751" name="Google Shape;774;p25"/>
            <p:cNvSpPr/>
            <p:nvPr/>
          </p:nvSpPr>
          <p:spPr>
            <a:xfrm>
              <a:off x="0" y="59512"/>
              <a:ext cx="108000" cy="108001"/>
            </a:xfrm>
            <a:prstGeom prst="ellipse">
              <a:avLst/>
            </a:prstGeom>
            <a:solidFill>
              <a:srgbClr val="BDD3F3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</p:grpSp>
      <p:sp>
        <p:nvSpPr>
          <p:cNvPr id="753" name="Google Shape;775;p25"/>
          <p:cNvSpPr/>
          <p:nvPr/>
        </p:nvSpPr>
        <p:spPr>
          <a:xfrm>
            <a:off x="4971799" y="1504849"/>
            <a:ext cx="3904202" cy="27120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754" name="Google Shape;776;p25"/>
          <p:cNvSpPr/>
          <p:nvPr/>
        </p:nvSpPr>
        <p:spPr>
          <a:xfrm>
            <a:off x="4971799" y="4138824"/>
            <a:ext cx="3904202" cy="238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755" name="Google Shape;777;p25"/>
          <p:cNvSpPr/>
          <p:nvPr/>
        </p:nvSpPr>
        <p:spPr>
          <a:xfrm>
            <a:off x="4971649" y="4425124"/>
            <a:ext cx="3904202" cy="1902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83;p26"/>
          <p:cNvSpPr/>
          <p:nvPr/>
        </p:nvSpPr>
        <p:spPr>
          <a:xfrm rot="5400000">
            <a:off x="3031224" y="2969639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B6D7A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758" name="Google Shape;784;p26"/>
          <p:cNvSpPr/>
          <p:nvPr/>
        </p:nvSpPr>
        <p:spPr>
          <a:xfrm rot="16200000">
            <a:off x="2155074" y="2969608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EBC5D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759" name="Google Shape;785;p26"/>
          <p:cNvSpPr/>
          <p:nvPr/>
        </p:nvSpPr>
        <p:spPr>
          <a:xfrm>
            <a:off x="4049600" y="1294139"/>
            <a:ext cx="219301" cy="3571800"/>
          </a:xfrm>
          <a:prstGeom prst="rect">
            <a:avLst/>
          </a:prstGeom>
          <a:solidFill>
            <a:srgbClr val="FCE5CD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760" name="Google Shape;786;p26"/>
          <p:cNvSpPr/>
          <p:nvPr/>
        </p:nvSpPr>
        <p:spPr>
          <a:xfrm>
            <a:off x="4268637" y="1294139"/>
            <a:ext cx="219301" cy="3571800"/>
          </a:xfrm>
          <a:prstGeom prst="rect">
            <a:avLst/>
          </a:prstGeom>
          <a:solidFill>
            <a:srgbClr val="FFF2CC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761" name="Google Shape;787;p26"/>
          <p:cNvSpPr/>
          <p:nvPr/>
        </p:nvSpPr>
        <p:spPr>
          <a:xfrm>
            <a:off x="4487674" y="1294139"/>
            <a:ext cx="219301" cy="3571800"/>
          </a:xfrm>
          <a:prstGeom prst="rect">
            <a:avLst/>
          </a:prstGeom>
          <a:solidFill>
            <a:srgbClr val="D9EAD3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762" name="Google Shape;788;p26"/>
          <p:cNvSpPr txBox="1"/>
          <p:nvPr>
            <p:ph type="ctrTitle"/>
          </p:nvPr>
        </p:nvSpPr>
        <p:spPr>
          <a:xfrm>
            <a:off x="483599" y="750299"/>
            <a:ext cx="3030602" cy="418501"/>
          </a:xfrm>
          <a:prstGeom prst="rect">
            <a:avLst/>
          </a:prstGeom>
        </p:spPr>
        <p:txBody>
          <a:bodyPr/>
          <a:lstStyle>
            <a:lvl1pPr algn="l" defTabSz="768095">
              <a:defRPr sz="1512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Demand Generation : </a:t>
            </a:r>
          </a:p>
        </p:txBody>
      </p:sp>
      <p:pic>
        <p:nvPicPr>
          <p:cNvPr id="763" name="Logo_atscale_sans texture.pngGoogle Shape;789;p26" descr="Logo_atscale_sans texture.pngGoogle Shape;789;p2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764" name="Google Shape;790;p26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65" name="Google Shape;791;p26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Synthesis</a:t>
            </a:r>
          </a:p>
        </p:txBody>
      </p:sp>
      <p:pic>
        <p:nvPicPr>
          <p:cNvPr id="766" name="Google Shape;792;p26" descr="Google Shape;792;p2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85575" y="823977"/>
            <a:ext cx="908957" cy="271129"/>
          </a:xfrm>
          <a:prstGeom prst="rect">
            <a:avLst/>
          </a:prstGeom>
          <a:ln w="12700">
            <a:miter lim="400000"/>
          </a:ln>
        </p:spPr>
      </p:pic>
      <p:sp>
        <p:nvSpPr>
          <p:cNvPr id="767" name="Google Shape;793;p26"/>
          <p:cNvSpPr txBox="1"/>
          <p:nvPr/>
        </p:nvSpPr>
        <p:spPr>
          <a:xfrm>
            <a:off x="7862731" y="823675"/>
            <a:ext cx="8118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[CLIENT] Grade : </a:t>
            </a:r>
          </a:p>
        </p:txBody>
      </p:sp>
      <p:grpSp>
        <p:nvGrpSpPr>
          <p:cNvPr id="770" name="Google Shape;794;p26"/>
          <p:cNvGrpSpPr/>
          <p:nvPr/>
        </p:nvGrpSpPr>
        <p:grpSpPr>
          <a:xfrm>
            <a:off x="483599" y="1545598"/>
            <a:ext cx="1095301" cy="612001"/>
            <a:chOff x="0" y="0"/>
            <a:chExt cx="1095300" cy="611999"/>
          </a:xfrm>
        </p:grpSpPr>
        <p:sp>
          <p:nvSpPr>
            <p:cNvPr id="768" name="Rectangle aux angles arrondis"/>
            <p:cNvSpPr/>
            <p:nvPr/>
          </p:nvSpPr>
          <p:spPr>
            <a:xfrm>
              <a:off x="0" y="0"/>
              <a:ext cx="1095301" cy="61200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769" name="Demand Generation Strategy"/>
            <p:cNvSpPr txBox="1"/>
            <p:nvPr/>
          </p:nvSpPr>
          <p:spPr>
            <a:xfrm>
              <a:off x="29875" y="101862"/>
              <a:ext cx="1035550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Demand Generation Strategy</a:t>
              </a:r>
            </a:p>
          </p:txBody>
        </p:sp>
      </p:grpSp>
      <p:sp>
        <p:nvSpPr>
          <p:cNvPr id="771" name="Google Shape;795;p26"/>
          <p:cNvSpPr txBox="1"/>
          <p:nvPr/>
        </p:nvSpPr>
        <p:spPr>
          <a:xfrm flipH="1" rot="10800000">
            <a:off x="1655099" y="156673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segmentation</a:t>
            </a:r>
          </a:p>
        </p:txBody>
      </p:sp>
      <p:sp>
        <p:nvSpPr>
          <p:cNvPr id="772" name="Google Shape;796;p26"/>
          <p:cNvSpPr txBox="1"/>
          <p:nvPr/>
        </p:nvSpPr>
        <p:spPr>
          <a:xfrm flipH="1" rot="10800000">
            <a:off x="1655099" y="172194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Dedicated demand generation budget</a:t>
            </a:r>
          </a:p>
        </p:txBody>
      </p:sp>
      <p:sp>
        <p:nvSpPr>
          <p:cNvPr id="773" name="Google Shape;797;p26"/>
          <p:cNvSpPr/>
          <p:nvPr/>
        </p:nvSpPr>
        <p:spPr>
          <a:xfrm>
            <a:off x="499029" y="2208475"/>
            <a:ext cx="44268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74" name="Google Shape;798;p26"/>
          <p:cNvSpPr/>
          <p:nvPr/>
        </p:nvSpPr>
        <p:spPr>
          <a:xfrm>
            <a:off x="4325111" y="156501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75" name="Google Shape;799;p26"/>
          <p:cNvSpPr/>
          <p:nvPr/>
        </p:nvSpPr>
        <p:spPr>
          <a:xfrm>
            <a:off x="4325111" y="155983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776" name="Google Shape;800;p26"/>
          <p:cNvSpPr/>
          <p:nvPr/>
        </p:nvSpPr>
        <p:spPr>
          <a:xfrm>
            <a:off x="499032" y="1496135"/>
            <a:ext cx="8266802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77" name="Google Shape;801;p26"/>
          <p:cNvSpPr txBox="1"/>
          <p:nvPr/>
        </p:nvSpPr>
        <p:spPr>
          <a:xfrm>
            <a:off x="1655099" y="1195492"/>
            <a:ext cx="21756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Assessment vs. best in class</a:t>
            </a:r>
          </a:p>
        </p:txBody>
      </p:sp>
      <p:sp>
        <p:nvSpPr>
          <p:cNvPr id="778" name="Google Shape;802;p26"/>
          <p:cNvSpPr txBox="1"/>
          <p:nvPr/>
        </p:nvSpPr>
        <p:spPr>
          <a:xfrm>
            <a:off x="4925750" y="1195474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779" name="Google Shape;803;p26"/>
          <p:cNvSpPr txBox="1"/>
          <p:nvPr/>
        </p:nvSpPr>
        <p:spPr>
          <a:xfrm>
            <a:off x="6957600" y="1195493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Initiatives recommended</a:t>
            </a:r>
          </a:p>
        </p:txBody>
      </p:sp>
      <p:grpSp>
        <p:nvGrpSpPr>
          <p:cNvPr id="782" name="Google Shape;804;p26"/>
          <p:cNvGrpSpPr/>
          <p:nvPr/>
        </p:nvGrpSpPr>
        <p:grpSpPr>
          <a:xfrm>
            <a:off x="492299" y="2259350"/>
            <a:ext cx="1095301" cy="571201"/>
            <a:chOff x="0" y="0"/>
            <a:chExt cx="1095300" cy="571200"/>
          </a:xfrm>
        </p:grpSpPr>
        <p:sp>
          <p:nvSpPr>
            <p:cNvPr id="780" name="Rectangle aux angles arrondis"/>
            <p:cNvSpPr/>
            <p:nvPr/>
          </p:nvSpPr>
          <p:spPr>
            <a:xfrm>
              <a:off x="0" y="0"/>
              <a:ext cx="1095301" cy="5712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781" name="Team Structure &amp; Individual Ownership"/>
            <p:cNvSpPr txBox="1"/>
            <p:nvPr/>
          </p:nvSpPr>
          <p:spPr>
            <a:xfrm>
              <a:off x="10019" y="81462"/>
              <a:ext cx="1075262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Team Structure &amp; Individual Ownership</a:t>
              </a:r>
            </a:p>
          </p:txBody>
        </p:sp>
      </p:grpSp>
      <p:sp>
        <p:nvSpPr>
          <p:cNvPr id="783" name="Google Shape;805;p26"/>
          <p:cNvSpPr txBox="1"/>
          <p:nvPr/>
        </p:nvSpPr>
        <p:spPr>
          <a:xfrm flipH="1" rot="10800000">
            <a:off x="1655249" y="187378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Brand awareness</a:t>
            </a:r>
          </a:p>
        </p:txBody>
      </p:sp>
      <p:sp>
        <p:nvSpPr>
          <p:cNvPr id="784" name="Google Shape;806;p26"/>
          <p:cNvSpPr txBox="1"/>
          <p:nvPr/>
        </p:nvSpPr>
        <p:spPr>
          <a:xfrm flipH="1" rot="10800000">
            <a:off x="1655249" y="201656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Competitive analysis</a:t>
            </a:r>
          </a:p>
        </p:txBody>
      </p:sp>
      <p:sp>
        <p:nvSpPr>
          <p:cNvPr id="785" name="Google Shape;807;p26"/>
          <p:cNvSpPr txBox="1"/>
          <p:nvPr/>
        </p:nvSpPr>
        <p:spPr>
          <a:xfrm flipH="1" rot="10800000">
            <a:off x="1654861" y="2266283"/>
            <a:ext cx="2175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Demand Generation Manager</a:t>
            </a:r>
          </a:p>
        </p:txBody>
      </p:sp>
      <p:sp>
        <p:nvSpPr>
          <p:cNvPr id="786" name="Google Shape;808;p26"/>
          <p:cNvSpPr txBox="1"/>
          <p:nvPr/>
        </p:nvSpPr>
        <p:spPr>
          <a:xfrm flipH="1" rot="10800000">
            <a:off x="1655099" y="240494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Hiring prioritisation</a:t>
            </a:r>
          </a:p>
        </p:txBody>
      </p:sp>
      <p:sp>
        <p:nvSpPr>
          <p:cNvPr id="787" name="Google Shape;809;p26"/>
          <p:cNvSpPr txBox="1"/>
          <p:nvPr/>
        </p:nvSpPr>
        <p:spPr>
          <a:xfrm flipH="1" rot="10800000">
            <a:off x="1655099" y="254672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Advanced KPI system</a:t>
            </a:r>
          </a:p>
        </p:txBody>
      </p:sp>
      <p:sp>
        <p:nvSpPr>
          <p:cNvPr id="788" name="Google Shape;810;p26"/>
          <p:cNvSpPr txBox="1"/>
          <p:nvPr/>
        </p:nvSpPr>
        <p:spPr>
          <a:xfrm flipH="1" rot="10800000">
            <a:off x="1655099" y="268950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Pods of specialist contributors</a:t>
            </a:r>
          </a:p>
        </p:txBody>
      </p:sp>
      <p:sp>
        <p:nvSpPr>
          <p:cNvPr id="789" name="Google Shape;811;p26"/>
          <p:cNvSpPr txBox="1"/>
          <p:nvPr/>
        </p:nvSpPr>
        <p:spPr>
          <a:xfrm flipH="1" rot="10800000">
            <a:off x="1655099" y="289171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Alignment</a:t>
            </a:r>
          </a:p>
        </p:txBody>
      </p:sp>
      <p:sp>
        <p:nvSpPr>
          <p:cNvPr id="790" name="Google Shape;812;p26"/>
          <p:cNvSpPr txBox="1"/>
          <p:nvPr/>
        </p:nvSpPr>
        <p:spPr>
          <a:xfrm flipH="1" rot="10800000">
            <a:off x="1655099" y="303449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enablement</a:t>
            </a:r>
          </a:p>
        </p:txBody>
      </p:sp>
      <p:sp>
        <p:nvSpPr>
          <p:cNvPr id="791" name="Google Shape;813;p26"/>
          <p:cNvSpPr/>
          <p:nvPr/>
        </p:nvSpPr>
        <p:spPr>
          <a:xfrm>
            <a:off x="499029" y="2880952"/>
            <a:ext cx="44268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794" name="Google Shape;814;p26"/>
          <p:cNvGrpSpPr/>
          <p:nvPr/>
        </p:nvGrpSpPr>
        <p:grpSpPr>
          <a:xfrm>
            <a:off x="499025" y="2923673"/>
            <a:ext cx="1095301" cy="540601"/>
            <a:chOff x="0" y="0"/>
            <a:chExt cx="1095300" cy="540599"/>
          </a:xfrm>
        </p:grpSpPr>
        <p:sp>
          <p:nvSpPr>
            <p:cNvPr id="792" name="Rectangle aux angles arrondis"/>
            <p:cNvSpPr/>
            <p:nvPr/>
          </p:nvSpPr>
          <p:spPr>
            <a:xfrm>
              <a:off x="0" y="0"/>
              <a:ext cx="1095301" cy="540600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793" name="Alignment with Sales"/>
            <p:cNvSpPr txBox="1"/>
            <p:nvPr/>
          </p:nvSpPr>
          <p:spPr>
            <a:xfrm>
              <a:off x="9482" y="128075"/>
              <a:ext cx="1076336" cy="284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Alignment with Sales </a:t>
              </a:r>
            </a:p>
          </p:txBody>
        </p:sp>
      </p:grpSp>
      <p:sp>
        <p:nvSpPr>
          <p:cNvPr id="795" name="Google Shape;815;p26"/>
          <p:cNvSpPr txBox="1"/>
          <p:nvPr/>
        </p:nvSpPr>
        <p:spPr>
          <a:xfrm flipH="1" rot="10800000">
            <a:off x="1662813" y="318044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Cross-team communication</a:t>
            </a:r>
          </a:p>
        </p:txBody>
      </p:sp>
      <p:sp>
        <p:nvSpPr>
          <p:cNvPr id="796" name="Google Shape;816;p26"/>
          <p:cNvSpPr txBox="1"/>
          <p:nvPr/>
        </p:nvSpPr>
        <p:spPr>
          <a:xfrm flipH="1" rot="10800000">
            <a:off x="1662813" y="332322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Improved Lead Forecasting</a:t>
            </a:r>
          </a:p>
        </p:txBody>
      </p:sp>
      <p:sp>
        <p:nvSpPr>
          <p:cNvPr id="797" name="Google Shape;817;p26"/>
          <p:cNvSpPr txBox="1"/>
          <p:nvPr/>
        </p:nvSpPr>
        <p:spPr>
          <a:xfrm flipH="1" rot="10800000">
            <a:off x="1662813" y="357914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Experimentation Framework</a:t>
            </a:r>
          </a:p>
        </p:txBody>
      </p:sp>
      <p:sp>
        <p:nvSpPr>
          <p:cNvPr id="798" name="Google Shape;818;p26"/>
          <p:cNvSpPr/>
          <p:nvPr/>
        </p:nvSpPr>
        <p:spPr>
          <a:xfrm>
            <a:off x="499029" y="3519399"/>
            <a:ext cx="44268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801" name="Google Shape;819;p26"/>
          <p:cNvGrpSpPr/>
          <p:nvPr/>
        </p:nvGrpSpPr>
        <p:grpSpPr>
          <a:xfrm>
            <a:off x="483599" y="3570047"/>
            <a:ext cx="1110602" cy="571201"/>
            <a:chOff x="0" y="0"/>
            <a:chExt cx="1110600" cy="571200"/>
          </a:xfrm>
        </p:grpSpPr>
        <p:sp>
          <p:nvSpPr>
            <p:cNvPr id="799" name="Rectangle aux angles arrondis"/>
            <p:cNvSpPr/>
            <p:nvPr/>
          </p:nvSpPr>
          <p:spPr>
            <a:xfrm>
              <a:off x="0" y="0"/>
              <a:ext cx="1110601" cy="5712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800" name="Campaign Management"/>
            <p:cNvSpPr txBox="1"/>
            <p:nvPr/>
          </p:nvSpPr>
          <p:spPr>
            <a:xfrm>
              <a:off x="10020" y="81462"/>
              <a:ext cx="1090560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Campaign Management</a:t>
              </a:r>
            </a:p>
          </p:txBody>
        </p:sp>
      </p:grpSp>
      <p:sp>
        <p:nvSpPr>
          <p:cNvPr id="802" name="Google Shape;820;p26"/>
          <p:cNvSpPr txBox="1"/>
          <p:nvPr/>
        </p:nvSpPr>
        <p:spPr>
          <a:xfrm flipH="1" rot="10800000">
            <a:off x="1662813" y="372217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Identifying scalable Lead Generation Campaigns</a:t>
            </a:r>
          </a:p>
        </p:txBody>
      </p:sp>
      <p:sp>
        <p:nvSpPr>
          <p:cNvPr id="803" name="Google Shape;821;p26"/>
          <p:cNvSpPr txBox="1"/>
          <p:nvPr/>
        </p:nvSpPr>
        <p:spPr>
          <a:xfrm flipH="1" rot="10800000">
            <a:off x="1662813" y="3864957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ROI &amp; CAC calculation</a:t>
            </a:r>
          </a:p>
        </p:txBody>
      </p:sp>
      <p:sp>
        <p:nvSpPr>
          <p:cNvPr id="804" name="Google Shape;822;p26"/>
          <p:cNvSpPr txBox="1"/>
          <p:nvPr/>
        </p:nvSpPr>
        <p:spPr>
          <a:xfrm flipH="1" rot="10800000">
            <a:off x="1662813" y="4006736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Granular campaign reporting</a:t>
            </a:r>
          </a:p>
        </p:txBody>
      </p:sp>
      <p:sp>
        <p:nvSpPr>
          <p:cNvPr id="805" name="Google Shape;823;p26"/>
          <p:cNvSpPr txBox="1"/>
          <p:nvPr/>
        </p:nvSpPr>
        <p:spPr>
          <a:xfrm flipH="1" rot="10800000">
            <a:off x="1662813" y="426366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Central performance dashboard</a:t>
            </a:r>
          </a:p>
        </p:txBody>
      </p:sp>
      <p:sp>
        <p:nvSpPr>
          <p:cNvPr id="806" name="Google Shape;824;p26"/>
          <p:cNvSpPr txBox="1"/>
          <p:nvPr/>
        </p:nvSpPr>
        <p:spPr>
          <a:xfrm flipH="1" rot="10800000">
            <a:off x="1662813" y="441887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Lead management system</a:t>
            </a:r>
          </a:p>
        </p:txBody>
      </p:sp>
      <p:sp>
        <p:nvSpPr>
          <p:cNvPr id="807" name="Google Shape;825;p26"/>
          <p:cNvSpPr txBox="1"/>
          <p:nvPr/>
        </p:nvSpPr>
        <p:spPr>
          <a:xfrm flipH="1" rot="10800000">
            <a:off x="1662813" y="457008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Full funnel definition</a:t>
            </a:r>
          </a:p>
        </p:txBody>
      </p:sp>
      <p:sp>
        <p:nvSpPr>
          <p:cNvPr id="808" name="Google Shape;826;p26"/>
          <p:cNvSpPr txBox="1"/>
          <p:nvPr/>
        </p:nvSpPr>
        <p:spPr>
          <a:xfrm flipH="1" rot="10800000">
            <a:off x="1655212" y="472388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Monitoring of all Funnel Stage Indicators</a:t>
            </a:r>
          </a:p>
        </p:txBody>
      </p:sp>
      <p:sp>
        <p:nvSpPr>
          <p:cNvPr id="809" name="Google Shape;827;p26"/>
          <p:cNvSpPr/>
          <p:nvPr/>
        </p:nvSpPr>
        <p:spPr>
          <a:xfrm>
            <a:off x="4325111" y="173156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10" name="Google Shape;828;p26"/>
          <p:cNvSpPr/>
          <p:nvPr/>
        </p:nvSpPr>
        <p:spPr>
          <a:xfrm>
            <a:off x="4325111" y="172977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11" name="Google Shape;829;p26"/>
          <p:cNvSpPr/>
          <p:nvPr/>
        </p:nvSpPr>
        <p:spPr>
          <a:xfrm>
            <a:off x="4325111" y="188636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12" name="Google Shape;830;p26"/>
          <p:cNvSpPr/>
          <p:nvPr/>
        </p:nvSpPr>
        <p:spPr>
          <a:xfrm>
            <a:off x="4325111" y="188457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13" name="Google Shape;831;p26"/>
          <p:cNvSpPr/>
          <p:nvPr/>
        </p:nvSpPr>
        <p:spPr>
          <a:xfrm>
            <a:off x="4325111" y="203299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14" name="Google Shape;832;p26"/>
          <p:cNvSpPr/>
          <p:nvPr/>
        </p:nvSpPr>
        <p:spPr>
          <a:xfrm>
            <a:off x="4325111" y="203120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15" name="Google Shape;833;p26"/>
          <p:cNvSpPr/>
          <p:nvPr/>
        </p:nvSpPr>
        <p:spPr>
          <a:xfrm>
            <a:off x="4325111" y="227852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16" name="Google Shape;834;p26"/>
          <p:cNvSpPr/>
          <p:nvPr/>
        </p:nvSpPr>
        <p:spPr>
          <a:xfrm>
            <a:off x="4325111" y="2276739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17" name="Google Shape;835;p26"/>
          <p:cNvSpPr/>
          <p:nvPr/>
        </p:nvSpPr>
        <p:spPr>
          <a:xfrm>
            <a:off x="4325111" y="241753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18" name="Google Shape;836;p26"/>
          <p:cNvSpPr/>
          <p:nvPr/>
        </p:nvSpPr>
        <p:spPr>
          <a:xfrm>
            <a:off x="4325111" y="241574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19" name="Google Shape;837;p26"/>
          <p:cNvSpPr/>
          <p:nvPr/>
        </p:nvSpPr>
        <p:spPr>
          <a:xfrm>
            <a:off x="4325111" y="256433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20" name="Google Shape;838;p26"/>
          <p:cNvSpPr/>
          <p:nvPr/>
        </p:nvSpPr>
        <p:spPr>
          <a:xfrm>
            <a:off x="4325111" y="2559181"/>
            <a:ext cx="108001" cy="108000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21" name="Google Shape;839;p26"/>
          <p:cNvSpPr/>
          <p:nvPr/>
        </p:nvSpPr>
        <p:spPr>
          <a:xfrm>
            <a:off x="4325111" y="270084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22" name="Google Shape;840;p26"/>
          <p:cNvSpPr/>
          <p:nvPr/>
        </p:nvSpPr>
        <p:spPr>
          <a:xfrm>
            <a:off x="4325111" y="2902606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23" name="Google Shape;841;p26"/>
          <p:cNvSpPr/>
          <p:nvPr/>
        </p:nvSpPr>
        <p:spPr>
          <a:xfrm>
            <a:off x="4325111" y="2900819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24" name="Google Shape;842;p26"/>
          <p:cNvSpPr/>
          <p:nvPr/>
        </p:nvSpPr>
        <p:spPr>
          <a:xfrm>
            <a:off x="4325111" y="304139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25" name="Google Shape;843;p26"/>
          <p:cNvSpPr/>
          <p:nvPr/>
        </p:nvSpPr>
        <p:spPr>
          <a:xfrm>
            <a:off x="4325111" y="3039610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26" name="Google Shape;844;p26"/>
          <p:cNvSpPr/>
          <p:nvPr/>
        </p:nvSpPr>
        <p:spPr>
          <a:xfrm>
            <a:off x="4325111" y="318968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27" name="Google Shape;845;p26"/>
          <p:cNvSpPr/>
          <p:nvPr/>
        </p:nvSpPr>
        <p:spPr>
          <a:xfrm>
            <a:off x="4325111" y="318789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28" name="Google Shape;846;p26"/>
          <p:cNvSpPr/>
          <p:nvPr/>
        </p:nvSpPr>
        <p:spPr>
          <a:xfrm>
            <a:off x="4325111" y="333312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29" name="Google Shape;847;p26"/>
          <p:cNvSpPr/>
          <p:nvPr/>
        </p:nvSpPr>
        <p:spPr>
          <a:xfrm>
            <a:off x="4325111" y="333133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30" name="Google Shape;848;p26"/>
          <p:cNvSpPr/>
          <p:nvPr/>
        </p:nvSpPr>
        <p:spPr>
          <a:xfrm>
            <a:off x="4325111" y="359017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31" name="Google Shape;849;p26"/>
          <p:cNvSpPr/>
          <p:nvPr/>
        </p:nvSpPr>
        <p:spPr>
          <a:xfrm>
            <a:off x="4325111" y="3588384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32" name="Google Shape;850;p26"/>
          <p:cNvSpPr/>
          <p:nvPr/>
        </p:nvSpPr>
        <p:spPr>
          <a:xfrm>
            <a:off x="4325111" y="373753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33" name="Google Shape;851;p26"/>
          <p:cNvSpPr/>
          <p:nvPr/>
        </p:nvSpPr>
        <p:spPr>
          <a:xfrm>
            <a:off x="4325111" y="373574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34" name="Google Shape;852;p26"/>
          <p:cNvSpPr/>
          <p:nvPr/>
        </p:nvSpPr>
        <p:spPr>
          <a:xfrm>
            <a:off x="4325111" y="387384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35" name="Google Shape;853;p26"/>
          <p:cNvSpPr/>
          <p:nvPr/>
        </p:nvSpPr>
        <p:spPr>
          <a:xfrm>
            <a:off x="4325111" y="3872060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36" name="Google Shape;854;p26"/>
          <p:cNvSpPr/>
          <p:nvPr/>
        </p:nvSpPr>
        <p:spPr>
          <a:xfrm>
            <a:off x="4325111" y="401846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37" name="Google Shape;855;p26"/>
          <p:cNvSpPr/>
          <p:nvPr/>
        </p:nvSpPr>
        <p:spPr>
          <a:xfrm>
            <a:off x="4325111" y="401667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38" name="Google Shape;856;p26"/>
          <p:cNvSpPr/>
          <p:nvPr/>
        </p:nvSpPr>
        <p:spPr>
          <a:xfrm>
            <a:off x="4325111" y="427543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39" name="Google Shape;857;p26"/>
          <p:cNvSpPr/>
          <p:nvPr/>
        </p:nvSpPr>
        <p:spPr>
          <a:xfrm>
            <a:off x="4325111" y="427364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40" name="Google Shape;858;p26"/>
          <p:cNvSpPr/>
          <p:nvPr/>
        </p:nvSpPr>
        <p:spPr>
          <a:xfrm>
            <a:off x="4325111" y="442726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41" name="Google Shape;859;p26"/>
          <p:cNvSpPr/>
          <p:nvPr/>
        </p:nvSpPr>
        <p:spPr>
          <a:xfrm>
            <a:off x="4325111" y="442548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42" name="Google Shape;860;p26"/>
          <p:cNvSpPr/>
          <p:nvPr/>
        </p:nvSpPr>
        <p:spPr>
          <a:xfrm>
            <a:off x="4325111" y="458176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43" name="Google Shape;861;p26"/>
          <p:cNvSpPr/>
          <p:nvPr/>
        </p:nvSpPr>
        <p:spPr>
          <a:xfrm>
            <a:off x="4325111" y="458041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44" name="Google Shape;862;p26"/>
          <p:cNvSpPr/>
          <p:nvPr/>
        </p:nvSpPr>
        <p:spPr>
          <a:xfrm>
            <a:off x="4325111" y="473355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45" name="Google Shape;863;p26"/>
          <p:cNvSpPr/>
          <p:nvPr/>
        </p:nvSpPr>
        <p:spPr>
          <a:xfrm>
            <a:off x="4325111" y="473356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46" name="Google Shape;864;p26"/>
          <p:cNvSpPr txBox="1"/>
          <p:nvPr/>
        </p:nvSpPr>
        <p:spPr>
          <a:xfrm>
            <a:off x="2857055" y="748600"/>
            <a:ext cx="636001" cy="41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768095">
              <a:defRPr b="1" sz="1512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grpSp>
        <p:nvGrpSpPr>
          <p:cNvPr id="849" name="Google Shape;865;p26"/>
          <p:cNvGrpSpPr/>
          <p:nvPr/>
        </p:nvGrpSpPr>
        <p:grpSpPr>
          <a:xfrm>
            <a:off x="484660" y="4272474"/>
            <a:ext cx="1110601" cy="571201"/>
            <a:chOff x="0" y="0"/>
            <a:chExt cx="1110600" cy="571200"/>
          </a:xfrm>
        </p:grpSpPr>
        <p:sp>
          <p:nvSpPr>
            <p:cNvPr id="847" name="Rectangle aux angles arrondis"/>
            <p:cNvSpPr/>
            <p:nvPr/>
          </p:nvSpPr>
          <p:spPr>
            <a:xfrm>
              <a:off x="0" y="0"/>
              <a:ext cx="1110601" cy="5712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848" name="Full Funnel Data"/>
            <p:cNvSpPr txBox="1"/>
            <p:nvPr/>
          </p:nvSpPr>
          <p:spPr>
            <a:xfrm>
              <a:off x="10020" y="143375"/>
              <a:ext cx="1090560" cy="284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Full Funnel Data</a:t>
              </a:r>
            </a:p>
          </p:txBody>
        </p:sp>
      </p:grpSp>
      <p:sp>
        <p:nvSpPr>
          <p:cNvPr id="850" name="Google Shape;866;p26"/>
          <p:cNvSpPr/>
          <p:nvPr/>
        </p:nvSpPr>
        <p:spPr>
          <a:xfrm>
            <a:off x="499029" y="4215700"/>
            <a:ext cx="44268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51" name="Google Shape;867;p26"/>
          <p:cNvSpPr txBox="1"/>
          <p:nvPr/>
        </p:nvSpPr>
        <p:spPr>
          <a:xfrm>
            <a:off x="8453587" y="792474"/>
            <a:ext cx="335401" cy="30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b="1" sz="6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852" name="Google Shape;868;p26"/>
          <p:cNvSpPr txBox="1"/>
          <p:nvPr/>
        </p:nvSpPr>
        <p:spPr>
          <a:xfrm>
            <a:off x="3830575" y="1238843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53" name="Google Shape;869;p26"/>
          <p:cNvSpPr txBox="1"/>
          <p:nvPr/>
        </p:nvSpPr>
        <p:spPr>
          <a:xfrm>
            <a:off x="405308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54" name="Google Shape;870;p26"/>
          <p:cNvSpPr txBox="1"/>
          <p:nvPr/>
        </p:nvSpPr>
        <p:spPr>
          <a:xfrm>
            <a:off x="426863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55" name="Google Shape;871;p26"/>
          <p:cNvSpPr txBox="1"/>
          <p:nvPr/>
        </p:nvSpPr>
        <p:spPr>
          <a:xfrm>
            <a:off x="4487662" y="1238849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56" name="Google Shape;872;p26"/>
          <p:cNvSpPr txBox="1"/>
          <p:nvPr/>
        </p:nvSpPr>
        <p:spPr>
          <a:xfrm>
            <a:off x="4706713" y="1243936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861" name="Google Shape;903;p26"/>
          <p:cNvGrpSpPr/>
          <p:nvPr/>
        </p:nvGrpSpPr>
        <p:grpSpPr>
          <a:xfrm>
            <a:off x="353225" y="4944834"/>
            <a:ext cx="2346525" cy="167513"/>
            <a:chOff x="0" y="0"/>
            <a:chExt cx="2346523" cy="167512"/>
          </a:xfrm>
        </p:grpSpPr>
        <p:sp>
          <p:nvSpPr>
            <p:cNvPr id="857" name="Google Shape;904;p26"/>
            <p:cNvSpPr txBox="1"/>
            <p:nvPr/>
          </p:nvSpPr>
          <p:spPr>
            <a:xfrm>
              <a:off x="138524" y="1450"/>
              <a:ext cx="857400" cy="144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Atscale assessment</a:t>
              </a:r>
            </a:p>
          </p:txBody>
        </p:sp>
        <p:sp>
          <p:nvSpPr>
            <p:cNvPr id="858" name="Google Shape;905;p26"/>
            <p:cNvSpPr txBox="1"/>
            <p:nvPr/>
          </p:nvSpPr>
          <p:spPr>
            <a:xfrm>
              <a:off x="1175924" y="0"/>
              <a:ext cx="1170600" cy="14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[CLIENT] self-assessment</a:t>
              </a:r>
            </a:p>
          </p:txBody>
        </p:sp>
        <p:sp>
          <p:nvSpPr>
            <p:cNvPr id="859" name="Google Shape;906;p26"/>
            <p:cNvSpPr/>
            <p:nvPr/>
          </p:nvSpPr>
          <p:spPr>
            <a:xfrm>
              <a:off x="1054074" y="59512"/>
              <a:ext cx="108001" cy="108001"/>
            </a:xfrm>
            <a:prstGeom prst="ellipse">
              <a:avLst/>
            </a:prstGeom>
            <a:solidFill>
              <a:srgbClr val="DDC7C7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  <p:sp>
          <p:nvSpPr>
            <p:cNvPr id="860" name="Google Shape;907;p26"/>
            <p:cNvSpPr/>
            <p:nvPr/>
          </p:nvSpPr>
          <p:spPr>
            <a:xfrm>
              <a:off x="0" y="59512"/>
              <a:ext cx="108000" cy="108001"/>
            </a:xfrm>
            <a:prstGeom prst="ellipse">
              <a:avLst/>
            </a:prstGeom>
            <a:solidFill>
              <a:srgbClr val="BDD3F3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</p:grpSp>
      <p:sp>
        <p:nvSpPr>
          <p:cNvPr id="862" name="Google Shape;908;p26"/>
          <p:cNvSpPr/>
          <p:nvPr/>
        </p:nvSpPr>
        <p:spPr>
          <a:xfrm>
            <a:off x="4971800" y="1504850"/>
            <a:ext cx="3911401" cy="238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863" name="Google Shape;909;p26"/>
          <p:cNvSpPr/>
          <p:nvPr/>
        </p:nvSpPr>
        <p:spPr>
          <a:xfrm>
            <a:off x="4978200" y="1923500"/>
            <a:ext cx="3911401" cy="238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864" name="Google Shape;910;p26"/>
          <p:cNvSpPr/>
          <p:nvPr/>
        </p:nvSpPr>
        <p:spPr>
          <a:xfrm>
            <a:off x="4978200" y="2384749"/>
            <a:ext cx="3911401" cy="20970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865" name="Google Shape;911;p26"/>
          <p:cNvSpPr/>
          <p:nvPr/>
        </p:nvSpPr>
        <p:spPr>
          <a:xfrm>
            <a:off x="4959350" y="4641150"/>
            <a:ext cx="3950100" cy="238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866" name="Google Shape;912;p26"/>
          <p:cNvSpPr/>
          <p:nvPr/>
        </p:nvSpPr>
        <p:spPr>
          <a:xfrm>
            <a:off x="4325111" y="270240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918;p27"/>
          <p:cNvSpPr/>
          <p:nvPr/>
        </p:nvSpPr>
        <p:spPr>
          <a:xfrm rot="5400000">
            <a:off x="3031224" y="2969639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B6D7A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869" name="Google Shape;919;p27"/>
          <p:cNvSpPr/>
          <p:nvPr/>
        </p:nvSpPr>
        <p:spPr>
          <a:xfrm rot="16200000">
            <a:off x="2155074" y="2969608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EBC5D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870" name="Google Shape;920;p27"/>
          <p:cNvSpPr/>
          <p:nvPr/>
        </p:nvSpPr>
        <p:spPr>
          <a:xfrm>
            <a:off x="4049600" y="1294139"/>
            <a:ext cx="219301" cy="3571800"/>
          </a:xfrm>
          <a:prstGeom prst="rect">
            <a:avLst/>
          </a:prstGeom>
          <a:solidFill>
            <a:srgbClr val="FCE5CD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871" name="Google Shape;921;p27"/>
          <p:cNvSpPr/>
          <p:nvPr/>
        </p:nvSpPr>
        <p:spPr>
          <a:xfrm>
            <a:off x="4268637" y="1294139"/>
            <a:ext cx="219301" cy="3571800"/>
          </a:xfrm>
          <a:prstGeom prst="rect">
            <a:avLst/>
          </a:prstGeom>
          <a:solidFill>
            <a:srgbClr val="FFF2CC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872" name="Google Shape;922;p27"/>
          <p:cNvSpPr/>
          <p:nvPr/>
        </p:nvSpPr>
        <p:spPr>
          <a:xfrm>
            <a:off x="4487674" y="1294139"/>
            <a:ext cx="219301" cy="3571800"/>
          </a:xfrm>
          <a:prstGeom prst="rect">
            <a:avLst/>
          </a:prstGeom>
          <a:solidFill>
            <a:srgbClr val="D9EAD3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873" name="Google Shape;923;p27"/>
          <p:cNvSpPr txBox="1"/>
          <p:nvPr>
            <p:ph type="ctrTitle"/>
          </p:nvPr>
        </p:nvSpPr>
        <p:spPr>
          <a:xfrm>
            <a:off x="483599" y="750299"/>
            <a:ext cx="3030602" cy="418501"/>
          </a:xfrm>
          <a:prstGeom prst="rect">
            <a:avLst/>
          </a:prstGeom>
        </p:spPr>
        <p:txBody>
          <a:bodyPr/>
          <a:lstStyle>
            <a:lvl1pPr algn="l" defTabSz="768095">
              <a:defRPr sz="1512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Execution : </a:t>
            </a:r>
          </a:p>
        </p:txBody>
      </p:sp>
      <p:pic>
        <p:nvPicPr>
          <p:cNvPr id="874" name="Logo_atscale_sans texture.pngGoogle Shape;924;p27" descr="Logo_atscale_sans texture.pngGoogle Shape;924;p2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875" name="Google Shape;925;p27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76" name="Google Shape;926;p27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Synthesis</a:t>
            </a:r>
          </a:p>
        </p:txBody>
      </p:sp>
      <p:pic>
        <p:nvPicPr>
          <p:cNvPr id="877" name="Google Shape;927;p27" descr="Google Shape;927;p2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85575" y="823977"/>
            <a:ext cx="908957" cy="271129"/>
          </a:xfrm>
          <a:prstGeom prst="rect">
            <a:avLst/>
          </a:prstGeom>
          <a:ln w="12700">
            <a:miter lim="400000"/>
          </a:ln>
        </p:spPr>
      </p:pic>
      <p:sp>
        <p:nvSpPr>
          <p:cNvPr id="878" name="Google Shape;928;p27"/>
          <p:cNvSpPr txBox="1"/>
          <p:nvPr/>
        </p:nvSpPr>
        <p:spPr>
          <a:xfrm>
            <a:off x="7862731" y="823675"/>
            <a:ext cx="8118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[CLIENT] Grade :  </a:t>
            </a:r>
          </a:p>
        </p:txBody>
      </p:sp>
      <p:grpSp>
        <p:nvGrpSpPr>
          <p:cNvPr id="881" name="Google Shape;929;p27"/>
          <p:cNvGrpSpPr/>
          <p:nvPr/>
        </p:nvGrpSpPr>
        <p:grpSpPr>
          <a:xfrm>
            <a:off x="483599" y="1545598"/>
            <a:ext cx="1095301" cy="612001"/>
            <a:chOff x="0" y="0"/>
            <a:chExt cx="1095300" cy="611999"/>
          </a:xfrm>
        </p:grpSpPr>
        <p:sp>
          <p:nvSpPr>
            <p:cNvPr id="879" name="Rectangle aux angles arrondis"/>
            <p:cNvSpPr/>
            <p:nvPr/>
          </p:nvSpPr>
          <p:spPr>
            <a:xfrm>
              <a:off x="0" y="0"/>
              <a:ext cx="1095301" cy="61200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880" name="Prospection"/>
            <p:cNvSpPr txBox="1"/>
            <p:nvPr/>
          </p:nvSpPr>
          <p:spPr>
            <a:xfrm>
              <a:off x="29875" y="163775"/>
              <a:ext cx="1035550" cy="284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Prospection</a:t>
              </a:r>
            </a:p>
          </p:txBody>
        </p:sp>
      </p:grpSp>
      <p:sp>
        <p:nvSpPr>
          <p:cNvPr id="882" name="Google Shape;930;p27"/>
          <p:cNvSpPr txBox="1"/>
          <p:nvPr/>
        </p:nvSpPr>
        <p:spPr>
          <a:xfrm flipH="1" rot="10800000">
            <a:off x="1655099" y="156673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Prospecting Methodologies &amp; techniques </a:t>
            </a:r>
          </a:p>
        </p:txBody>
      </p:sp>
      <p:sp>
        <p:nvSpPr>
          <p:cNvPr id="883" name="Google Shape;931;p27"/>
          <p:cNvSpPr txBox="1"/>
          <p:nvPr/>
        </p:nvSpPr>
        <p:spPr>
          <a:xfrm flipH="1" rot="10800000">
            <a:off x="1655099" y="172194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Tools &amp; Technology </a:t>
            </a:r>
          </a:p>
        </p:txBody>
      </p:sp>
      <p:sp>
        <p:nvSpPr>
          <p:cNvPr id="884" name="Google Shape;932;p27"/>
          <p:cNvSpPr/>
          <p:nvPr/>
        </p:nvSpPr>
        <p:spPr>
          <a:xfrm>
            <a:off x="499029" y="2208475"/>
            <a:ext cx="44268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85" name="Google Shape;933;p27"/>
          <p:cNvSpPr/>
          <p:nvPr/>
        </p:nvSpPr>
        <p:spPr>
          <a:xfrm>
            <a:off x="4325111" y="156501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86" name="Google Shape;934;p27"/>
          <p:cNvSpPr/>
          <p:nvPr/>
        </p:nvSpPr>
        <p:spPr>
          <a:xfrm>
            <a:off x="4325111" y="156814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887" name="Google Shape;935;p27"/>
          <p:cNvSpPr/>
          <p:nvPr/>
        </p:nvSpPr>
        <p:spPr>
          <a:xfrm>
            <a:off x="499032" y="1496135"/>
            <a:ext cx="8266802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88" name="Google Shape;936;p27"/>
          <p:cNvSpPr txBox="1"/>
          <p:nvPr/>
        </p:nvSpPr>
        <p:spPr>
          <a:xfrm>
            <a:off x="1655099" y="1195492"/>
            <a:ext cx="21756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Assessment vs. best in class</a:t>
            </a:r>
          </a:p>
        </p:txBody>
      </p:sp>
      <p:sp>
        <p:nvSpPr>
          <p:cNvPr id="889" name="Google Shape;937;p27"/>
          <p:cNvSpPr txBox="1"/>
          <p:nvPr/>
        </p:nvSpPr>
        <p:spPr>
          <a:xfrm>
            <a:off x="4925750" y="1195474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890" name="Google Shape;938;p27"/>
          <p:cNvSpPr txBox="1"/>
          <p:nvPr/>
        </p:nvSpPr>
        <p:spPr>
          <a:xfrm>
            <a:off x="6957600" y="1195493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Initiatives recommended</a:t>
            </a:r>
          </a:p>
        </p:txBody>
      </p:sp>
      <p:grpSp>
        <p:nvGrpSpPr>
          <p:cNvPr id="893" name="Google Shape;939;p27"/>
          <p:cNvGrpSpPr/>
          <p:nvPr/>
        </p:nvGrpSpPr>
        <p:grpSpPr>
          <a:xfrm>
            <a:off x="492299" y="2259350"/>
            <a:ext cx="1095301" cy="571201"/>
            <a:chOff x="0" y="0"/>
            <a:chExt cx="1095300" cy="571200"/>
          </a:xfrm>
        </p:grpSpPr>
        <p:sp>
          <p:nvSpPr>
            <p:cNvPr id="891" name="Rectangle aux angles arrondis"/>
            <p:cNvSpPr/>
            <p:nvPr/>
          </p:nvSpPr>
          <p:spPr>
            <a:xfrm>
              <a:off x="0" y="0"/>
              <a:ext cx="1095301" cy="5712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892" name="Discovery &amp; Qualification"/>
            <p:cNvSpPr txBox="1"/>
            <p:nvPr/>
          </p:nvSpPr>
          <p:spPr>
            <a:xfrm>
              <a:off x="10019" y="81462"/>
              <a:ext cx="1075262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Discovery &amp; Qualification</a:t>
              </a:r>
            </a:p>
          </p:txBody>
        </p:sp>
      </p:grpSp>
      <p:sp>
        <p:nvSpPr>
          <p:cNvPr id="894" name="Google Shape;940;p27"/>
          <p:cNvSpPr txBox="1"/>
          <p:nvPr/>
        </p:nvSpPr>
        <p:spPr>
          <a:xfrm flipH="1" rot="10800000">
            <a:off x="1655249" y="187378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Target Market analysis </a:t>
            </a:r>
          </a:p>
        </p:txBody>
      </p:sp>
      <p:sp>
        <p:nvSpPr>
          <p:cNvPr id="895" name="Google Shape;941;p27"/>
          <p:cNvSpPr txBox="1"/>
          <p:nvPr/>
        </p:nvSpPr>
        <p:spPr>
          <a:xfrm flipH="1" rot="10800000">
            <a:off x="1655249" y="201656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Performance monitoring </a:t>
            </a:r>
          </a:p>
        </p:txBody>
      </p:sp>
      <p:sp>
        <p:nvSpPr>
          <p:cNvPr id="896" name="Google Shape;942;p27"/>
          <p:cNvSpPr txBox="1"/>
          <p:nvPr/>
        </p:nvSpPr>
        <p:spPr>
          <a:xfrm flipH="1" rot="10800000">
            <a:off x="1654861" y="2266283"/>
            <a:ext cx="2175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Discovery Techniques </a:t>
            </a:r>
          </a:p>
        </p:txBody>
      </p:sp>
      <p:sp>
        <p:nvSpPr>
          <p:cNvPr id="897" name="Google Shape;943;p27"/>
          <p:cNvSpPr txBox="1"/>
          <p:nvPr/>
        </p:nvSpPr>
        <p:spPr>
          <a:xfrm flipH="1" rot="10800000">
            <a:off x="1655099" y="240494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Qualification Criterias </a:t>
            </a:r>
          </a:p>
        </p:txBody>
      </p:sp>
      <p:sp>
        <p:nvSpPr>
          <p:cNvPr id="898" name="Google Shape;944;p27"/>
          <p:cNvSpPr txBox="1"/>
          <p:nvPr/>
        </p:nvSpPr>
        <p:spPr>
          <a:xfrm flipH="1" rot="10800000">
            <a:off x="1655099" y="254672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Active listening </a:t>
            </a:r>
          </a:p>
        </p:txBody>
      </p:sp>
      <p:sp>
        <p:nvSpPr>
          <p:cNvPr id="899" name="Google Shape;945;p27"/>
          <p:cNvSpPr txBox="1"/>
          <p:nvPr/>
        </p:nvSpPr>
        <p:spPr>
          <a:xfrm flipH="1" rot="10800000">
            <a:off x="1655099" y="268950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Questioning skills </a:t>
            </a:r>
          </a:p>
        </p:txBody>
      </p:sp>
      <p:sp>
        <p:nvSpPr>
          <p:cNvPr id="900" name="Google Shape;946;p27"/>
          <p:cNvSpPr txBox="1"/>
          <p:nvPr/>
        </p:nvSpPr>
        <p:spPr>
          <a:xfrm flipH="1" rot="10800000">
            <a:off x="1655099" y="289171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Personalization &amp; Customization </a:t>
            </a:r>
          </a:p>
        </p:txBody>
      </p:sp>
      <p:sp>
        <p:nvSpPr>
          <p:cNvPr id="901" name="Google Shape;947;p27"/>
          <p:cNvSpPr txBox="1"/>
          <p:nvPr/>
        </p:nvSpPr>
        <p:spPr>
          <a:xfrm flipH="1" rot="10800000">
            <a:off x="1655099" y="303449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Showcasing demo methodology </a:t>
            </a:r>
          </a:p>
        </p:txBody>
      </p:sp>
      <p:sp>
        <p:nvSpPr>
          <p:cNvPr id="902" name="Google Shape;948;p27"/>
          <p:cNvSpPr/>
          <p:nvPr/>
        </p:nvSpPr>
        <p:spPr>
          <a:xfrm>
            <a:off x="499029" y="2880952"/>
            <a:ext cx="44268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905" name="Google Shape;949;p27"/>
          <p:cNvGrpSpPr/>
          <p:nvPr/>
        </p:nvGrpSpPr>
        <p:grpSpPr>
          <a:xfrm>
            <a:off x="499025" y="2923673"/>
            <a:ext cx="1095301" cy="540601"/>
            <a:chOff x="0" y="0"/>
            <a:chExt cx="1095300" cy="540599"/>
          </a:xfrm>
        </p:grpSpPr>
        <p:sp>
          <p:nvSpPr>
            <p:cNvPr id="903" name="Rectangle aux angles arrondis"/>
            <p:cNvSpPr/>
            <p:nvPr/>
          </p:nvSpPr>
          <p:spPr>
            <a:xfrm>
              <a:off x="0" y="0"/>
              <a:ext cx="1095301" cy="540600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904" name="Demo"/>
            <p:cNvSpPr txBox="1"/>
            <p:nvPr/>
          </p:nvSpPr>
          <p:spPr>
            <a:xfrm>
              <a:off x="9482" y="128075"/>
              <a:ext cx="1076336" cy="284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Demo</a:t>
              </a:r>
            </a:p>
          </p:txBody>
        </p:sp>
      </p:grpSp>
      <p:sp>
        <p:nvSpPr>
          <p:cNvPr id="906" name="Google Shape;950;p27"/>
          <p:cNvSpPr txBox="1"/>
          <p:nvPr/>
        </p:nvSpPr>
        <p:spPr>
          <a:xfrm flipH="1" rot="10800000">
            <a:off x="1662813" y="318044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Demo technical environment </a:t>
            </a:r>
          </a:p>
        </p:txBody>
      </p:sp>
      <p:sp>
        <p:nvSpPr>
          <p:cNvPr id="907" name="Google Shape;951;p27"/>
          <p:cNvSpPr txBox="1"/>
          <p:nvPr/>
        </p:nvSpPr>
        <p:spPr>
          <a:xfrm flipH="1" rot="10800000">
            <a:off x="1662813" y="332322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Post-demo follow-up strategies </a:t>
            </a:r>
          </a:p>
        </p:txBody>
      </p:sp>
      <p:sp>
        <p:nvSpPr>
          <p:cNvPr id="908" name="Google Shape;952;p27"/>
          <p:cNvSpPr txBox="1"/>
          <p:nvPr/>
        </p:nvSpPr>
        <p:spPr>
          <a:xfrm flipH="1" rot="10800000">
            <a:off x="1662813" y="357914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Proposal customization </a:t>
            </a:r>
          </a:p>
        </p:txBody>
      </p:sp>
      <p:sp>
        <p:nvSpPr>
          <p:cNvPr id="909" name="Google Shape;953;p27"/>
          <p:cNvSpPr/>
          <p:nvPr/>
        </p:nvSpPr>
        <p:spPr>
          <a:xfrm>
            <a:off x="499029" y="3519399"/>
            <a:ext cx="44268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912" name="Google Shape;954;p27"/>
          <p:cNvGrpSpPr/>
          <p:nvPr/>
        </p:nvGrpSpPr>
        <p:grpSpPr>
          <a:xfrm>
            <a:off x="483599" y="3570047"/>
            <a:ext cx="1110602" cy="571201"/>
            <a:chOff x="0" y="0"/>
            <a:chExt cx="1110600" cy="571200"/>
          </a:xfrm>
        </p:grpSpPr>
        <p:sp>
          <p:nvSpPr>
            <p:cNvPr id="910" name="Rectangle aux angles arrondis"/>
            <p:cNvSpPr/>
            <p:nvPr/>
          </p:nvSpPr>
          <p:spPr>
            <a:xfrm>
              <a:off x="0" y="0"/>
              <a:ext cx="1110601" cy="5712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911" name="Proposal &amp; Negotiation"/>
            <p:cNvSpPr txBox="1"/>
            <p:nvPr/>
          </p:nvSpPr>
          <p:spPr>
            <a:xfrm>
              <a:off x="10020" y="81462"/>
              <a:ext cx="1090560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Proposal &amp; Negotiation</a:t>
              </a:r>
            </a:p>
          </p:txBody>
        </p:sp>
      </p:grpSp>
      <p:sp>
        <p:nvSpPr>
          <p:cNvPr id="913" name="Google Shape;955;p27"/>
          <p:cNvSpPr txBox="1"/>
          <p:nvPr/>
        </p:nvSpPr>
        <p:spPr>
          <a:xfrm flipH="1" rot="10800000">
            <a:off x="1662813" y="372217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Proposal presentation process</a:t>
            </a:r>
          </a:p>
        </p:txBody>
      </p:sp>
      <p:sp>
        <p:nvSpPr>
          <p:cNvPr id="914" name="Google Shape;956;p27"/>
          <p:cNvSpPr txBox="1"/>
          <p:nvPr/>
        </p:nvSpPr>
        <p:spPr>
          <a:xfrm flipH="1" rot="10800000">
            <a:off x="1662813" y="3864957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Negotiation skills and strategies </a:t>
            </a:r>
          </a:p>
        </p:txBody>
      </p:sp>
      <p:sp>
        <p:nvSpPr>
          <p:cNvPr id="915" name="Google Shape;957;p27"/>
          <p:cNvSpPr txBox="1"/>
          <p:nvPr/>
        </p:nvSpPr>
        <p:spPr>
          <a:xfrm flipH="1" rot="10800000">
            <a:off x="1662813" y="4006736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Pricing conversations</a:t>
            </a:r>
          </a:p>
        </p:txBody>
      </p:sp>
      <p:sp>
        <p:nvSpPr>
          <p:cNvPr id="916" name="Google Shape;958;p27"/>
          <p:cNvSpPr txBox="1"/>
          <p:nvPr/>
        </p:nvSpPr>
        <p:spPr>
          <a:xfrm flipH="1" rot="10800000">
            <a:off x="1662813" y="426366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Sense of Urgency </a:t>
            </a:r>
          </a:p>
        </p:txBody>
      </p:sp>
      <p:sp>
        <p:nvSpPr>
          <p:cNvPr id="917" name="Google Shape;959;p27"/>
          <p:cNvSpPr txBox="1"/>
          <p:nvPr/>
        </p:nvSpPr>
        <p:spPr>
          <a:xfrm flipH="1" rot="10800000">
            <a:off x="1662813" y="441887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Building trust</a:t>
            </a:r>
          </a:p>
        </p:txBody>
      </p:sp>
      <p:sp>
        <p:nvSpPr>
          <p:cNvPr id="918" name="Google Shape;960;p27"/>
          <p:cNvSpPr txBox="1"/>
          <p:nvPr/>
        </p:nvSpPr>
        <p:spPr>
          <a:xfrm flipH="1" rot="10800000">
            <a:off x="1662813" y="457008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Existing clients reference checks</a:t>
            </a:r>
          </a:p>
        </p:txBody>
      </p:sp>
      <p:sp>
        <p:nvSpPr>
          <p:cNvPr id="919" name="Google Shape;961;p27"/>
          <p:cNvSpPr txBox="1"/>
          <p:nvPr/>
        </p:nvSpPr>
        <p:spPr>
          <a:xfrm flipH="1" rot="10800000">
            <a:off x="1655212" y="472388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Post-closing &amp; relationship building</a:t>
            </a:r>
          </a:p>
        </p:txBody>
      </p:sp>
      <p:sp>
        <p:nvSpPr>
          <p:cNvPr id="920" name="Google Shape;962;p27"/>
          <p:cNvSpPr/>
          <p:nvPr/>
        </p:nvSpPr>
        <p:spPr>
          <a:xfrm>
            <a:off x="4325111" y="173156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21" name="Google Shape;963;p27"/>
          <p:cNvSpPr/>
          <p:nvPr/>
        </p:nvSpPr>
        <p:spPr>
          <a:xfrm>
            <a:off x="4325111" y="172977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22" name="Google Shape;964;p27"/>
          <p:cNvSpPr/>
          <p:nvPr/>
        </p:nvSpPr>
        <p:spPr>
          <a:xfrm>
            <a:off x="4325111" y="188636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23" name="Google Shape;965;p27"/>
          <p:cNvSpPr/>
          <p:nvPr/>
        </p:nvSpPr>
        <p:spPr>
          <a:xfrm>
            <a:off x="4325111" y="188457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24" name="Google Shape;966;p27"/>
          <p:cNvSpPr/>
          <p:nvPr/>
        </p:nvSpPr>
        <p:spPr>
          <a:xfrm>
            <a:off x="4325111" y="203299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25" name="Google Shape;967;p27"/>
          <p:cNvSpPr/>
          <p:nvPr/>
        </p:nvSpPr>
        <p:spPr>
          <a:xfrm>
            <a:off x="4325111" y="203120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26" name="Google Shape;968;p27"/>
          <p:cNvSpPr/>
          <p:nvPr/>
        </p:nvSpPr>
        <p:spPr>
          <a:xfrm>
            <a:off x="4325111" y="227852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27" name="Google Shape;969;p27"/>
          <p:cNvSpPr/>
          <p:nvPr/>
        </p:nvSpPr>
        <p:spPr>
          <a:xfrm>
            <a:off x="4325111" y="225810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28" name="Google Shape;970;p27"/>
          <p:cNvSpPr/>
          <p:nvPr/>
        </p:nvSpPr>
        <p:spPr>
          <a:xfrm>
            <a:off x="4325111" y="241753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29" name="Google Shape;971;p27"/>
          <p:cNvSpPr/>
          <p:nvPr/>
        </p:nvSpPr>
        <p:spPr>
          <a:xfrm>
            <a:off x="4325111" y="241574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30" name="Google Shape;972;p27"/>
          <p:cNvSpPr/>
          <p:nvPr/>
        </p:nvSpPr>
        <p:spPr>
          <a:xfrm>
            <a:off x="4325111" y="256433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31" name="Google Shape;973;p27"/>
          <p:cNvSpPr/>
          <p:nvPr/>
        </p:nvSpPr>
        <p:spPr>
          <a:xfrm>
            <a:off x="4325111" y="270084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32" name="Google Shape;974;p27"/>
          <p:cNvSpPr/>
          <p:nvPr/>
        </p:nvSpPr>
        <p:spPr>
          <a:xfrm>
            <a:off x="4325111" y="269905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33" name="Google Shape;975;p27"/>
          <p:cNvSpPr/>
          <p:nvPr/>
        </p:nvSpPr>
        <p:spPr>
          <a:xfrm>
            <a:off x="4325111" y="2902606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34" name="Google Shape;976;p27"/>
          <p:cNvSpPr/>
          <p:nvPr/>
        </p:nvSpPr>
        <p:spPr>
          <a:xfrm>
            <a:off x="4325111" y="2900819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35" name="Google Shape;977;p27"/>
          <p:cNvSpPr/>
          <p:nvPr/>
        </p:nvSpPr>
        <p:spPr>
          <a:xfrm>
            <a:off x="4325111" y="304139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36" name="Google Shape;978;p27"/>
          <p:cNvSpPr/>
          <p:nvPr/>
        </p:nvSpPr>
        <p:spPr>
          <a:xfrm>
            <a:off x="4325111" y="3039610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37" name="Google Shape;979;p27"/>
          <p:cNvSpPr/>
          <p:nvPr/>
        </p:nvSpPr>
        <p:spPr>
          <a:xfrm>
            <a:off x="4325111" y="318968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38" name="Google Shape;980;p27"/>
          <p:cNvSpPr/>
          <p:nvPr/>
        </p:nvSpPr>
        <p:spPr>
          <a:xfrm>
            <a:off x="4325111" y="318789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39" name="Google Shape;981;p27"/>
          <p:cNvSpPr/>
          <p:nvPr/>
        </p:nvSpPr>
        <p:spPr>
          <a:xfrm>
            <a:off x="4325111" y="333312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40" name="Google Shape;982;p27"/>
          <p:cNvSpPr/>
          <p:nvPr/>
        </p:nvSpPr>
        <p:spPr>
          <a:xfrm>
            <a:off x="4325111" y="333133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41" name="Google Shape;983;p27"/>
          <p:cNvSpPr/>
          <p:nvPr/>
        </p:nvSpPr>
        <p:spPr>
          <a:xfrm>
            <a:off x="4325111" y="359017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42" name="Google Shape;984;p27"/>
          <p:cNvSpPr/>
          <p:nvPr/>
        </p:nvSpPr>
        <p:spPr>
          <a:xfrm>
            <a:off x="4325111" y="373753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43" name="Google Shape;985;p27"/>
          <p:cNvSpPr/>
          <p:nvPr/>
        </p:nvSpPr>
        <p:spPr>
          <a:xfrm>
            <a:off x="4325111" y="373574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44" name="Google Shape;986;p27"/>
          <p:cNvSpPr/>
          <p:nvPr/>
        </p:nvSpPr>
        <p:spPr>
          <a:xfrm>
            <a:off x="4325111" y="387384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45" name="Google Shape;987;p27"/>
          <p:cNvSpPr/>
          <p:nvPr/>
        </p:nvSpPr>
        <p:spPr>
          <a:xfrm>
            <a:off x="4325111" y="3872060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46" name="Google Shape;988;p27"/>
          <p:cNvSpPr/>
          <p:nvPr/>
        </p:nvSpPr>
        <p:spPr>
          <a:xfrm>
            <a:off x="4325111" y="401846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47" name="Google Shape;989;p27"/>
          <p:cNvSpPr/>
          <p:nvPr/>
        </p:nvSpPr>
        <p:spPr>
          <a:xfrm>
            <a:off x="4325111" y="401667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48" name="Google Shape;990;p27"/>
          <p:cNvSpPr/>
          <p:nvPr/>
        </p:nvSpPr>
        <p:spPr>
          <a:xfrm>
            <a:off x="4325111" y="427543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49" name="Google Shape;991;p27"/>
          <p:cNvSpPr/>
          <p:nvPr/>
        </p:nvSpPr>
        <p:spPr>
          <a:xfrm>
            <a:off x="4325111" y="427364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50" name="Google Shape;992;p27"/>
          <p:cNvSpPr/>
          <p:nvPr/>
        </p:nvSpPr>
        <p:spPr>
          <a:xfrm>
            <a:off x="4325111" y="442726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51" name="Google Shape;993;p27"/>
          <p:cNvSpPr/>
          <p:nvPr/>
        </p:nvSpPr>
        <p:spPr>
          <a:xfrm>
            <a:off x="4325111" y="442548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52" name="Google Shape;994;p27"/>
          <p:cNvSpPr/>
          <p:nvPr/>
        </p:nvSpPr>
        <p:spPr>
          <a:xfrm>
            <a:off x="4325111" y="458176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53" name="Google Shape;995;p27"/>
          <p:cNvSpPr/>
          <p:nvPr/>
        </p:nvSpPr>
        <p:spPr>
          <a:xfrm>
            <a:off x="4325111" y="457998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54" name="Google Shape;996;p27"/>
          <p:cNvSpPr/>
          <p:nvPr/>
        </p:nvSpPr>
        <p:spPr>
          <a:xfrm>
            <a:off x="4325111" y="473355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55" name="Google Shape;997;p27"/>
          <p:cNvSpPr/>
          <p:nvPr/>
        </p:nvSpPr>
        <p:spPr>
          <a:xfrm>
            <a:off x="4325111" y="473176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56" name="Google Shape;998;p27"/>
          <p:cNvSpPr txBox="1"/>
          <p:nvPr/>
        </p:nvSpPr>
        <p:spPr>
          <a:xfrm>
            <a:off x="2440740" y="748607"/>
            <a:ext cx="3030601" cy="41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768095">
              <a:defRPr b="1" sz="1512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2.6</a:t>
            </a:r>
          </a:p>
        </p:txBody>
      </p:sp>
      <p:grpSp>
        <p:nvGrpSpPr>
          <p:cNvPr id="959" name="Google Shape;999;p27"/>
          <p:cNvGrpSpPr/>
          <p:nvPr/>
        </p:nvGrpSpPr>
        <p:grpSpPr>
          <a:xfrm>
            <a:off x="484660" y="4272474"/>
            <a:ext cx="1110601" cy="571201"/>
            <a:chOff x="0" y="0"/>
            <a:chExt cx="1110600" cy="571200"/>
          </a:xfrm>
        </p:grpSpPr>
        <p:sp>
          <p:nvSpPr>
            <p:cNvPr id="957" name="Rectangle aux angles arrondis"/>
            <p:cNvSpPr/>
            <p:nvPr/>
          </p:nvSpPr>
          <p:spPr>
            <a:xfrm>
              <a:off x="0" y="0"/>
              <a:ext cx="1110601" cy="5712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958" name="Closing"/>
            <p:cNvSpPr txBox="1"/>
            <p:nvPr/>
          </p:nvSpPr>
          <p:spPr>
            <a:xfrm>
              <a:off x="10020" y="143375"/>
              <a:ext cx="1090560" cy="284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Closing</a:t>
              </a:r>
            </a:p>
          </p:txBody>
        </p:sp>
      </p:grpSp>
      <p:sp>
        <p:nvSpPr>
          <p:cNvPr id="960" name="Google Shape;1000;p27"/>
          <p:cNvSpPr/>
          <p:nvPr/>
        </p:nvSpPr>
        <p:spPr>
          <a:xfrm>
            <a:off x="499029" y="4215700"/>
            <a:ext cx="44268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61" name="Google Shape;1001;p27"/>
          <p:cNvSpPr txBox="1"/>
          <p:nvPr/>
        </p:nvSpPr>
        <p:spPr>
          <a:xfrm>
            <a:off x="8453587" y="792474"/>
            <a:ext cx="335401" cy="30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b="1" sz="6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962" name="Google Shape;1002;p27"/>
          <p:cNvSpPr txBox="1"/>
          <p:nvPr/>
        </p:nvSpPr>
        <p:spPr>
          <a:xfrm>
            <a:off x="3830575" y="1238843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63" name="Google Shape;1003;p27"/>
          <p:cNvSpPr txBox="1"/>
          <p:nvPr/>
        </p:nvSpPr>
        <p:spPr>
          <a:xfrm>
            <a:off x="405308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64" name="Google Shape;1004;p27"/>
          <p:cNvSpPr txBox="1"/>
          <p:nvPr/>
        </p:nvSpPr>
        <p:spPr>
          <a:xfrm>
            <a:off x="426863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65" name="Google Shape;1005;p27"/>
          <p:cNvSpPr txBox="1"/>
          <p:nvPr/>
        </p:nvSpPr>
        <p:spPr>
          <a:xfrm>
            <a:off x="4487662" y="1238849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66" name="Google Shape;1006;p27"/>
          <p:cNvSpPr txBox="1"/>
          <p:nvPr/>
        </p:nvSpPr>
        <p:spPr>
          <a:xfrm>
            <a:off x="4706713" y="1243936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971" name="Google Shape;1033;p27"/>
          <p:cNvGrpSpPr/>
          <p:nvPr/>
        </p:nvGrpSpPr>
        <p:grpSpPr>
          <a:xfrm>
            <a:off x="353225" y="4944834"/>
            <a:ext cx="2346525" cy="167513"/>
            <a:chOff x="0" y="0"/>
            <a:chExt cx="2346523" cy="167512"/>
          </a:xfrm>
        </p:grpSpPr>
        <p:sp>
          <p:nvSpPr>
            <p:cNvPr id="967" name="Google Shape;1034;p27"/>
            <p:cNvSpPr txBox="1"/>
            <p:nvPr/>
          </p:nvSpPr>
          <p:spPr>
            <a:xfrm>
              <a:off x="138524" y="1450"/>
              <a:ext cx="857400" cy="144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Atscale assessment</a:t>
              </a:r>
            </a:p>
          </p:txBody>
        </p:sp>
        <p:sp>
          <p:nvSpPr>
            <p:cNvPr id="968" name="Google Shape;1035;p27"/>
            <p:cNvSpPr txBox="1"/>
            <p:nvPr/>
          </p:nvSpPr>
          <p:spPr>
            <a:xfrm>
              <a:off x="1175924" y="0"/>
              <a:ext cx="1170600" cy="14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[CLIENT] self-assessment</a:t>
              </a:r>
            </a:p>
          </p:txBody>
        </p:sp>
        <p:sp>
          <p:nvSpPr>
            <p:cNvPr id="969" name="Google Shape;1036;p27"/>
            <p:cNvSpPr/>
            <p:nvPr/>
          </p:nvSpPr>
          <p:spPr>
            <a:xfrm>
              <a:off x="1054074" y="59512"/>
              <a:ext cx="108001" cy="108001"/>
            </a:xfrm>
            <a:prstGeom prst="ellipse">
              <a:avLst/>
            </a:prstGeom>
            <a:solidFill>
              <a:srgbClr val="DDC7C7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  <p:sp>
          <p:nvSpPr>
            <p:cNvPr id="970" name="Google Shape;1037;p27"/>
            <p:cNvSpPr/>
            <p:nvPr/>
          </p:nvSpPr>
          <p:spPr>
            <a:xfrm>
              <a:off x="0" y="59512"/>
              <a:ext cx="108000" cy="108001"/>
            </a:xfrm>
            <a:prstGeom prst="ellipse">
              <a:avLst/>
            </a:prstGeom>
            <a:solidFill>
              <a:srgbClr val="BDD3F3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</p:grpSp>
      <p:sp>
        <p:nvSpPr>
          <p:cNvPr id="972" name="Google Shape;1038;p27"/>
          <p:cNvSpPr/>
          <p:nvPr/>
        </p:nvSpPr>
        <p:spPr>
          <a:xfrm>
            <a:off x="4960499" y="2062350"/>
            <a:ext cx="3950101" cy="21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973" name="Google Shape;1039;p27"/>
          <p:cNvSpPr/>
          <p:nvPr/>
        </p:nvSpPr>
        <p:spPr>
          <a:xfrm>
            <a:off x="4960499" y="2572387"/>
            <a:ext cx="3950101" cy="4185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974" name="Google Shape;1040;p27"/>
          <p:cNvSpPr/>
          <p:nvPr/>
        </p:nvSpPr>
        <p:spPr>
          <a:xfrm>
            <a:off x="4971800" y="3739386"/>
            <a:ext cx="3950101" cy="21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975" name="Google Shape;1041;p27"/>
          <p:cNvSpPr/>
          <p:nvPr/>
        </p:nvSpPr>
        <p:spPr>
          <a:xfrm>
            <a:off x="4960499" y="1509350"/>
            <a:ext cx="3912001" cy="2919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976" name="Google Shape;1043;p27"/>
          <p:cNvSpPr/>
          <p:nvPr/>
        </p:nvSpPr>
        <p:spPr>
          <a:xfrm>
            <a:off x="4971800" y="3267600"/>
            <a:ext cx="3950101" cy="21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1048;p28"/>
          <p:cNvSpPr/>
          <p:nvPr/>
        </p:nvSpPr>
        <p:spPr>
          <a:xfrm rot="5400000">
            <a:off x="3031224" y="2969639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B6D7A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979" name="Google Shape;1049;p28"/>
          <p:cNvSpPr/>
          <p:nvPr/>
        </p:nvSpPr>
        <p:spPr>
          <a:xfrm rot="16200000">
            <a:off x="2155074" y="2969608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EBC5D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980" name="Google Shape;1050;p28"/>
          <p:cNvSpPr/>
          <p:nvPr/>
        </p:nvSpPr>
        <p:spPr>
          <a:xfrm>
            <a:off x="4049600" y="1294139"/>
            <a:ext cx="219301" cy="3571800"/>
          </a:xfrm>
          <a:prstGeom prst="rect">
            <a:avLst/>
          </a:prstGeom>
          <a:solidFill>
            <a:srgbClr val="FCE5CD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981" name="Google Shape;1051;p28"/>
          <p:cNvSpPr/>
          <p:nvPr/>
        </p:nvSpPr>
        <p:spPr>
          <a:xfrm>
            <a:off x="4268637" y="1294139"/>
            <a:ext cx="219301" cy="3571800"/>
          </a:xfrm>
          <a:prstGeom prst="rect">
            <a:avLst/>
          </a:prstGeom>
          <a:solidFill>
            <a:srgbClr val="FFF2CC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982" name="Google Shape;1052;p28"/>
          <p:cNvSpPr/>
          <p:nvPr/>
        </p:nvSpPr>
        <p:spPr>
          <a:xfrm>
            <a:off x="4487674" y="1294139"/>
            <a:ext cx="219301" cy="3571800"/>
          </a:xfrm>
          <a:prstGeom prst="rect">
            <a:avLst/>
          </a:prstGeom>
          <a:solidFill>
            <a:srgbClr val="D9EAD3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983" name="Google Shape;1053;p28"/>
          <p:cNvSpPr txBox="1"/>
          <p:nvPr>
            <p:ph type="ctrTitle"/>
          </p:nvPr>
        </p:nvSpPr>
        <p:spPr>
          <a:xfrm>
            <a:off x="483600" y="750299"/>
            <a:ext cx="5461500" cy="418501"/>
          </a:xfrm>
          <a:prstGeom prst="rect">
            <a:avLst/>
          </a:prstGeom>
        </p:spPr>
        <p:txBody>
          <a:bodyPr/>
          <a:lstStyle>
            <a:lvl1pPr algn="l" defTabSz="768095">
              <a:defRPr sz="1512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Client Relationship :</a:t>
            </a:r>
          </a:p>
        </p:txBody>
      </p:sp>
      <p:pic>
        <p:nvPicPr>
          <p:cNvPr id="984" name="Logo_atscale_sans texture.pngGoogle Shape;1054;p28" descr="Logo_atscale_sans texture.pngGoogle Shape;1054;p2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985" name="Google Shape;1055;p28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86" name="Google Shape;1056;p28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Synthesis</a:t>
            </a:r>
          </a:p>
        </p:txBody>
      </p:sp>
      <p:pic>
        <p:nvPicPr>
          <p:cNvPr id="987" name="Google Shape;1057;p28" descr="Google Shape;1057;p2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85575" y="823977"/>
            <a:ext cx="908957" cy="271129"/>
          </a:xfrm>
          <a:prstGeom prst="rect">
            <a:avLst/>
          </a:prstGeom>
          <a:ln w="12700">
            <a:miter lim="400000"/>
          </a:ln>
        </p:spPr>
      </p:pic>
      <p:sp>
        <p:nvSpPr>
          <p:cNvPr id="988" name="Google Shape;1058;p28"/>
          <p:cNvSpPr txBox="1"/>
          <p:nvPr/>
        </p:nvSpPr>
        <p:spPr>
          <a:xfrm>
            <a:off x="7862731" y="823675"/>
            <a:ext cx="8577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[CLIENT] Grade :  </a:t>
            </a:r>
          </a:p>
        </p:txBody>
      </p:sp>
      <p:grpSp>
        <p:nvGrpSpPr>
          <p:cNvPr id="991" name="Google Shape;1059;p28"/>
          <p:cNvGrpSpPr/>
          <p:nvPr/>
        </p:nvGrpSpPr>
        <p:grpSpPr>
          <a:xfrm>
            <a:off x="499025" y="1563225"/>
            <a:ext cx="1095301" cy="743101"/>
            <a:chOff x="0" y="0"/>
            <a:chExt cx="1095300" cy="743099"/>
          </a:xfrm>
        </p:grpSpPr>
        <p:sp>
          <p:nvSpPr>
            <p:cNvPr id="989" name="Rectangle aux angles arrondis"/>
            <p:cNvSpPr/>
            <p:nvPr/>
          </p:nvSpPr>
          <p:spPr>
            <a:xfrm>
              <a:off x="0" y="0"/>
              <a:ext cx="1095301" cy="74310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990" name="Client Territory Planning"/>
            <p:cNvSpPr txBox="1"/>
            <p:nvPr/>
          </p:nvSpPr>
          <p:spPr>
            <a:xfrm>
              <a:off x="36275" y="167412"/>
              <a:ext cx="1022750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Client Territory Planning </a:t>
              </a:r>
            </a:p>
          </p:txBody>
        </p:sp>
      </p:grpSp>
      <p:sp>
        <p:nvSpPr>
          <p:cNvPr id="992" name="Google Shape;1060;p28"/>
          <p:cNvSpPr txBox="1"/>
          <p:nvPr/>
        </p:nvSpPr>
        <p:spPr>
          <a:xfrm flipH="1" rot="10800000">
            <a:off x="1655099" y="156673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Sizes of book of business</a:t>
            </a:r>
          </a:p>
        </p:txBody>
      </p:sp>
      <p:sp>
        <p:nvSpPr>
          <p:cNvPr id="993" name="Google Shape;1061;p28"/>
          <p:cNvSpPr txBox="1"/>
          <p:nvPr/>
        </p:nvSpPr>
        <p:spPr>
          <a:xfrm flipH="1" rot="10800000">
            <a:off x="1655099" y="1709250"/>
            <a:ext cx="1875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Attribution of new customers in our Account Managers or Customer Success  team</a:t>
            </a:r>
          </a:p>
        </p:txBody>
      </p:sp>
      <p:sp>
        <p:nvSpPr>
          <p:cNvPr id="994" name="Google Shape;1062;p28"/>
          <p:cNvSpPr/>
          <p:nvPr/>
        </p:nvSpPr>
        <p:spPr>
          <a:xfrm>
            <a:off x="499029" y="2349450"/>
            <a:ext cx="44271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95" name="Google Shape;1063;p28"/>
          <p:cNvSpPr/>
          <p:nvPr/>
        </p:nvSpPr>
        <p:spPr>
          <a:xfrm>
            <a:off x="4325111" y="157844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96" name="Google Shape;1064;p28"/>
          <p:cNvSpPr/>
          <p:nvPr/>
        </p:nvSpPr>
        <p:spPr>
          <a:xfrm>
            <a:off x="4325111" y="158157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997" name="Google Shape;1065;p28"/>
          <p:cNvSpPr/>
          <p:nvPr/>
        </p:nvSpPr>
        <p:spPr>
          <a:xfrm>
            <a:off x="499032" y="1496135"/>
            <a:ext cx="8266802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98" name="Google Shape;1066;p28"/>
          <p:cNvSpPr txBox="1"/>
          <p:nvPr/>
        </p:nvSpPr>
        <p:spPr>
          <a:xfrm>
            <a:off x="1655099" y="1195492"/>
            <a:ext cx="21756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Assessment vs. best in class</a:t>
            </a:r>
          </a:p>
        </p:txBody>
      </p:sp>
      <p:sp>
        <p:nvSpPr>
          <p:cNvPr id="999" name="Google Shape;1067;p28"/>
          <p:cNvSpPr txBox="1"/>
          <p:nvPr/>
        </p:nvSpPr>
        <p:spPr>
          <a:xfrm>
            <a:off x="4925750" y="1195474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1000" name="Google Shape;1068;p28"/>
          <p:cNvSpPr txBox="1"/>
          <p:nvPr/>
        </p:nvSpPr>
        <p:spPr>
          <a:xfrm>
            <a:off x="6957600" y="1195493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Initiatives recommended</a:t>
            </a:r>
          </a:p>
        </p:txBody>
      </p:sp>
      <p:grpSp>
        <p:nvGrpSpPr>
          <p:cNvPr id="1003" name="Google Shape;1069;p28"/>
          <p:cNvGrpSpPr/>
          <p:nvPr/>
        </p:nvGrpSpPr>
        <p:grpSpPr>
          <a:xfrm>
            <a:off x="499025" y="3109099"/>
            <a:ext cx="1095301" cy="1728902"/>
            <a:chOff x="0" y="0"/>
            <a:chExt cx="1095300" cy="1728900"/>
          </a:xfrm>
        </p:grpSpPr>
        <p:sp>
          <p:nvSpPr>
            <p:cNvPr id="1001" name="Rectangle aux angles arrondis"/>
            <p:cNvSpPr/>
            <p:nvPr/>
          </p:nvSpPr>
          <p:spPr>
            <a:xfrm>
              <a:off x="0" y="0"/>
              <a:ext cx="1095301" cy="17289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002" name="Portfolio Growth &amp; Churn Prevention"/>
            <p:cNvSpPr txBox="1"/>
            <p:nvPr/>
          </p:nvSpPr>
          <p:spPr>
            <a:xfrm>
              <a:off x="19212" y="660312"/>
              <a:ext cx="1056876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Portfolio Growth &amp; Churn Prevention</a:t>
              </a:r>
            </a:p>
          </p:txBody>
        </p:sp>
      </p:grpSp>
      <p:sp>
        <p:nvSpPr>
          <p:cNvPr id="1004" name="Google Shape;1070;p28"/>
          <p:cNvSpPr txBox="1"/>
          <p:nvPr/>
        </p:nvSpPr>
        <p:spPr>
          <a:xfrm flipH="1" rot="10800000">
            <a:off x="1655249" y="187378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Tiering &amp; Customer segmentation</a:t>
            </a:r>
          </a:p>
        </p:txBody>
      </p:sp>
      <p:sp>
        <p:nvSpPr>
          <p:cNvPr id="1005" name="Google Shape;1071;p28"/>
          <p:cNvSpPr txBox="1"/>
          <p:nvPr/>
        </p:nvSpPr>
        <p:spPr>
          <a:xfrm flipH="1" rot="10800000">
            <a:off x="1655249" y="201656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Alignment of customer segmentation with career path</a:t>
            </a:r>
          </a:p>
        </p:txBody>
      </p:sp>
      <p:sp>
        <p:nvSpPr>
          <p:cNvPr id="1006" name="Google Shape;1072;p28"/>
          <p:cNvSpPr txBox="1"/>
          <p:nvPr/>
        </p:nvSpPr>
        <p:spPr>
          <a:xfrm flipH="1" rot="10800000">
            <a:off x="1655249" y="217177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Automation of tasks for the long tail</a:t>
            </a:r>
          </a:p>
        </p:txBody>
      </p:sp>
      <p:sp>
        <p:nvSpPr>
          <p:cNvPr id="1007" name="Google Shape;1073;p28"/>
          <p:cNvSpPr txBox="1"/>
          <p:nvPr/>
        </p:nvSpPr>
        <p:spPr>
          <a:xfrm flipH="1" rot="10800000">
            <a:off x="1655099" y="2404943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Service Level Agreements </a:t>
            </a:r>
          </a:p>
        </p:txBody>
      </p:sp>
      <p:sp>
        <p:nvSpPr>
          <p:cNvPr id="1008" name="Google Shape;1074;p28"/>
          <p:cNvSpPr txBox="1"/>
          <p:nvPr/>
        </p:nvSpPr>
        <p:spPr>
          <a:xfrm flipH="1" rot="10800000">
            <a:off x="1655099" y="256015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Account Managers or Customer Success  quotas</a:t>
            </a:r>
          </a:p>
        </p:txBody>
      </p:sp>
      <p:sp>
        <p:nvSpPr>
          <p:cNvPr id="1009" name="Google Shape;1075;p28"/>
          <p:cNvSpPr txBox="1"/>
          <p:nvPr/>
        </p:nvSpPr>
        <p:spPr>
          <a:xfrm flipH="1" rot="10800000">
            <a:off x="1655099" y="270293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Quota achievements </a:t>
            </a:r>
          </a:p>
        </p:txBody>
      </p:sp>
      <p:sp>
        <p:nvSpPr>
          <p:cNvPr id="1010" name="Google Shape;1076;p28"/>
          <p:cNvSpPr txBox="1"/>
          <p:nvPr/>
        </p:nvSpPr>
        <p:spPr>
          <a:xfrm flipH="1" rot="10800000">
            <a:off x="1655099" y="285142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Product adoption and roll-out</a:t>
            </a:r>
          </a:p>
        </p:txBody>
      </p:sp>
      <p:sp>
        <p:nvSpPr>
          <p:cNvPr id="1011" name="Google Shape;1077;p28"/>
          <p:cNvSpPr txBox="1"/>
          <p:nvPr/>
        </p:nvSpPr>
        <p:spPr>
          <a:xfrm flipH="1" rot="10800000">
            <a:off x="1655099" y="310835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Target-driven mindset</a:t>
            </a:r>
          </a:p>
        </p:txBody>
      </p:sp>
      <p:sp>
        <p:nvSpPr>
          <p:cNvPr id="1012" name="Google Shape;1078;p28"/>
          <p:cNvSpPr/>
          <p:nvPr/>
        </p:nvSpPr>
        <p:spPr>
          <a:xfrm>
            <a:off x="499029" y="3048824"/>
            <a:ext cx="44271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015" name="Google Shape;1079;p28"/>
          <p:cNvGrpSpPr/>
          <p:nvPr/>
        </p:nvGrpSpPr>
        <p:grpSpPr>
          <a:xfrm>
            <a:off x="499025" y="2392575"/>
            <a:ext cx="1095301" cy="606601"/>
            <a:chOff x="0" y="0"/>
            <a:chExt cx="1095300" cy="606599"/>
          </a:xfrm>
        </p:grpSpPr>
        <p:sp>
          <p:nvSpPr>
            <p:cNvPr id="1013" name="Rectangle aux angles arrondis"/>
            <p:cNvSpPr/>
            <p:nvPr/>
          </p:nvSpPr>
          <p:spPr>
            <a:xfrm>
              <a:off x="0" y="0"/>
              <a:ext cx="1095301" cy="606600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014" name="Outreach Strategy, SLAs &amp; Quotas"/>
            <p:cNvSpPr txBox="1"/>
            <p:nvPr/>
          </p:nvSpPr>
          <p:spPr>
            <a:xfrm>
              <a:off x="10639" y="99162"/>
              <a:ext cx="1074022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Outreach Strategy, SLAs &amp; Quotas</a:t>
              </a:r>
            </a:p>
          </p:txBody>
        </p:sp>
      </p:grpSp>
      <p:sp>
        <p:nvSpPr>
          <p:cNvPr id="1016" name="Google Shape;1080;p28"/>
          <p:cNvSpPr txBox="1"/>
          <p:nvPr/>
        </p:nvSpPr>
        <p:spPr>
          <a:xfrm flipH="1" rot="10800000">
            <a:off x="1662813" y="326101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Opportunity mapping</a:t>
            </a:r>
          </a:p>
        </p:txBody>
      </p:sp>
      <p:sp>
        <p:nvSpPr>
          <p:cNvPr id="1017" name="Google Shape;1081;p28"/>
          <p:cNvSpPr txBox="1"/>
          <p:nvPr/>
        </p:nvSpPr>
        <p:spPr>
          <a:xfrm flipH="1" rot="10800000">
            <a:off x="1662813" y="341051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Upselling skills</a:t>
            </a:r>
          </a:p>
        </p:txBody>
      </p:sp>
      <p:sp>
        <p:nvSpPr>
          <p:cNvPr id="1018" name="Google Shape;1082;p28"/>
          <p:cNvSpPr txBox="1"/>
          <p:nvPr/>
        </p:nvSpPr>
        <p:spPr>
          <a:xfrm flipH="1" rot="10800000">
            <a:off x="1662813" y="354557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Competition knowledge</a:t>
            </a:r>
          </a:p>
        </p:txBody>
      </p:sp>
      <p:sp>
        <p:nvSpPr>
          <p:cNvPr id="1019" name="Google Shape;1083;p28"/>
          <p:cNvSpPr txBox="1"/>
          <p:nvPr/>
        </p:nvSpPr>
        <p:spPr>
          <a:xfrm flipH="1" rot="10800000">
            <a:off x="1655225" y="369861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Product expertise</a:t>
            </a:r>
          </a:p>
        </p:txBody>
      </p:sp>
      <p:sp>
        <p:nvSpPr>
          <p:cNvPr id="1020" name="Google Shape;1084;p28"/>
          <p:cNvSpPr txBox="1"/>
          <p:nvPr/>
        </p:nvSpPr>
        <p:spPr>
          <a:xfrm flipH="1" rot="10800000">
            <a:off x="1662813" y="385152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Seniority of Account Managers or Customer Success  reps</a:t>
            </a:r>
          </a:p>
        </p:txBody>
      </p:sp>
      <p:sp>
        <p:nvSpPr>
          <p:cNvPr id="1021" name="Google Shape;1085;p28"/>
          <p:cNvSpPr txBox="1"/>
          <p:nvPr/>
        </p:nvSpPr>
        <p:spPr>
          <a:xfrm flipH="1" rot="10800000">
            <a:off x="1662813" y="401345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Churn prevention</a:t>
            </a:r>
          </a:p>
        </p:txBody>
      </p:sp>
      <p:sp>
        <p:nvSpPr>
          <p:cNvPr id="1022" name="Google Shape;1086;p28"/>
          <p:cNvSpPr txBox="1"/>
          <p:nvPr/>
        </p:nvSpPr>
        <p:spPr>
          <a:xfrm flipH="1" rot="10800000">
            <a:off x="1662813" y="418308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Customer satisfaction</a:t>
            </a:r>
          </a:p>
        </p:txBody>
      </p:sp>
      <p:sp>
        <p:nvSpPr>
          <p:cNvPr id="1023" name="Google Shape;1087;p28"/>
          <p:cNvSpPr txBox="1"/>
          <p:nvPr/>
        </p:nvSpPr>
        <p:spPr>
          <a:xfrm flipH="1" rot="10800000">
            <a:off x="1662813" y="434501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NPS </a:t>
            </a:r>
          </a:p>
        </p:txBody>
      </p:sp>
      <p:sp>
        <p:nvSpPr>
          <p:cNvPr id="1024" name="Google Shape;1088;p28"/>
          <p:cNvSpPr txBox="1"/>
          <p:nvPr/>
        </p:nvSpPr>
        <p:spPr>
          <a:xfrm flipH="1" rot="10800000">
            <a:off x="1662813" y="450964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Business Reviews </a:t>
            </a:r>
          </a:p>
        </p:txBody>
      </p:sp>
      <p:sp>
        <p:nvSpPr>
          <p:cNvPr id="1025" name="Google Shape;1089;p28"/>
          <p:cNvSpPr txBox="1"/>
          <p:nvPr/>
        </p:nvSpPr>
        <p:spPr>
          <a:xfrm flipH="1" rot="10800000">
            <a:off x="1655212" y="467688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Sanity checks </a:t>
            </a:r>
          </a:p>
        </p:txBody>
      </p:sp>
      <p:sp>
        <p:nvSpPr>
          <p:cNvPr id="1026" name="Google Shape;1090;p28"/>
          <p:cNvSpPr/>
          <p:nvPr/>
        </p:nvSpPr>
        <p:spPr>
          <a:xfrm>
            <a:off x="4325111" y="173156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27" name="Google Shape;1091;p28"/>
          <p:cNvSpPr/>
          <p:nvPr/>
        </p:nvSpPr>
        <p:spPr>
          <a:xfrm>
            <a:off x="4325111" y="173307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28" name="Google Shape;1092;p28"/>
          <p:cNvSpPr/>
          <p:nvPr/>
        </p:nvSpPr>
        <p:spPr>
          <a:xfrm>
            <a:off x="4325111" y="188636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29" name="Google Shape;1093;p28"/>
          <p:cNvSpPr/>
          <p:nvPr/>
        </p:nvSpPr>
        <p:spPr>
          <a:xfrm>
            <a:off x="4325111" y="188213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30" name="Google Shape;1094;p28"/>
          <p:cNvSpPr/>
          <p:nvPr/>
        </p:nvSpPr>
        <p:spPr>
          <a:xfrm>
            <a:off x="4325111" y="203299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31" name="Google Shape;1095;p28"/>
          <p:cNvSpPr/>
          <p:nvPr/>
        </p:nvSpPr>
        <p:spPr>
          <a:xfrm>
            <a:off x="4325111" y="203334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32" name="Google Shape;1096;p28"/>
          <p:cNvSpPr/>
          <p:nvPr/>
        </p:nvSpPr>
        <p:spPr>
          <a:xfrm>
            <a:off x="4325111" y="218452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33" name="Google Shape;1097;p28"/>
          <p:cNvSpPr/>
          <p:nvPr/>
        </p:nvSpPr>
        <p:spPr>
          <a:xfrm>
            <a:off x="4325111" y="2191409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34" name="Google Shape;1098;p28"/>
          <p:cNvSpPr/>
          <p:nvPr/>
        </p:nvSpPr>
        <p:spPr>
          <a:xfrm>
            <a:off x="4325111" y="242424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35" name="Google Shape;1099;p28"/>
          <p:cNvSpPr/>
          <p:nvPr/>
        </p:nvSpPr>
        <p:spPr>
          <a:xfrm>
            <a:off x="4325111" y="242245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36" name="Google Shape;1100;p28"/>
          <p:cNvSpPr/>
          <p:nvPr/>
        </p:nvSpPr>
        <p:spPr>
          <a:xfrm>
            <a:off x="4325111" y="257104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37" name="Google Shape;1101;p28"/>
          <p:cNvSpPr/>
          <p:nvPr/>
        </p:nvSpPr>
        <p:spPr>
          <a:xfrm>
            <a:off x="4325111" y="256925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38" name="Google Shape;1102;p28"/>
          <p:cNvSpPr/>
          <p:nvPr/>
        </p:nvSpPr>
        <p:spPr>
          <a:xfrm>
            <a:off x="4325111" y="271426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39" name="Google Shape;1103;p28"/>
          <p:cNvSpPr/>
          <p:nvPr/>
        </p:nvSpPr>
        <p:spPr>
          <a:xfrm>
            <a:off x="4325111" y="2714894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40" name="Google Shape;1104;p28"/>
          <p:cNvSpPr/>
          <p:nvPr/>
        </p:nvSpPr>
        <p:spPr>
          <a:xfrm>
            <a:off x="4325111" y="286231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41" name="Google Shape;1105;p28"/>
          <p:cNvSpPr/>
          <p:nvPr/>
        </p:nvSpPr>
        <p:spPr>
          <a:xfrm>
            <a:off x="4325111" y="284315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42" name="Google Shape;1106;p28"/>
          <p:cNvSpPr/>
          <p:nvPr/>
        </p:nvSpPr>
        <p:spPr>
          <a:xfrm>
            <a:off x="4325111" y="311526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43" name="Google Shape;1107;p28"/>
          <p:cNvSpPr/>
          <p:nvPr/>
        </p:nvSpPr>
        <p:spPr>
          <a:xfrm>
            <a:off x="4325111" y="310464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44" name="Google Shape;1108;p28"/>
          <p:cNvSpPr/>
          <p:nvPr/>
        </p:nvSpPr>
        <p:spPr>
          <a:xfrm>
            <a:off x="4325111" y="327026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45" name="Google Shape;1109;p28"/>
          <p:cNvSpPr/>
          <p:nvPr/>
        </p:nvSpPr>
        <p:spPr>
          <a:xfrm>
            <a:off x="4325111" y="326693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46" name="Google Shape;1110;p28"/>
          <p:cNvSpPr/>
          <p:nvPr/>
        </p:nvSpPr>
        <p:spPr>
          <a:xfrm>
            <a:off x="4325111" y="342041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47" name="Google Shape;1111;p28"/>
          <p:cNvSpPr/>
          <p:nvPr/>
        </p:nvSpPr>
        <p:spPr>
          <a:xfrm>
            <a:off x="4325111" y="341862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48" name="Google Shape;1112;p28"/>
          <p:cNvSpPr/>
          <p:nvPr/>
        </p:nvSpPr>
        <p:spPr>
          <a:xfrm>
            <a:off x="4325111" y="355659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49" name="Google Shape;1113;p28"/>
          <p:cNvSpPr/>
          <p:nvPr/>
        </p:nvSpPr>
        <p:spPr>
          <a:xfrm>
            <a:off x="4325111" y="3564659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50" name="Google Shape;1114;p28"/>
          <p:cNvSpPr/>
          <p:nvPr/>
        </p:nvSpPr>
        <p:spPr>
          <a:xfrm>
            <a:off x="4325111" y="371067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51" name="Google Shape;1115;p28"/>
          <p:cNvSpPr/>
          <p:nvPr/>
        </p:nvSpPr>
        <p:spPr>
          <a:xfrm>
            <a:off x="4325111" y="3708889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52" name="Google Shape;1116;p28"/>
          <p:cNvSpPr/>
          <p:nvPr/>
        </p:nvSpPr>
        <p:spPr>
          <a:xfrm>
            <a:off x="4325111" y="386041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53" name="Google Shape;1117;p28"/>
          <p:cNvSpPr/>
          <p:nvPr/>
        </p:nvSpPr>
        <p:spPr>
          <a:xfrm>
            <a:off x="4325111" y="386793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54" name="Google Shape;1118;p28"/>
          <p:cNvSpPr/>
          <p:nvPr/>
        </p:nvSpPr>
        <p:spPr>
          <a:xfrm>
            <a:off x="4325111" y="402518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55" name="Google Shape;1119;p28"/>
          <p:cNvSpPr/>
          <p:nvPr/>
        </p:nvSpPr>
        <p:spPr>
          <a:xfrm>
            <a:off x="4325111" y="402294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56" name="Google Shape;1120;p28"/>
          <p:cNvSpPr/>
          <p:nvPr/>
        </p:nvSpPr>
        <p:spPr>
          <a:xfrm>
            <a:off x="4325111" y="419485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57" name="Google Shape;1121;p28"/>
          <p:cNvSpPr/>
          <p:nvPr/>
        </p:nvSpPr>
        <p:spPr>
          <a:xfrm>
            <a:off x="4325111" y="419306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58" name="Google Shape;1122;p28"/>
          <p:cNvSpPr/>
          <p:nvPr/>
        </p:nvSpPr>
        <p:spPr>
          <a:xfrm>
            <a:off x="4325111" y="435340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59" name="Google Shape;1123;p28"/>
          <p:cNvSpPr/>
          <p:nvPr/>
        </p:nvSpPr>
        <p:spPr>
          <a:xfrm>
            <a:off x="4325111" y="434909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60" name="Google Shape;1124;p28"/>
          <p:cNvSpPr/>
          <p:nvPr/>
        </p:nvSpPr>
        <p:spPr>
          <a:xfrm>
            <a:off x="4325111" y="4521336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61" name="Google Shape;1125;p28"/>
          <p:cNvSpPr/>
          <p:nvPr/>
        </p:nvSpPr>
        <p:spPr>
          <a:xfrm>
            <a:off x="4325111" y="4519074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62" name="Google Shape;1126;p28"/>
          <p:cNvSpPr/>
          <p:nvPr/>
        </p:nvSpPr>
        <p:spPr>
          <a:xfrm>
            <a:off x="4325111" y="468654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63" name="Google Shape;1127;p28"/>
          <p:cNvSpPr/>
          <p:nvPr/>
        </p:nvSpPr>
        <p:spPr>
          <a:xfrm>
            <a:off x="4325111" y="4684760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064" name="Google Shape;1128;p28"/>
          <p:cNvSpPr txBox="1"/>
          <p:nvPr/>
        </p:nvSpPr>
        <p:spPr>
          <a:xfrm>
            <a:off x="2749201" y="741008"/>
            <a:ext cx="3030602" cy="41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768095">
              <a:defRPr b="1" sz="1512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1065" name="Google Shape;1129;p28"/>
          <p:cNvSpPr txBox="1"/>
          <p:nvPr/>
        </p:nvSpPr>
        <p:spPr>
          <a:xfrm>
            <a:off x="8453587" y="792474"/>
            <a:ext cx="335401" cy="30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b="1" sz="6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1066" name="Google Shape;1130;p28"/>
          <p:cNvSpPr txBox="1"/>
          <p:nvPr/>
        </p:nvSpPr>
        <p:spPr>
          <a:xfrm>
            <a:off x="3830575" y="1238843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67" name="Google Shape;1131;p28"/>
          <p:cNvSpPr txBox="1"/>
          <p:nvPr/>
        </p:nvSpPr>
        <p:spPr>
          <a:xfrm>
            <a:off x="405308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68" name="Google Shape;1132;p28"/>
          <p:cNvSpPr txBox="1"/>
          <p:nvPr/>
        </p:nvSpPr>
        <p:spPr>
          <a:xfrm>
            <a:off x="426863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69" name="Google Shape;1133;p28"/>
          <p:cNvSpPr txBox="1"/>
          <p:nvPr/>
        </p:nvSpPr>
        <p:spPr>
          <a:xfrm>
            <a:off x="4487662" y="1238849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70" name="Google Shape;1134;p28"/>
          <p:cNvSpPr txBox="1"/>
          <p:nvPr/>
        </p:nvSpPr>
        <p:spPr>
          <a:xfrm>
            <a:off x="4706713" y="1243936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1075" name="Google Shape;1159;p28"/>
          <p:cNvGrpSpPr/>
          <p:nvPr/>
        </p:nvGrpSpPr>
        <p:grpSpPr>
          <a:xfrm>
            <a:off x="353225" y="4944834"/>
            <a:ext cx="2346525" cy="167513"/>
            <a:chOff x="0" y="0"/>
            <a:chExt cx="2346523" cy="167512"/>
          </a:xfrm>
        </p:grpSpPr>
        <p:sp>
          <p:nvSpPr>
            <p:cNvPr id="1071" name="Google Shape;1160;p28"/>
            <p:cNvSpPr txBox="1"/>
            <p:nvPr/>
          </p:nvSpPr>
          <p:spPr>
            <a:xfrm>
              <a:off x="138524" y="1450"/>
              <a:ext cx="857400" cy="144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Atscale assessment</a:t>
              </a:r>
            </a:p>
          </p:txBody>
        </p:sp>
        <p:sp>
          <p:nvSpPr>
            <p:cNvPr id="1072" name="Google Shape;1161;p28"/>
            <p:cNvSpPr txBox="1"/>
            <p:nvPr/>
          </p:nvSpPr>
          <p:spPr>
            <a:xfrm>
              <a:off x="1175924" y="0"/>
              <a:ext cx="1170600" cy="14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[CLIENT] self-assessment</a:t>
              </a:r>
            </a:p>
          </p:txBody>
        </p:sp>
        <p:sp>
          <p:nvSpPr>
            <p:cNvPr id="1073" name="Google Shape;1162;p28"/>
            <p:cNvSpPr/>
            <p:nvPr/>
          </p:nvSpPr>
          <p:spPr>
            <a:xfrm>
              <a:off x="1054074" y="59512"/>
              <a:ext cx="108001" cy="108001"/>
            </a:xfrm>
            <a:prstGeom prst="ellipse">
              <a:avLst/>
            </a:prstGeom>
            <a:solidFill>
              <a:srgbClr val="DDC7C7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  <p:sp>
          <p:nvSpPr>
            <p:cNvPr id="1074" name="Google Shape;1163;p28"/>
            <p:cNvSpPr/>
            <p:nvPr/>
          </p:nvSpPr>
          <p:spPr>
            <a:xfrm>
              <a:off x="0" y="59512"/>
              <a:ext cx="108000" cy="108001"/>
            </a:xfrm>
            <a:prstGeom prst="ellipse">
              <a:avLst/>
            </a:prstGeom>
            <a:solidFill>
              <a:srgbClr val="BDD3F3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</p:grpSp>
      <p:sp>
        <p:nvSpPr>
          <p:cNvPr id="1076" name="Google Shape;1164;p28"/>
          <p:cNvSpPr/>
          <p:nvPr/>
        </p:nvSpPr>
        <p:spPr>
          <a:xfrm>
            <a:off x="4960499" y="2062350"/>
            <a:ext cx="3915302" cy="21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1077" name="Google Shape;1165;p28"/>
          <p:cNvSpPr/>
          <p:nvPr/>
        </p:nvSpPr>
        <p:spPr>
          <a:xfrm>
            <a:off x="4960499" y="2309975"/>
            <a:ext cx="3915302" cy="21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1078" name="Google Shape;1166;p28"/>
          <p:cNvSpPr/>
          <p:nvPr/>
        </p:nvSpPr>
        <p:spPr>
          <a:xfrm>
            <a:off x="4960499" y="3148375"/>
            <a:ext cx="3901200" cy="21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1079" name="Google Shape;1167;p28"/>
          <p:cNvSpPr/>
          <p:nvPr/>
        </p:nvSpPr>
        <p:spPr>
          <a:xfrm>
            <a:off x="4960499" y="3425225"/>
            <a:ext cx="3906601" cy="21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1080" name="Google Shape;1168;p28"/>
          <p:cNvSpPr/>
          <p:nvPr/>
        </p:nvSpPr>
        <p:spPr>
          <a:xfrm>
            <a:off x="4960549" y="4557574"/>
            <a:ext cx="3901200" cy="21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1081" name="Google Shape;1169;p28"/>
          <p:cNvSpPr/>
          <p:nvPr/>
        </p:nvSpPr>
        <p:spPr>
          <a:xfrm>
            <a:off x="4960425" y="4262025"/>
            <a:ext cx="3901200" cy="217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175;p29"/>
          <p:cNvSpPr/>
          <p:nvPr/>
        </p:nvSpPr>
        <p:spPr>
          <a:xfrm rot="5400000">
            <a:off x="3031224" y="2969639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B6D7A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084" name="Google Shape;1176;p29"/>
          <p:cNvSpPr/>
          <p:nvPr/>
        </p:nvSpPr>
        <p:spPr>
          <a:xfrm rot="16200000">
            <a:off x="2155074" y="2969608"/>
            <a:ext cx="3570302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1" y="0"/>
                </a:moveTo>
                <a:lnTo>
                  <a:pt x="21379" y="0"/>
                </a:lnTo>
                <a:cubicBezTo>
                  <a:pt x="21501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99" y="0"/>
                  <a:pt x="221" y="0"/>
                </a:cubicBezTo>
                <a:close/>
              </a:path>
            </a:pathLst>
          </a:custGeom>
          <a:solidFill>
            <a:srgbClr val="EBC5D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085" name="Google Shape;1177;p29"/>
          <p:cNvSpPr/>
          <p:nvPr/>
        </p:nvSpPr>
        <p:spPr>
          <a:xfrm>
            <a:off x="4049600" y="1294139"/>
            <a:ext cx="219301" cy="3571800"/>
          </a:xfrm>
          <a:prstGeom prst="rect">
            <a:avLst/>
          </a:prstGeom>
          <a:solidFill>
            <a:srgbClr val="FCE5CD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1086" name="Google Shape;1178;p29"/>
          <p:cNvSpPr/>
          <p:nvPr/>
        </p:nvSpPr>
        <p:spPr>
          <a:xfrm>
            <a:off x="4268637" y="1294139"/>
            <a:ext cx="219301" cy="3571800"/>
          </a:xfrm>
          <a:prstGeom prst="rect">
            <a:avLst/>
          </a:prstGeom>
          <a:solidFill>
            <a:srgbClr val="FFF2CC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1087" name="Google Shape;1179;p29"/>
          <p:cNvSpPr/>
          <p:nvPr/>
        </p:nvSpPr>
        <p:spPr>
          <a:xfrm>
            <a:off x="4487674" y="1294139"/>
            <a:ext cx="219301" cy="3571800"/>
          </a:xfrm>
          <a:prstGeom prst="rect">
            <a:avLst/>
          </a:prstGeom>
          <a:solidFill>
            <a:srgbClr val="D9EAD3"/>
          </a:solidFill>
          <a:ln w="12700">
            <a:miter lim="400000"/>
          </a:ln>
        </p:spPr>
        <p:txBody>
          <a:bodyPr lIns="0" tIns="0" rIns="0" bIns="0"/>
          <a:lstStyle/>
          <a:p>
            <a:pPr algn="ctr">
              <a:defRPr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</p:txBody>
      </p:sp>
      <p:sp>
        <p:nvSpPr>
          <p:cNvPr id="1088" name="Google Shape;1180;p29"/>
          <p:cNvSpPr txBox="1"/>
          <p:nvPr>
            <p:ph type="ctrTitle"/>
          </p:nvPr>
        </p:nvSpPr>
        <p:spPr>
          <a:xfrm>
            <a:off x="483600" y="750299"/>
            <a:ext cx="5461500" cy="418501"/>
          </a:xfrm>
          <a:prstGeom prst="rect">
            <a:avLst/>
          </a:prstGeom>
        </p:spPr>
        <p:txBody>
          <a:bodyPr/>
          <a:lstStyle>
            <a:lvl1pPr algn="l" defTabSz="768095">
              <a:defRPr sz="1512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Revenue Operations :</a:t>
            </a:r>
          </a:p>
        </p:txBody>
      </p:sp>
      <p:pic>
        <p:nvPicPr>
          <p:cNvPr id="1089" name="Logo_atscale_sans texture.pngGoogle Shape;1181;p29" descr="Logo_atscale_sans texture.pngGoogle Shape;1181;p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1090" name="Google Shape;1182;p29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91" name="Google Shape;1183;p29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Synthesis</a:t>
            </a:r>
          </a:p>
        </p:txBody>
      </p:sp>
      <p:pic>
        <p:nvPicPr>
          <p:cNvPr id="1092" name="Google Shape;1184;p29" descr="Google Shape;1184;p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85575" y="823977"/>
            <a:ext cx="908957" cy="271129"/>
          </a:xfrm>
          <a:prstGeom prst="rect">
            <a:avLst/>
          </a:prstGeom>
          <a:ln w="12700">
            <a:miter lim="400000"/>
          </a:ln>
        </p:spPr>
      </p:pic>
      <p:sp>
        <p:nvSpPr>
          <p:cNvPr id="1093" name="Google Shape;1185;p29"/>
          <p:cNvSpPr txBox="1"/>
          <p:nvPr/>
        </p:nvSpPr>
        <p:spPr>
          <a:xfrm>
            <a:off x="7862731" y="823675"/>
            <a:ext cx="811801" cy="27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6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[CLIENT] Grade : </a:t>
            </a:r>
          </a:p>
        </p:txBody>
      </p:sp>
      <p:grpSp>
        <p:nvGrpSpPr>
          <p:cNvPr id="1096" name="Google Shape;1186;p29"/>
          <p:cNvGrpSpPr/>
          <p:nvPr/>
        </p:nvGrpSpPr>
        <p:grpSpPr>
          <a:xfrm>
            <a:off x="499025" y="1563225"/>
            <a:ext cx="1095301" cy="999601"/>
            <a:chOff x="0" y="0"/>
            <a:chExt cx="1095300" cy="999600"/>
          </a:xfrm>
        </p:grpSpPr>
        <p:sp>
          <p:nvSpPr>
            <p:cNvPr id="1094" name="Rectangle aux angles arrondis"/>
            <p:cNvSpPr/>
            <p:nvPr/>
          </p:nvSpPr>
          <p:spPr>
            <a:xfrm>
              <a:off x="0" y="0"/>
              <a:ext cx="1095301" cy="999601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095" name="Go-to-Market &amp; Sales Process"/>
            <p:cNvSpPr txBox="1"/>
            <p:nvPr/>
          </p:nvSpPr>
          <p:spPr>
            <a:xfrm>
              <a:off x="48796" y="295662"/>
              <a:ext cx="997708" cy="40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Go-to-Market &amp; Sales Process </a:t>
              </a:r>
            </a:p>
          </p:txBody>
        </p:sp>
      </p:grpSp>
      <p:sp>
        <p:nvSpPr>
          <p:cNvPr id="1097" name="Google Shape;1187;p29"/>
          <p:cNvSpPr txBox="1"/>
          <p:nvPr/>
        </p:nvSpPr>
        <p:spPr>
          <a:xfrm flipH="1" rot="10800000">
            <a:off x="1655099" y="1566739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Knowledge of Total Addressable Market</a:t>
            </a:r>
          </a:p>
        </p:txBody>
      </p:sp>
      <p:sp>
        <p:nvSpPr>
          <p:cNvPr id="1098" name="Google Shape;1188;p29"/>
          <p:cNvSpPr txBox="1"/>
          <p:nvPr/>
        </p:nvSpPr>
        <p:spPr>
          <a:xfrm flipH="1" rot="10800000">
            <a:off x="1655099" y="172194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Quality of definition of Persona and ICPs</a:t>
            </a:r>
          </a:p>
        </p:txBody>
      </p:sp>
      <p:sp>
        <p:nvSpPr>
          <p:cNvPr id="1099" name="Google Shape;1189;p29"/>
          <p:cNvSpPr/>
          <p:nvPr/>
        </p:nvSpPr>
        <p:spPr>
          <a:xfrm>
            <a:off x="499029" y="2631500"/>
            <a:ext cx="44271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00" name="Google Shape;1190;p29"/>
          <p:cNvSpPr/>
          <p:nvPr/>
        </p:nvSpPr>
        <p:spPr>
          <a:xfrm>
            <a:off x="4325111" y="157844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01" name="Google Shape;1191;p29"/>
          <p:cNvSpPr/>
          <p:nvPr/>
        </p:nvSpPr>
        <p:spPr>
          <a:xfrm>
            <a:off x="4325111" y="158157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02" name="Google Shape;1192;p29"/>
          <p:cNvSpPr/>
          <p:nvPr/>
        </p:nvSpPr>
        <p:spPr>
          <a:xfrm>
            <a:off x="499032" y="1496135"/>
            <a:ext cx="8266802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03" name="Google Shape;1193;p29"/>
          <p:cNvSpPr txBox="1"/>
          <p:nvPr/>
        </p:nvSpPr>
        <p:spPr>
          <a:xfrm>
            <a:off x="1655099" y="1195492"/>
            <a:ext cx="21756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Assessment vs. best in class</a:t>
            </a:r>
          </a:p>
        </p:txBody>
      </p:sp>
      <p:sp>
        <p:nvSpPr>
          <p:cNvPr id="1104" name="Google Shape;1194;p29"/>
          <p:cNvSpPr txBox="1"/>
          <p:nvPr/>
        </p:nvSpPr>
        <p:spPr>
          <a:xfrm>
            <a:off x="4925750" y="1195474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1105" name="Google Shape;1195;p29"/>
          <p:cNvSpPr txBox="1"/>
          <p:nvPr/>
        </p:nvSpPr>
        <p:spPr>
          <a:xfrm>
            <a:off x="6957600" y="1195493"/>
            <a:ext cx="17985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800">
                <a:solidFill>
                  <a:srgbClr val="2A41E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</a:lstStyle>
          <a:p>
            <a:pPr/>
            <a:r>
              <a:t>Initiatives recommended</a:t>
            </a:r>
          </a:p>
        </p:txBody>
      </p:sp>
      <p:grpSp>
        <p:nvGrpSpPr>
          <p:cNvPr id="1108" name="Google Shape;1196;p29"/>
          <p:cNvGrpSpPr/>
          <p:nvPr/>
        </p:nvGrpSpPr>
        <p:grpSpPr>
          <a:xfrm>
            <a:off x="499025" y="3999400"/>
            <a:ext cx="1095301" cy="838801"/>
            <a:chOff x="0" y="0"/>
            <a:chExt cx="1095300" cy="838799"/>
          </a:xfrm>
        </p:grpSpPr>
        <p:sp>
          <p:nvSpPr>
            <p:cNvPr id="1106" name="Rectangle aux angles arrondis"/>
            <p:cNvSpPr/>
            <p:nvPr/>
          </p:nvSpPr>
          <p:spPr>
            <a:xfrm>
              <a:off x="0" y="0"/>
              <a:ext cx="1095301" cy="838800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107" name="Sales Toolstack"/>
            <p:cNvSpPr txBox="1"/>
            <p:nvPr/>
          </p:nvSpPr>
          <p:spPr>
            <a:xfrm>
              <a:off x="14713" y="277174"/>
              <a:ext cx="1065874" cy="284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Toolstack</a:t>
              </a:r>
            </a:p>
          </p:txBody>
        </p:sp>
      </p:grpSp>
      <p:sp>
        <p:nvSpPr>
          <p:cNvPr id="1109" name="Google Shape;1197;p29"/>
          <p:cNvSpPr txBox="1"/>
          <p:nvPr/>
        </p:nvSpPr>
        <p:spPr>
          <a:xfrm flipH="1" rot="10800000">
            <a:off x="1655249" y="1873784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Fit between Go-to-Market and Annual Contract Value</a:t>
            </a:r>
          </a:p>
        </p:txBody>
      </p:sp>
      <p:sp>
        <p:nvSpPr>
          <p:cNvPr id="1110" name="Google Shape;1198;p29"/>
          <p:cNvSpPr txBox="1"/>
          <p:nvPr/>
        </p:nvSpPr>
        <p:spPr>
          <a:xfrm flipH="1" rot="10800000">
            <a:off x="1655249" y="201656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Definition and Optimization of Sales channels</a:t>
            </a:r>
          </a:p>
        </p:txBody>
      </p:sp>
      <p:sp>
        <p:nvSpPr>
          <p:cNvPr id="1111" name="Google Shape;1199;p29"/>
          <p:cNvSpPr txBox="1"/>
          <p:nvPr/>
        </p:nvSpPr>
        <p:spPr>
          <a:xfrm flipH="1" rot="10800000">
            <a:off x="1655249" y="217177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Definition of sales process </a:t>
            </a:r>
          </a:p>
        </p:txBody>
      </p:sp>
      <p:sp>
        <p:nvSpPr>
          <p:cNvPr id="1112" name="Google Shape;1200;p29"/>
          <p:cNvSpPr txBox="1"/>
          <p:nvPr/>
        </p:nvSpPr>
        <p:spPr>
          <a:xfrm flipH="1" rot="10800000">
            <a:off x="1655099" y="2310936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Analysis of sales process </a:t>
            </a:r>
          </a:p>
        </p:txBody>
      </p:sp>
      <p:sp>
        <p:nvSpPr>
          <p:cNvPr id="1113" name="Google Shape;1201;p29"/>
          <p:cNvSpPr txBox="1"/>
          <p:nvPr/>
        </p:nvSpPr>
        <p:spPr>
          <a:xfrm flipH="1" rot="10800000">
            <a:off x="1655099" y="246614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Optimization of sales process</a:t>
            </a:r>
          </a:p>
        </p:txBody>
      </p:sp>
      <p:sp>
        <p:nvSpPr>
          <p:cNvPr id="1114" name="Google Shape;1202;p29"/>
          <p:cNvSpPr txBox="1"/>
          <p:nvPr/>
        </p:nvSpPr>
        <p:spPr>
          <a:xfrm flipH="1" rot="10800000">
            <a:off x="1655099" y="270293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Target definition for sales population</a:t>
            </a:r>
          </a:p>
        </p:txBody>
      </p:sp>
      <p:sp>
        <p:nvSpPr>
          <p:cNvPr id="1115" name="Google Shape;1203;p29"/>
          <p:cNvSpPr txBox="1"/>
          <p:nvPr/>
        </p:nvSpPr>
        <p:spPr>
          <a:xfrm flipH="1" rot="10800000">
            <a:off x="1655099" y="2851422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Target definition for Account Managers or Customer Success teams</a:t>
            </a:r>
          </a:p>
        </p:txBody>
      </p:sp>
      <p:sp>
        <p:nvSpPr>
          <p:cNvPr id="1116" name="Google Shape;1204;p29"/>
          <p:cNvSpPr txBox="1"/>
          <p:nvPr/>
        </p:nvSpPr>
        <p:spPr>
          <a:xfrm flipH="1" rot="10800000">
            <a:off x="1655099" y="299420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Compensation plans </a:t>
            </a:r>
          </a:p>
        </p:txBody>
      </p:sp>
      <p:sp>
        <p:nvSpPr>
          <p:cNvPr id="1117" name="Google Shape;1205;p29"/>
          <p:cNvSpPr/>
          <p:nvPr/>
        </p:nvSpPr>
        <p:spPr>
          <a:xfrm>
            <a:off x="499029" y="3941900"/>
            <a:ext cx="4427101" cy="1"/>
          </a:xfrm>
          <a:prstGeom prst="line">
            <a:avLst/>
          </a:prstGeom>
          <a:ln>
            <a:solidFill>
              <a:srgbClr val="EEEEE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120" name="Google Shape;1206;p29"/>
          <p:cNvGrpSpPr/>
          <p:nvPr/>
        </p:nvGrpSpPr>
        <p:grpSpPr>
          <a:xfrm>
            <a:off x="499025" y="2689499"/>
            <a:ext cx="1095301" cy="1188901"/>
            <a:chOff x="0" y="0"/>
            <a:chExt cx="1095300" cy="1188900"/>
          </a:xfrm>
        </p:grpSpPr>
        <p:sp>
          <p:nvSpPr>
            <p:cNvPr id="1118" name="Rectangle aux angles arrondis"/>
            <p:cNvSpPr/>
            <p:nvPr/>
          </p:nvSpPr>
          <p:spPr>
            <a:xfrm>
              <a:off x="0" y="0"/>
              <a:ext cx="1095301" cy="1188901"/>
            </a:xfrm>
            <a:prstGeom prst="roundRect">
              <a:avLst>
                <a:gd name="adj" fmla="val 5989"/>
              </a:avLst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119" name="Target-setting, Forecasts &amp; Performance Monitoring"/>
            <p:cNvSpPr txBox="1"/>
            <p:nvPr/>
          </p:nvSpPr>
          <p:spPr>
            <a:xfrm>
              <a:off x="19212" y="266487"/>
              <a:ext cx="1056876" cy="6559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lnSpc>
                  <a:spcPct val="121875"/>
                </a:lnSpc>
                <a:defRPr sz="7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Target-setting, Forecasts &amp; Performance Monitoring </a:t>
              </a:r>
            </a:p>
          </p:txBody>
        </p:sp>
      </p:grpSp>
      <p:sp>
        <p:nvSpPr>
          <p:cNvPr id="1121" name="Google Shape;1207;p29"/>
          <p:cNvSpPr txBox="1"/>
          <p:nvPr/>
        </p:nvSpPr>
        <p:spPr>
          <a:xfrm flipH="1" rot="10800000">
            <a:off x="1662813" y="314686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forecasts </a:t>
            </a:r>
          </a:p>
        </p:txBody>
      </p:sp>
      <p:sp>
        <p:nvSpPr>
          <p:cNvPr id="1122" name="Google Shape;1208;p29"/>
          <p:cNvSpPr txBox="1"/>
          <p:nvPr/>
        </p:nvSpPr>
        <p:spPr>
          <a:xfrm flipH="1" rot="10800000">
            <a:off x="1662813" y="329636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Bottom-up and top-down forecasts for financial planning  </a:t>
            </a:r>
          </a:p>
        </p:txBody>
      </p:sp>
      <p:sp>
        <p:nvSpPr>
          <p:cNvPr id="1123" name="Google Shape;1209;p29"/>
          <p:cNvSpPr txBox="1"/>
          <p:nvPr/>
        </p:nvSpPr>
        <p:spPr>
          <a:xfrm flipH="1" rot="10800000">
            <a:off x="1662813" y="343142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Accuracy of forecasts </a:t>
            </a:r>
          </a:p>
        </p:txBody>
      </p:sp>
      <p:sp>
        <p:nvSpPr>
          <p:cNvPr id="1124" name="Google Shape;1210;p29"/>
          <p:cNvSpPr txBox="1"/>
          <p:nvPr/>
        </p:nvSpPr>
        <p:spPr>
          <a:xfrm flipH="1" rot="10800000">
            <a:off x="1655225" y="3591175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forecast methodology</a:t>
            </a:r>
          </a:p>
        </p:txBody>
      </p:sp>
      <p:sp>
        <p:nvSpPr>
          <p:cNvPr id="1125" name="Google Shape;1211;p29"/>
          <p:cNvSpPr txBox="1"/>
          <p:nvPr/>
        </p:nvSpPr>
        <p:spPr>
          <a:xfrm flipH="1" rot="10800000">
            <a:off x="1662813" y="3750807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Monthly and Quarterly Business Reviews</a:t>
            </a:r>
          </a:p>
        </p:txBody>
      </p:sp>
      <p:sp>
        <p:nvSpPr>
          <p:cNvPr id="1126" name="Google Shape;1212;p29"/>
          <p:cNvSpPr txBox="1"/>
          <p:nvPr/>
        </p:nvSpPr>
        <p:spPr>
          <a:xfrm flipH="1" rot="10800000">
            <a:off x="1662813" y="401345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Accuracy of data in CRM</a:t>
            </a:r>
          </a:p>
        </p:txBody>
      </p:sp>
      <p:sp>
        <p:nvSpPr>
          <p:cNvPr id="1127" name="Google Shape;1213;p29"/>
          <p:cNvSpPr txBox="1"/>
          <p:nvPr/>
        </p:nvSpPr>
        <p:spPr>
          <a:xfrm flipH="1" rot="10800000">
            <a:off x="1662813" y="4183088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Data visualization</a:t>
            </a:r>
          </a:p>
        </p:txBody>
      </p:sp>
      <p:sp>
        <p:nvSpPr>
          <p:cNvPr id="1128" name="Google Shape;1214;p29"/>
          <p:cNvSpPr txBox="1"/>
          <p:nvPr/>
        </p:nvSpPr>
        <p:spPr>
          <a:xfrm flipH="1" rot="10800000">
            <a:off x="1662813" y="4345011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Automation (Outreach, OctopusCRM, Ringover)</a:t>
            </a:r>
          </a:p>
        </p:txBody>
      </p:sp>
      <p:sp>
        <p:nvSpPr>
          <p:cNvPr id="1129" name="Google Shape;1215;p29"/>
          <p:cNvSpPr txBox="1"/>
          <p:nvPr/>
        </p:nvSpPr>
        <p:spPr>
          <a:xfrm flipH="1" rot="10800000">
            <a:off x="1662824" y="4496950"/>
            <a:ext cx="19461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IP phone systems and call listening tools (Aircall, Ringover, Modjo, Gong.io, Unique)</a:t>
            </a:r>
          </a:p>
        </p:txBody>
      </p:sp>
      <p:sp>
        <p:nvSpPr>
          <p:cNvPr id="1130" name="Google Shape;1216;p29"/>
          <p:cNvSpPr txBox="1"/>
          <p:nvPr/>
        </p:nvSpPr>
        <p:spPr>
          <a:xfrm flipH="1" rot="10800000">
            <a:off x="1655212" y="4676880"/>
            <a:ext cx="2175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intelligence tools (Apollo, Zoominfo)</a:t>
            </a:r>
          </a:p>
        </p:txBody>
      </p:sp>
      <p:sp>
        <p:nvSpPr>
          <p:cNvPr id="1131" name="Google Shape;1217;p29"/>
          <p:cNvSpPr/>
          <p:nvPr/>
        </p:nvSpPr>
        <p:spPr>
          <a:xfrm>
            <a:off x="4325111" y="173156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32" name="Google Shape;1218;p29"/>
          <p:cNvSpPr/>
          <p:nvPr/>
        </p:nvSpPr>
        <p:spPr>
          <a:xfrm>
            <a:off x="4325111" y="172977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33" name="Google Shape;1219;p29"/>
          <p:cNvSpPr/>
          <p:nvPr/>
        </p:nvSpPr>
        <p:spPr>
          <a:xfrm>
            <a:off x="4325111" y="1886363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34" name="Google Shape;1220;p29"/>
          <p:cNvSpPr/>
          <p:nvPr/>
        </p:nvSpPr>
        <p:spPr>
          <a:xfrm>
            <a:off x="4325111" y="188112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35" name="Google Shape;1221;p29"/>
          <p:cNvSpPr/>
          <p:nvPr/>
        </p:nvSpPr>
        <p:spPr>
          <a:xfrm>
            <a:off x="4325111" y="203299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36" name="Google Shape;1222;p29"/>
          <p:cNvSpPr/>
          <p:nvPr/>
        </p:nvSpPr>
        <p:spPr>
          <a:xfrm>
            <a:off x="4325111" y="203120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37" name="Google Shape;1223;p29"/>
          <p:cNvSpPr/>
          <p:nvPr/>
        </p:nvSpPr>
        <p:spPr>
          <a:xfrm>
            <a:off x="4325111" y="218452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38" name="Google Shape;1224;p29"/>
          <p:cNvSpPr/>
          <p:nvPr/>
        </p:nvSpPr>
        <p:spPr>
          <a:xfrm>
            <a:off x="4325111" y="2182734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39" name="Google Shape;1225;p29"/>
          <p:cNvSpPr/>
          <p:nvPr/>
        </p:nvSpPr>
        <p:spPr>
          <a:xfrm>
            <a:off x="4325111" y="232352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40" name="Google Shape;1226;p29"/>
          <p:cNvSpPr/>
          <p:nvPr/>
        </p:nvSpPr>
        <p:spPr>
          <a:xfrm>
            <a:off x="4325111" y="2321736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41" name="Google Shape;1227;p29"/>
          <p:cNvSpPr/>
          <p:nvPr/>
        </p:nvSpPr>
        <p:spPr>
          <a:xfrm>
            <a:off x="4325111" y="2483754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42" name="Google Shape;1228;p29"/>
          <p:cNvSpPr/>
          <p:nvPr/>
        </p:nvSpPr>
        <p:spPr>
          <a:xfrm>
            <a:off x="4325111" y="2481965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43" name="Google Shape;1229;p29"/>
          <p:cNvSpPr/>
          <p:nvPr/>
        </p:nvSpPr>
        <p:spPr>
          <a:xfrm>
            <a:off x="4325111" y="271426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44" name="Google Shape;1230;p29"/>
          <p:cNvSpPr/>
          <p:nvPr/>
        </p:nvSpPr>
        <p:spPr>
          <a:xfrm>
            <a:off x="4325111" y="271248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45" name="Google Shape;1231;p29"/>
          <p:cNvSpPr/>
          <p:nvPr/>
        </p:nvSpPr>
        <p:spPr>
          <a:xfrm>
            <a:off x="4325111" y="286231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46" name="Google Shape;1232;p29"/>
          <p:cNvSpPr/>
          <p:nvPr/>
        </p:nvSpPr>
        <p:spPr>
          <a:xfrm>
            <a:off x="4325111" y="286053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47" name="Google Shape;1233;p29"/>
          <p:cNvSpPr/>
          <p:nvPr/>
        </p:nvSpPr>
        <p:spPr>
          <a:xfrm>
            <a:off x="4325111" y="3001109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48" name="Google Shape;1234;p29"/>
          <p:cNvSpPr/>
          <p:nvPr/>
        </p:nvSpPr>
        <p:spPr>
          <a:xfrm>
            <a:off x="4325111" y="2999321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49" name="Google Shape;1235;p29"/>
          <p:cNvSpPr/>
          <p:nvPr/>
        </p:nvSpPr>
        <p:spPr>
          <a:xfrm>
            <a:off x="4325111" y="3156110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50" name="Google Shape;1236;p29"/>
          <p:cNvSpPr/>
          <p:nvPr/>
        </p:nvSpPr>
        <p:spPr>
          <a:xfrm>
            <a:off x="4325111" y="3154322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51" name="Google Shape;1237;p29"/>
          <p:cNvSpPr/>
          <p:nvPr/>
        </p:nvSpPr>
        <p:spPr>
          <a:xfrm>
            <a:off x="4325111" y="3306262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52" name="Google Shape;1238;p29"/>
          <p:cNvSpPr/>
          <p:nvPr/>
        </p:nvSpPr>
        <p:spPr>
          <a:xfrm>
            <a:off x="4325111" y="330447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53" name="Google Shape;1239;p29"/>
          <p:cNvSpPr/>
          <p:nvPr/>
        </p:nvSpPr>
        <p:spPr>
          <a:xfrm>
            <a:off x="4325111" y="3442446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54" name="Google Shape;1240;p29"/>
          <p:cNvSpPr/>
          <p:nvPr/>
        </p:nvSpPr>
        <p:spPr>
          <a:xfrm>
            <a:off x="4325111" y="344065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55" name="Google Shape;1241;p29"/>
          <p:cNvSpPr/>
          <p:nvPr/>
        </p:nvSpPr>
        <p:spPr>
          <a:xfrm>
            <a:off x="4325111" y="3596525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56" name="Google Shape;1242;p29"/>
          <p:cNvSpPr/>
          <p:nvPr/>
        </p:nvSpPr>
        <p:spPr>
          <a:xfrm>
            <a:off x="4325111" y="3594737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57" name="Google Shape;1243;p29"/>
          <p:cNvSpPr/>
          <p:nvPr/>
        </p:nvSpPr>
        <p:spPr>
          <a:xfrm>
            <a:off x="4325111" y="375969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58" name="Google Shape;1244;p29"/>
          <p:cNvSpPr/>
          <p:nvPr/>
        </p:nvSpPr>
        <p:spPr>
          <a:xfrm>
            <a:off x="4325111" y="3757910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59" name="Google Shape;1245;p29"/>
          <p:cNvSpPr/>
          <p:nvPr/>
        </p:nvSpPr>
        <p:spPr>
          <a:xfrm>
            <a:off x="4325111" y="4025181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60" name="Google Shape;1246;p29"/>
          <p:cNvSpPr/>
          <p:nvPr/>
        </p:nvSpPr>
        <p:spPr>
          <a:xfrm>
            <a:off x="4325111" y="4023393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61" name="Google Shape;1247;p29"/>
          <p:cNvSpPr/>
          <p:nvPr/>
        </p:nvSpPr>
        <p:spPr>
          <a:xfrm>
            <a:off x="4325111" y="419485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62" name="Google Shape;1248;p29"/>
          <p:cNvSpPr/>
          <p:nvPr/>
        </p:nvSpPr>
        <p:spPr>
          <a:xfrm>
            <a:off x="4325111" y="419306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63" name="Google Shape;1249;p29"/>
          <p:cNvSpPr/>
          <p:nvPr/>
        </p:nvSpPr>
        <p:spPr>
          <a:xfrm>
            <a:off x="4325111" y="4353407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64" name="Google Shape;1250;p29"/>
          <p:cNvSpPr/>
          <p:nvPr/>
        </p:nvSpPr>
        <p:spPr>
          <a:xfrm>
            <a:off x="4325111" y="435161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65" name="Google Shape;1251;p29"/>
          <p:cNvSpPr/>
          <p:nvPr/>
        </p:nvSpPr>
        <p:spPr>
          <a:xfrm>
            <a:off x="4325111" y="4521336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66" name="Google Shape;1252;p29"/>
          <p:cNvSpPr/>
          <p:nvPr/>
        </p:nvSpPr>
        <p:spPr>
          <a:xfrm>
            <a:off x="4325111" y="4519548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67" name="Google Shape;1253;p29"/>
          <p:cNvSpPr/>
          <p:nvPr/>
        </p:nvSpPr>
        <p:spPr>
          <a:xfrm>
            <a:off x="4325111" y="4686548"/>
            <a:ext cx="108001" cy="108001"/>
          </a:xfrm>
          <a:prstGeom prst="ellipse">
            <a:avLst/>
          </a:prstGeom>
          <a:solidFill>
            <a:srgbClr val="DDC7C7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68" name="Google Shape;1254;p29"/>
          <p:cNvSpPr/>
          <p:nvPr/>
        </p:nvSpPr>
        <p:spPr>
          <a:xfrm>
            <a:off x="4325111" y="4684760"/>
            <a:ext cx="108001" cy="1080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0" dir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6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169" name="Google Shape;1255;p29"/>
          <p:cNvSpPr txBox="1"/>
          <p:nvPr/>
        </p:nvSpPr>
        <p:spPr>
          <a:xfrm>
            <a:off x="2890211" y="754436"/>
            <a:ext cx="3030602" cy="41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768095">
              <a:defRPr b="1" sz="1512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1170" name="Google Shape;1256;p29"/>
          <p:cNvSpPr txBox="1"/>
          <p:nvPr/>
        </p:nvSpPr>
        <p:spPr>
          <a:xfrm>
            <a:off x="8453587" y="792474"/>
            <a:ext cx="335401" cy="30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b="1" sz="600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X.X</a:t>
            </a:r>
          </a:p>
        </p:txBody>
      </p:sp>
      <p:sp>
        <p:nvSpPr>
          <p:cNvPr id="1171" name="Google Shape;1257;p29"/>
          <p:cNvSpPr txBox="1"/>
          <p:nvPr/>
        </p:nvSpPr>
        <p:spPr>
          <a:xfrm>
            <a:off x="3830575" y="1238843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72" name="Google Shape;1258;p29"/>
          <p:cNvSpPr txBox="1"/>
          <p:nvPr/>
        </p:nvSpPr>
        <p:spPr>
          <a:xfrm>
            <a:off x="405308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73" name="Google Shape;1259;p29"/>
          <p:cNvSpPr txBox="1"/>
          <p:nvPr/>
        </p:nvSpPr>
        <p:spPr>
          <a:xfrm>
            <a:off x="4268637" y="1240725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74" name="Google Shape;1260;p29"/>
          <p:cNvSpPr txBox="1"/>
          <p:nvPr/>
        </p:nvSpPr>
        <p:spPr>
          <a:xfrm>
            <a:off x="4487662" y="1238849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75" name="Google Shape;1261;p29"/>
          <p:cNvSpPr txBox="1"/>
          <p:nvPr/>
        </p:nvSpPr>
        <p:spPr>
          <a:xfrm>
            <a:off x="4706713" y="1243936"/>
            <a:ext cx="219301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800">
                <a:solidFill>
                  <a:schemeClr val="accent2">
                    <a:lumOff val="21764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1180" name="Google Shape;1288;p29"/>
          <p:cNvGrpSpPr/>
          <p:nvPr/>
        </p:nvGrpSpPr>
        <p:grpSpPr>
          <a:xfrm>
            <a:off x="353225" y="4944834"/>
            <a:ext cx="2346525" cy="167513"/>
            <a:chOff x="0" y="0"/>
            <a:chExt cx="2346523" cy="167512"/>
          </a:xfrm>
        </p:grpSpPr>
        <p:sp>
          <p:nvSpPr>
            <p:cNvPr id="1176" name="Google Shape;1289;p29"/>
            <p:cNvSpPr txBox="1"/>
            <p:nvPr/>
          </p:nvSpPr>
          <p:spPr>
            <a:xfrm>
              <a:off x="138524" y="1450"/>
              <a:ext cx="857400" cy="144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Atscale assessment</a:t>
              </a:r>
            </a:p>
          </p:txBody>
        </p:sp>
        <p:sp>
          <p:nvSpPr>
            <p:cNvPr id="1177" name="Google Shape;1290;p29"/>
            <p:cNvSpPr txBox="1"/>
            <p:nvPr/>
          </p:nvSpPr>
          <p:spPr>
            <a:xfrm>
              <a:off x="1175924" y="0"/>
              <a:ext cx="1170600" cy="14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</a:pPr>
              <a:endParaRPr sz="500">
                <a:latin typeface="Poppins"/>
                <a:ea typeface="Poppins"/>
                <a:cs typeface="Poppins"/>
                <a:sym typeface="Poppins"/>
              </a:endParaRPr>
            </a:p>
            <a:p>
              <a:pPr>
                <a:lnSpc>
                  <a:spcPct val="90000"/>
                </a:lnSpc>
                <a:defRPr sz="500">
                  <a:latin typeface="Poppins"/>
                  <a:ea typeface="Poppins"/>
                  <a:cs typeface="Poppins"/>
                  <a:sym typeface="Poppins"/>
                </a:defRPr>
              </a:pPr>
              <a:r>
                <a:t>[CLIENT] self-assessment</a:t>
              </a:r>
            </a:p>
          </p:txBody>
        </p:sp>
        <p:sp>
          <p:nvSpPr>
            <p:cNvPr id="1178" name="Google Shape;1291;p29"/>
            <p:cNvSpPr/>
            <p:nvPr/>
          </p:nvSpPr>
          <p:spPr>
            <a:xfrm>
              <a:off x="1054074" y="59512"/>
              <a:ext cx="108001" cy="108001"/>
            </a:xfrm>
            <a:prstGeom prst="ellipse">
              <a:avLst/>
            </a:prstGeom>
            <a:solidFill>
              <a:srgbClr val="DDC7C7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  <p:sp>
          <p:nvSpPr>
            <p:cNvPr id="1179" name="Google Shape;1292;p29"/>
            <p:cNvSpPr/>
            <p:nvPr/>
          </p:nvSpPr>
          <p:spPr>
            <a:xfrm>
              <a:off x="0" y="59512"/>
              <a:ext cx="108000" cy="108001"/>
            </a:xfrm>
            <a:prstGeom prst="ellipse">
              <a:avLst/>
            </a:prstGeom>
            <a:solidFill>
              <a:srgbClr val="BDD3F3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63500" dist="0" dir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600">
                  <a:latin typeface="Poppins"/>
                  <a:ea typeface="Poppins"/>
                  <a:cs typeface="Poppins"/>
                  <a:sym typeface="Poppins"/>
                </a:defRPr>
              </a:pPr>
            </a:p>
          </p:txBody>
        </p:sp>
      </p:grpSp>
      <p:sp>
        <p:nvSpPr>
          <p:cNvPr id="1181" name="Google Shape;1299;p29"/>
          <p:cNvSpPr/>
          <p:nvPr/>
        </p:nvSpPr>
        <p:spPr>
          <a:xfrm>
            <a:off x="4961875" y="1703851"/>
            <a:ext cx="3950101" cy="4185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1182" name="Google Shape;1300;p29"/>
          <p:cNvSpPr/>
          <p:nvPr/>
        </p:nvSpPr>
        <p:spPr>
          <a:xfrm>
            <a:off x="4961875" y="2317900"/>
            <a:ext cx="3950101" cy="4185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1183" name="Google Shape;1301;p29"/>
          <p:cNvSpPr/>
          <p:nvPr/>
        </p:nvSpPr>
        <p:spPr>
          <a:xfrm>
            <a:off x="4971800" y="2969074"/>
            <a:ext cx="3950101" cy="445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1184" name="Google Shape;1302;p29"/>
          <p:cNvSpPr/>
          <p:nvPr/>
        </p:nvSpPr>
        <p:spPr>
          <a:xfrm>
            <a:off x="4971800" y="3638837"/>
            <a:ext cx="3950101" cy="4458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  <p:sp>
        <p:nvSpPr>
          <p:cNvPr id="1185" name="Google Shape;1303;p29"/>
          <p:cNvSpPr/>
          <p:nvPr/>
        </p:nvSpPr>
        <p:spPr>
          <a:xfrm>
            <a:off x="4971800" y="4537950"/>
            <a:ext cx="3950101" cy="4185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0000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309;p30"/>
          <p:cNvSpPr txBox="1"/>
          <p:nvPr>
            <p:ph type="ctrTitle"/>
          </p:nvPr>
        </p:nvSpPr>
        <p:spPr>
          <a:xfrm>
            <a:off x="483602" y="638424"/>
            <a:ext cx="8272499" cy="56520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8 Building Blocks have to be mastered to achieve profitable growth </a:t>
            </a:r>
          </a:p>
        </p:txBody>
      </p:sp>
      <p:sp>
        <p:nvSpPr>
          <p:cNvPr id="1188" name="Google Shape;1310;p30"/>
          <p:cNvSpPr/>
          <p:nvPr/>
        </p:nvSpPr>
        <p:spPr>
          <a:xfrm>
            <a:off x="779561" y="1138686"/>
            <a:ext cx="1664401" cy="1"/>
          </a:xfrm>
          <a:prstGeom prst="line">
            <a:avLst/>
          </a:prstGeom>
          <a:ln>
            <a:solidFill>
              <a:srgbClr val="2A41E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89" name="Google Shape;1311;p30"/>
          <p:cNvSpPr txBox="1"/>
          <p:nvPr/>
        </p:nvSpPr>
        <p:spPr>
          <a:xfrm>
            <a:off x="861199" y="2110923"/>
            <a:ext cx="936601" cy="30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9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Sales Reps Excellence</a:t>
            </a:r>
          </a:p>
        </p:txBody>
      </p:sp>
      <p:sp>
        <p:nvSpPr>
          <p:cNvPr id="1190" name="Google Shape;1312;p30"/>
          <p:cNvSpPr txBox="1"/>
          <p:nvPr/>
        </p:nvSpPr>
        <p:spPr>
          <a:xfrm>
            <a:off x="861199" y="3723078"/>
            <a:ext cx="936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9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Sales engine</a:t>
            </a:r>
          </a:p>
        </p:txBody>
      </p:sp>
      <p:sp>
        <p:nvSpPr>
          <p:cNvPr id="1191" name="Google Shape;1313;p30"/>
          <p:cNvSpPr txBox="1"/>
          <p:nvPr/>
        </p:nvSpPr>
        <p:spPr>
          <a:xfrm>
            <a:off x="2321161" y="1779086"/>
            <a:ext cx="881101" cy="28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Hiring &amp; Ramp-up</a:t>
            </a:r>
          </a:p>
        </p:txBody>
      </p:sp>
      <p:sp>
        <p:nvSpPr>
          <p:cNvPr id="1192" name="Google Shape;1314;p30"/>
          <p:cNvSpPr txBox="1"/>
          <p:nvPr/>
        </p:nvSpPr>
        <p:spPr>
          <a:xfrm>
            <a:off x="3580381" y="1856477"/>
            <a:ext cx="8811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Enablement</a:t>
            </a:r>
          </a:p>
        </p:txBody>
      </p:sp>
      <p:sp>
        <p:nvSpPr>
          <p:cNvPr id="1193" name="Google Shape;1315;p30"/>
          <p:cNvSpPr txBox="1"/>
          <p:nvPr/>
        </p:nvSpPr>
        <p:spPr>
          <a:xfrm>
            <a:off x="4854014" y="1788705"/>
            <a:ext cx="1010101" cy="28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pPr>
            <a:r>
              <a:t>Sales Performance</a:t>
            </a:r>
          </a:p>
          <a:p>
            <a: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pPr>
            <a:r>
              <a:t>management</a:t>
            </a:r>
          </a:p>
        </p:txBody>
      </p:sp>
      <p:sp>
        <p:nvSpPr>
          <p:cNvPr id="1194" name="Google Shape;1316;p30"/>
          <p:cNvSpPr txBox="1"/>
          <p:nvPr/>
        </p:nvSpPr>
        <p:spPr>
          <a:xfrm>
            <a:off x="3164439" y="2508250"/>
            <a:ext cx="16047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Talent Management</a:t>
            </a:r>
          </a:p>
        </p:txBody>
      </p:sp>
      <p:sp>
        <p:nvSpPr>
          <p:cNvPr id="1195" name="Google Shape;1317;p30"/>
          <p:cNvSpPr txBox="1"/>
          <p:nvPr/>
        </p:nvSpPr>
        <p:spPr>
          <a:xfrm>
            <a:off x="2316864" y="3353361"/>
            <a:ext cx="881101" cy="28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Demand Generation</a:t>
            </a:r>
          </a:p>
        </p:txBody>
      </p:sp>
      <p:sp>
        <p:nvSpPr>
          <p:cNvPr id="1196" name="Google Shape;1318;p30"/>
          <p:cNvSpPr txBox="1"/>
          <p:nvPr/>
        </p:nvSpPr>
        <p:spPr>
          <a:xfrm>
            <a:off x="3576084" y="3430752"/>
            <a:ext cx="8811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Execution</a:t>
            </a:r>
          </a:p>
        </p:txBody>
      </p:sp>
      <p:sp>
        <p:nvSpPr>
          <p:cNvPr id="1197" name="Google Shape;1319;p30"/>
          <p:cNvSpPr txBox="1"/>
          <p:nvPr/>
        </p:nvSpPr>
        <p:spPr>
          <a:xfrm>
            <a:off x="4849719" y="3440370"/>
            <a:ext cx="10101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Client relationship</a:t>
            </a:r>
          </a:p>
        </p:txBody>
      </p:sp>
      <p:sp>
        <p:nvSpPr>
          <p:cNvPr id="1198" name="Google Shape;1320;p30"/>
          <p:cNvSpPr txBox="1"/>
          <p:nvPr/>
        </p:nvSpPr>
        <p:spPr>
          <a:xfrm>
            <a:off x="3160142" y="4082525"/>
            <a:ext cx="16047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Revenue Operations</a:t>
            </a:r>
          </a:p>
        </p:txBody>
      </p:sp>
      <p:pic>
        <p:nvPicPr>
          <p:cNvPr id="1199" name="ATSCALE IBIZA467.jpgGoogle Shape;1321;p30" descr="ATSCALE IBIZA467.jpgGoogle Shape;1321;p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63450" y="1299149"/>
            <a:ext cx="2292601" cy="3437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0" y="0"/>
                </a:moveTo>
                <a:cubicBezTo>
                  <a:pt x="193" y="0"/>
                  <a:pt x="0" y="129"/>
                  <a:pt x="0" y="287"/>
                </a:cubicBezTo>
                <a:lnTo>
                  <a:pt x="0" y="21313"/>
                </a:lnTo>
                <a:cubicBezTo>
                  <a:pt x="0" y="21471"/>
                  <a:pt x="193" y="21600"/>
                  <a:pt x="430" y="21600"/>
                </a:cubicBezTo>
                <a:lnTo>
                  <a:pt x="21170" y="21600"/>
                </a:lnTo>
                <a:cubicBezTo>
                  <a:pt x="21407" y="21600"/>
                  <a:pt x="21600" y="21471"/>
                  <a:pt x="21600" y="21313"/>
                </a:cubicBezTo>
                <a:lnTo>
                  <a:pt x="21600" y="287"/>
                </a:lnTo>
                <a:cubicBezTo>
                  <a:pt x="21600" y="129"/>
                  <a:pt x="21407" y="0"/>
                  <a:pt x="21170" y="0"/>
                </a:cubicBezTo>
                <a:lnTo>
                  <a:pt x="43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200" name="Google Shape;1322;p30"/>
          <p:cNvSpPr/>
          <p:nvPr/>
        </p:nvSpPr>
        <p:spPr>
          <a:xfrm>
            <a:off x="398150" y="1299149"/>
            <a:ext cx="5931301" cy="1706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1" y="0"/>
                </a:moveTo>
                <a:lnTo>
                  <a:pt x="21459" y="0"/>
                </a:lnTo>
                <a:cubicBezTo>
                  <a:pt x="21537" y="0"/>
                  <a:pt x="21600" y="220"/>
                  <a:pt x="21600" y="492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492"/>
                </a:lnTo>
                <a:cubicBezTo>
                  <a:pt x="0" y="220"/>
                  <a:pt x="63" y="0"/>
                  <a:pt x="141" y="0"/>
                </a:cubicBezTo>
                <a:close/>
              </a:path>
            </a:pathLst>
          </a:custGeom>
          <a:solidFill>
            <a:srgbClr val="EEEEEE">
              <a:alpha val="5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201" name="Logo_atscale_sans texture.pngGoogle Shape;1323;p30" descr="Logo_atscale_sans texture.pngGoogle Shape;1323;p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1202" name="Google Shape;1324;p30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03" name="Google Shape;1325;p30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Diagnosis Restitution</a:t>
            </a:r>
          </a:p>
        </p:txBody>
      </p:sp>
      <p:pic>
        <p:nvPicPr>
          <p:cNvPr id="1204" name="ATSCALE IBIZA477.jpgGoogle Shape;1326;p30" descr="ATSCALE IBIZA477.jpgGoogle Shape;1326;p30"/>
          <p:cNvPicPr>
            <a:picLocks noChangeAspect="1"/>
          </p:cNvPicPr>
          <p:nvPr/>
        </p:nvPicPr>
        <p:blipFill>
          <a:blip r:embed="rId5">
            <a:extLst/>
          </a:blip>
          <a:srcRect l="20477" t="0" r="35044" b="0"/>
          <a:stretch>
            <a:fillRect/>
          </a:stretch>
        </p:blipFill>
        <p:spPr>
          <a:xfrm>
            <a:off x="6463724" y="1299149"/>
            <a:ext cx="2292748" cy="3437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86" y="0"/>
                </a:moveTo>
                <a:cubicBezTo>
                  <a:pt x="396" y="0"/>
                  <a:pt x="0" y="264"/>
                  <a:pt x="0" y="591"/>
                </a:cubicBezTo>
                <a:lnTo>
                  <a:pt x="0" y="21009"/>
                </a:lnTo>
                <a:cubicBezTo>
                  <a:pt x="0" y="21336"/>
                  <a:pt x="396" y="21600"/>
                  <a:pt x="886" y="21600"/>
                </a:cubicBezTo>
                <a:lnTo>
                  <a:pt x="20714" y="21600"/>
                </a:lnTo>
                <a:cubicBezTo>
                  <a:pt x="21204" y="21600"/>
                  <a:pt x="21600" y="21336"/>
                  <a:pt x="21600" y="21009"/>
                </a:cubicBezTo>
                <a:lnTo>
                  <a:pt x="21600" y="591"/>
                </a:lnTo>
                <a:cubicBezTo>
                  <a:pt x="21600" y="264"/>
                  <a:pt x="21204" y="0"/>
                  <a:pt x="20714" y="0"/>
                </a:cubicBezTo>
                <a:lnTo>
                  <a:pt x="886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Logo_atscale_sans texture.pngGoogle Shape;1331;p31" descr="Logo_atscale_sans texture.pngGoogle Shape;1331;p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1207" name="Google Shape;1332;p31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08" name="Google Shape;1333;p31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1209" name="Google Shape;1334;p31"/>
          <p:cNvSpPr txBox="1"/>
          <p:nvPr/>
        </p:nvSpPr>
        <p:spPr>
          <a:xfrm>
            <a:off x="1064393" y="1574301"/>
            <a:ext cx="23889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Introduction</a:t>
            </a:r>
          </a:p>
        </p:txBody>
      </p:sp>
      <p:pic>
        <p:nvPicPr>
          <p:cNvPr id="1210" name="Hexagone.pngGoogle Shape;1335;p31" descr="Hexagone.pngGoogle Shape;1335;p3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225376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211" name="Google Shape;1336;p31"/>
          <p:cNvSpPr txBox="1"/>
          <p:nvPr>
            <p:ph type="ctrTitle"/>
          </p:nvPr>
        </p:nvSpPr>
        <p:spPr>
          <a:xfrm>
            <a:off x="621584" y="2258927"/>
            <a:ext cx="277801" cy="354901"/>
          </a:xfrm>
          <a:prstGeom prst="rect">
            <a:avLst/>
          </a:prstGeom>
        </p:spPr>
        <p:txBody>
          <a:bodyPr lIns="51750" tIns="51750" rIns="51750" bIns="51750"/>
          <a:lstStyle>
            <a:lvl1pPr algn="l">
              <a:defRPr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1212" name="Hexagone.pngGoogle Shape;1337;p31" descr="Hexagone.pngGoogle Shape;1337;p3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301811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213" name="Google Shape;1338;p31"/>
          <p:cNvSpPr txBox="1"/>
          <p:nvPr/>
        </p:nvSpPr>
        <p:spPr>
          <a:xfrm>
            <a:off x="621584" y="3023277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214" name="Hexagone.pngGoogle Shape;1339;p31" descr="Hexagone.pngGoogle Shape;1339;p3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3778691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215" name="Google Shape;1340;p31"/>
          <p:cNvSpPr txBox="1"/>
          <p:nvPr/>
        </p:nvSpPr>
        <p:spPr>
          <a:xfrm>
            <a:off x="609373" y="3783851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16" name="Google Shape;1341;p31"/>
          <p:cNvSpPr txBox="1"/>
          <p:nvPr/>
        </p:nvSpPr>
        <p:spPr>
          <a:xfrm>
            <a:off x="1064400" y="2310901"/>
            <a:ext cx="23889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Revenue Audit findings </a:t>
            </a:r>
          </a:p>
        </p:txBody>
      </p:sp>
      <p:sp>
        <p:nvSpPr>
          <p:cNvPr id="1217" name="Google Shape;1342;p31"/>
          <p:cNvSpPr txBox="1"/>
          <p:nvPr/>
        </p:nvSpPr>
        <p:spPr>
          <a:xfrm>
            <a:off x="1064400" y="3014549"/>
            <a:ext cx="3424500" cy="476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Competency-Gap Analysis per Building Block</a:t>
            </a:r>
          </a:p>
        </p:txBody>
      </p:sp>
      <p:sp>
        <p:nvSpPr>
          <p:cNvPr id="1218" name="Google Shape;1343;p31"/>
          <p:cNvSpPr txBox="1"/>
          <p:nvPr/>
        </p:nvSpPr>
        <p:spPr>
          <a:xfrm>
            <a:off x="1064399" y="3827950"/>
            <a:ext cx="32055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6-month Roadmap</a:t>
            </a:r>
          </a:p>
        </p:txBody>
      </p:sp>
      <p:pic>
        <p:nvPicPr>
          <p:cNvPr id="1219" name="Hexagone.pngGoogle Shape;1344;p31" descr="Hexagone.pngGoogle Shape;1344;p3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148941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220" name="Google Shape;1345;p31"/>
          <p:cNvSpPr txBox="1"/>
          <p:nvPr/>
        </p:nvSpPr>
        <p:spPr>
          <a:xfrm>
            <a:off x="639902" y="1494576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350;p32"/>
          <p:cNvGrpSpPr/>
          <p:nvPr/>
        </p:nvGrpSpPr>
        <p:grpSpPr>
          <a:xfrm>
            <a:off x="1575224" y="4503125"/>
            <a:ext cx="2277301" cy="273601"/>
            <a:chOff x="0" y="0"/>
            <a:chExt cx="2277299" cy="273599"/>
          </a:xfrm>
        </p:grpSpPr>
        <p:sp>
          <p:nvSpPr>
            <p:cNvPr id="1222" name="Rectangle aux angles arrondis"/>
            <p:cNvSpPr/>
            <p:nvPr/>
          </p:nvSpPr>
          <p:spPr>
            <a:xfrm>
              <a:off x="0" y="0"/>
              <a:ext cx="2277300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23" name="Go-to market &amp; process"/>
            <p:cNvSpPr txBox="1"/>
            <p:nvPr/>
          </p:nvSpPr>
          <p:spPr>
            <a:xfrm>
              <a:off x="13355" y="20349"/>
              <a:ext cx="2250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Go-to market &amp; process</a:t>
              </a:r>
            </a:p>
          </p:txBody>
        </p:sp>
      </p:grpSp>
      <p:grpSp>
        <p:nvGrpSpPr>
          <p:cNvPr id="1227" name="Google Shape;1351;p32"/>
          <p:cNvGrpSpPr/>
          <p:nvPr/>
        </p:nvGrpSpPr>
        <p:grpSpPr>
          <a:xfrm>
            <a:off x="3873274" y="4503275"/>
            <a:ext cx="2277301" cy="273601"/>
            <a:chOff x="0" y="0"/>
            <a:chExt cx="2277299" cy="273599"/>
          </a:xfrm>
        </p:grpSpPr>
        <p:sp>
          <p:nvSpPr>
            <p:cNvPr id="1225" name="Rectangle aux angles arrondis"/>
            <p:cNvSpPr/>
            <p:nvPr/>
          </p:nvSpPr>
          <p:spPr>
            <a:xfrm>
              <a:off x="0" y="0"/>
              <a:ext cx="2277300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26" name="Target-Setting, Compensation Plans, Forecasts"/>
            <p:cNvSpPr txBox="1"/>
            <p:nvPr/>
          </p:nvSpPr>
          <p:spPr>
            <a:xfrm>
              <a:off x="13355" y="20349"/>
              <a:ext cx="2250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Target-Setting, Compensation Plans, Forecasts </a:t>
              </a:r>
            </a:p>
          </p:txBody>
        </p:sp>
      </p:grpSp>
      <p:grpSp>
        <p:nvGrpSpPr>
          <p:cNvPr id="1230" name="Google Shape;1352;p32"/>
          <p:cNvGrpSpPr/>
          <p:nvPr/>
        </p:nvGrpSpPr>
        <p:grpSpPr>
          <a:xfrm>
            <a:off x="6171324" y="4503125"/>
            <a:ext cx="2277301" cy="273601"/>
            <a:chOff x="0" y="0"/>
            <a:chExt cx="2277299" cy="273599"/>
          </a:xfrm>
        </p:grpSpPr>
        <p:sp>
          <p:nvSpPr>
            <p:cNvPr id="1228" name="Rectangle aux angles arrondis"/>
            <p:cNvSpPr/>
            <p:nvPr/>
          </p:nvSpPr>
          <p:spPr>
            <a:xfrm>
              <a:off x="0" y="0"/>
              <a:ext cx="2277300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29" name="Sales Toolstack"/>
            <p:cNvSpPr txBox="1"/>
            <p:nvPr/>
          </p:nvSpPr>
          <p:spPr>
            <a:xfrm>
              <a:off x="13355" y="20349"/>
              <a:ext cx="2250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Toolstack</a:t>
              </a:r>
            </a:p>
          </p:txBody>
        </p:sp>
      </p:grpSp>
      <p:grpSp>
        <p:nvGrpSpPr>
          <p:cNvPr id="1233" name="Google Shape;1353;p32"/>
          <p:cNvGrpSpPr/>
          <p:nvPr/>
        </p:nvGrpSpPr>
        <p:grpSpPr>
          <a:xfrm>
            <a:off x="6334838" y="3799113"/>
            <a:ext cx="2082301" cy="273601"/>
            <a:chOff x="0" y="0"/>
            <a:chExt cx="2082300" cy="273599"/>
          </a:xfrm>
        </p:grpSpPr>
        <p:sp>
          <p:nvSpPr>
            <p:cNvPr id="1231" name="Rectangle aux angles arrondis"/>
            <p:cNvSpPr/>
            <p:nvPr/>
          </p:nvSpPr>
          <p:spPr>
            <a:xfrm>
              <a:off x="0" y="0"/>
              <a:ext cx="20823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32" name="Portfolio Growth &amp; Churn Prevention"/>
            <p:cNvSpPr txBox="1"/>
            <p:nvPr/>
          </p:nvSpPr>
          <p:spPr>
            <a:xfrm>
              <a:off x="13355" y="20349"/>
              <a:ext cx="2055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Portfolio Growth &amp; Churn Prevention</a:t>
              </a:r>
            </a:p>
          </p:txBody>
        </p:sp>
      </p:grpSp>
      <p:grpSp>
        <p:nvGrpSpPr>
          <p:cNvPr id="1236" name="Google Shape;1354;p32"/>
          <p:cNvGrpSpPr/>
          <p:nvPr/>
        </p:nvGrpSpPr>
        <p:grpSpPr>
          <a:xfrm>
            <a:off x="6334812" y="3501413"/>
            <a:ext cx="1029601" cy="273601"/>
            <a:chOff x="0" y="0"/>
            <a:chExt cx="1029600" cy="273599"/>
          </a:xfrm>
        </p:grpSpPr>
        <p:sp>
          <p:nvSpPr>
            <p:cNvPr id="1234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35" name="Client Territory Planning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Client Territory Planning</a:t>
              </a:r>
            </a:p>
          </p:txBody>
        </p:sp>
      </p:grpSp>
      <p:grpSp>
        <p:nvGrpSpPr>
          <p:cNvPr id="1239" name="Google Shape;1355;p32"/>
          <p:cNvGrpSpPr/>
          <p:nvPr/>
        </p:nvGrpSpPr>
        <p:grpSpPr>
          <a:xfrm>
            <a:off x="7388162" y="3467589"/>
            <a:ext cx="1029602" cy="341248"/>
            <a:chOff x="0" y="0"/>
            <a:chExt cx="1029600" cy="341246"/>
          </a:xfrm>
        </p:grpSpPr>
        <p:sp>
          <p:nvSpPr>
            <p:cNvPr id="1237" name="Rectangle aux angles arrondis"/>
            <p:cNvSpPr/>
            <p:nvPr/>
          </p:nvSpPr>
          <p:spPr>
            <a:xfrm>
              <a:off x="0" y="33823"/>
              <a:ext cx="1029601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38" name="Outreach Strategy, SLAs &amp; Quotas"/>
            <p:cNvSpPr txBox="1"/>
            <p:nvPr/>
          </p:nvSpPr>
          <p:spPr>
            <a:xfrm>
              <a:off x="13355" y="0"/>
              <a:ext cx="10028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Outreach Strategy, SLAs &amp; Quotas</a:t>
              </a:r>
            </a:p>
          </p:txBody>
        </p:sp>
      </p:grpSp>
      <p:grpSp>
        <p:nvGrpSpPr>
          <p:cNvPr id="1242" name="Google Shape;1356;p32"/>
          <p:cNvGrpSpPr/>
          <p:nvPr/>
        </p:nvGrpSpPr>
        <p:grpSpPr>
          <a:xfrm>
            <a:off x="3953024" y="3799275"/>
            <a:ext cx="681301" cy="273601"/>
            <a:chOff x="0" y="0"/>
            <a:chExt cx="681299" cy="273599"/>
          </a:xfrm>
        </p:grpSpPr>
        <p:sp>
          <p:nvSpPr>
            <p:cNvPr id="1240" name="Rectangle aux angles arrondis"/>
            <p:cNvSpPr/>
            <p:nvPr/>
          </p:nvSpPr>
          <p:spPr>
            <a:xfrm>
              <a:off x="0" y="0"/>
              <a:ext cx="681300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41" name="Demo"/>
            <p:cNvSpPr txBox="1"/>
            <p:nvPr/>
          </p:nvSpPr>
          <p:spPr>
            <a:xfrm>
              <a:off x="13355" y="20349"/>
              <a:ext cx="654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Demo</a:t>
              </a:r>
            </a:p>
          </p:txBody>
        </p:sp>
      </p:grpSp>
      <p:grpSp>
        <p:nvGrpSpPr>
          <p:cNvPr id="1245" name="Google Shape;1357;p32"/>
          <p:cNvGrpSpPr/>
          <p:nvPr/>
        </p:nvGrpSpPr>
        <p:grpSpPr>
          <a:xfrm>
            <a:off x="4654124" y="3765451"/>
            <a:ext cx="681301" cy="341248"/>
            <a:chOff x="0" y="0"/>
            <a:chExt cx="681299" cy="341246"/>
          </a:xfrm>
        </p:grpSpPr>
        <p:sp>
          <p:nvSpPr>
            <p:cNvPr id="1243" name="Rectangle aux angles arrondis"/>
            <p:cNvSpPr/>
            <p:nvPr/>
          </p:nvSpPr>
          <p:spPr>
            <a:xfrm>
              <a:off x="0" y="33823"/>
              <a:ext cx="681300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44" name="Proposal &amp; negotiation"/>
            <p:cNvSpPr txBox="1"/>
            <p:nvPr/>
          </p:nvSpPr>
          <p:spPr>
            <a:xfrm>
              <a:off x="13355" y="0"/>
              <a:ext cx="6545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Proposal &amp; negotiation</a:t>
              </a:r>
            </a:p>
          </p:txBody>
        </p:sp>
      </p:grpSp>
      <p:grpSp>
        <p:nvGrpSpPr>
          <p:cNvPr id="1248" name="Google Shape;1358;p32"/>
          <p:cNvGrpSpPr/>
          <p:nvPr/>
        </p:nvGrpSpPr>
        <p:grpSpPr>
          <a:xfrm>
            <a:off x="5355225" y="3799275"/>
            <a:ext cx="681301" cy="273601"/>
            <a:chOff x="0" y="0"/>
            <a:chExt cx="681299" cy="273599"/>
          </a:xfrm>
        </p:grpSpPr>
        <p:sp>
          <p:nvSpPr>
            <p:cNvPr id="1246" name="Rectangle aux angles arrondis"/>
            <p:cNvSpPr/>
            <p:nvPr/>
          </p:nvSpPr>
          <p:spPr>
            <a:xfrm>
              <a:off x="0" y="0"/>
              <a:ext cx="681300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47" name="Closing"/>
            <p:cNvSpPr txBox="1"/>
            <p:nvPr/>
          </p:nvSpPr>
          <p:spPr>
            <a:xfrm>
              <a:off x="13355" y="20349"/>
              <a:ext cx="654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Closing</a:t>
              </a:r>
            </a:p>
          </p:txBody>
        </p:sp>
      </p:grpSp>
      <p:grpSp>
        <p:nvGrpSpPr>
          <p:cNvPr id="1251" name="Google Shape;1359;p32"/>
          <p:cNvGrpSpPr/>
          <p:nvPr/>
        </p:nvGrpSpPr>
        <p:grpSpPr>
          <a:xfrm>
            <a:off x="3953474" y="3501425"/>
            <a:ext cx="1029602" cy="273601"/>
            <a:chOff x="0" y="0"/>
            <a:chExt cx="1029600" cy="273599"/>
          </a:xfrm>
        </p:grpSpPr>
        <p:sp>
          <p:nvSpPr>
            <p:cNvPr id="1249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50" name="Prospection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Prospection</a:t>
              </a:r>
            </a:p>
          </p:txBody>
        </p:sp>
      </p:grpSp>
      <p:grpSp>
        <p:nvGrpSpPr>
          <p:cNvPr id="1254" name="Google Shape;1360;p32"/>
          <p:cNvGrpSpPr/>
          <p:nvPr/>
        </p:nvGrpSpPr>
        <p:grpSpPr>
          <a:xfrm>
            <a:off x="5006825" y="3501425"/>
            <a:ext cx="1029601" cy="273601"/>
            <a:chOff x="0" y="0"/>
            <a:chExt cx="1029600" cy="273599"/>
          </a:xfrm>
        </p:grpSpPr>
        <p:sp>
          <p:nvSpPr>
            <p:cNvPr id="1252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53" name="Discovery &amp; Qualification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Discovery &amp; Qualification</a:t>
              </a:r>
            </a:p>
          </p:txBody>
        </p:sp>
      </p:grpSp>
      <p:grpSp>
        <p:nvGrpSpPr>
          <p:cNvPr id="1257" name="Google Shape;1361;p32"/>
          <p:cNvGrpSpPr/>
          <p:nvPr/>
        </p:nvGrpSpPr>
        <p:grpSpPr>
          <a:xfrm>
            <a:off x="1571225" y="3764701"/>
            <a:ext cx="681301" cy="341248"/>
            <a:chOff x="0" y="0"/>
            <a:chExt cx="681299" cy="341246"/>
          </a:xfrm>
        </p:grpSpPr>
        <p:sp>
          <p:nvSpPr>
            <p:cNvPr id="1255" name="Rectangle aux angles arrondis"/>
            <p:cNvSpPr/>
            <p:nvPr/>
          </p:nvSpPr>
          <p:spPr>
            <a:xfrm>
              <a:off x="0" y="33823"/>
              <a:ext cx="681300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56" name="Alignment with Sales"/>
            <p:cNvSpPr txBox="1"/>
            <p:nvPr/>
          </p:nvSpPr>
          <p:spPr>
            <a:xfrm>
              <a:off x="13355" y="0"/>
              <a:ext cx="6545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Alignment with Sales</a:t>
              </a:r>
            </a:p>
          </p:txBody>
        </p:sp>
      </p:grpSp>
      <p:grpSp>
        <p:nvGrpSpPr>
          <p:cNvPr id="1260" name="Google Shape;1362;p32"/>
          <p:cNvGrpSpPr/>
          <p:nvPr/>
        </p:nvGrpSpPr>
        <p:grpSpPr>
          <a:xfrm>
            <a:off x="2272325" y="3764701"/>
            <a:ext cx="681301" cy="341248"/>
            <a:chOff x="0" y="0"/>
            <a:chExt cx="681299" cy="341246"/>
          </a:xfrm>
        </p:grpSpPr>
        <p:sp>
          <p:nvSpPr>
            <p:cNvPr id="1258" name="Rectangle aux angles arrondis"/>
            <p:cNvSpPr/>
            <p:nvPr/>
          </p:nvSpPr>
          <p:spPr>
            <a:xfrm>
              <a:off x="0" y="33823"/>
              <a:ext cx="681300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59" name="Campaign Management"/>
            <p:cNvSpPr txBox="1"/>
            <p:nvPr/>
          </p:nvSpPr>
          <p:spPr>
            <a:xfrm>
              <a:off x="13355" y="0"/>
              <a:ext cx="6545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Campaign Management</a:t>
              </a:r>
            </a:p>
          </p:txBody>
        </p:sp>
      </p:grpSp>
      <p:grpSp>
        <p:nvGrpSpPr>
          <p:cNvPr id="1263" name="Google Shape;1363;p32"/>
          <p:cNvGrpSpPr/>
          <p:nvPr/>
        </p:nvGrpSpPr>
        <p:grpSpPr>
          <a:xfrm>
            <a:off x="2973425" y="3764701"/>
            <a:ext cx="681301" cy="341248"/>
            <a:chOff x="0" y="0"/>
            <a:chExt cx="681299" cy="341246"/>
          </a:xfrm>
        </p:grpSpPr>
        <p:sp>
          <p:nvSpPr>
            <p:cNvPr id="1261" name="Rectangle aux angles arrondis"/>
            <p:cNvSpPr/>
            <p:nvPr/>
          </p:nvSpPr>
          <p:spPr>
            <a:xfrm>
              <a:off x="0" y="33823"/>
              <a:ext cx="681300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62" name="Full funnel data"/>
            <p:cNvSpPr txBox="1"/>
            <p:nvPr/>
          </p:nvSpPr>
          <p:spPr>
            <a:xfrm>
              <a:off x="13355" y="0"/>
              <a:ext cx="6545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Full funnel data</a:t>
              </a:r>
            </a:p>
          </p:txBody>
        </p:sp>
      </p:grpSp>
      <p:grpSp>
        <p:nvGrpSpPr>
          <p:cNvPr id="1266" name="Google Shape;1364;p32"/>
          <p:cNvGrpSpPr/>
          <p:nvPr/>
        </p:nvGrpSpPr>
        <p:grpSpPr>
          <a:xfrm>
            <a:off x="1571674" y="3466851"/>
            <a:ext cx="1029602" cy="341248"/>
            <a:chOff x="0" y="0"/>
            <a:chExt cx="1029600" cy="341246"/>
          </a:xfrm>
        </p:grpSpPr>
        <p:sp>
          <p:nvSpPr>
            <p:cNvPr id="1264" name="Rectangle aux angles arrondis"/>
            <p:cNvSpPr/>
            <p:nvPr/>
          </p:nvSpPr>
          <p:spPr>
            <a:xfrm>
              <a:off x="0" y="33823"/>
              <a:ext cx="1029601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65" name="Demand Generation Strategy"/>
            <p:cNvSpPr txBox="1"/>
            <p:nvPr/>
          </p:nvSpPr>
          <p:spPr>
            <a:xfrm>
              <a:off x="13355" y="0"/>
              <a:ext cx="10028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Demand Generation Strategy</a:t>
              </a:r>
            </a:p>
          </p:txBody>
        </p:sp>
      </p:grpSp>
      <p:grpSp>
        <p:nvGrpSpPr>
          <p:cNvPr id="1269" name="Google Shape;1365;p32"/>
          <p:cNvGrpSpPr/>
          <p:nvPr/>
        </p:nvGrpSpPr>
        <p:grpSpPr>
          <a:xfrm>
            <a:off x="2625025" y="3466851"/>
            <a:ext cx="1029601" cy="341248"/>
            <a:chOff x="0" y="0"/>
            <a:chExt cx="1029600" cy="341246"/>
          </a:xfrm>
        </p:grpSpPr>
        <p:sp>
          <p:nvSpPr>
            <p:cNvPr id="1267" name="Rectangle aux angles arrondis"/>
            <p:cNvSpPr/>
            <p:nvPr/>
          </p:nvSpPr>
          <p:spPr>
            <a:xfrm>
              <a:off x="0" y="33823"/>
              <a:ext cx="1029601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68" name="Team Structure &amp; Ownership"/>
            <p:cNvSpPr txBox="1"/>
            <p:nvPr/>
          </p:nvSpPr>
          <p:spPr>
            <a:xfrm>
              <a:off x="13355" y="0"/>
              <a:ext cx="10028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Team Structure &amp; Ownership</a:t>
              </a:r>
            </a:p>
          </p:txBody>
        </p:sp>
      </p:grpSp>
      <p:grpSp>
        <p:nvGrpSpPr>
          <p:cNvPr id="1272" name="Google Shape;1366;p32"/>
          <p:cNvGrpSpPr/>
          <p:nvPr/>
        </p:nvGrpSpPr>
        <p:grpSpPr>
          <a:xfrm>
            <a:off x="1575274" y="2684087"/>
            <a:ext cx="1688102" cy="273601"/>
            <a:chOff x="0" y="0"/>
            <a:chExt cx="1688100" cy="273599"/>
          </a:xfrm>
        </p:grpSpPr>
        <p:sp>
          <p:nvSpPr>
            <p:cNvPr id="1270" name="Rectangle aux angles arrondis"/>
            <p:cNvSpPr/>
            <p:nvPr/>
          </p:nvSpPr>
          <p:spPr>
            <a:xfrm>
              <a:off x="0" y="0"/>
              <a:ext cx="16881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1271" name="Org Structure"/>
            <p:cNvSpPr txBox="1"/>
            <p:nvPr/>
          </p:nvSpPr>
          <p:spPr>
            <a:xfrm>
              <a:off x="13356" y="20349"/>
              <a:ext cx="1661388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Org Structure</a:t>
              </a:r>
            </a:p>
          </p:txBody>
        </p:sp>
      </p:grpSp>
      <p:grpSp>
        <p:nvGrpSpPr>
          <p:cNvPr id="1275" name="Google Shape;1367;p32"/>
          <p:cNvGrpSpPr/>
          <p:nvPr/>
        </p:nvGrpSpPr>
        <p:grpSpPr>
          <a:xfrm>
            <a:off x="3303799" y="2680112"/>
            <a:ext cx="1688101" cy="273601"/>
            <a:chOff x="0" y="0"/>
            <a:chExt cx="1688100" cy="273599"/>
          </a:xfrm>
        </p:grpSpPr>
        <p:sp>
          <p:nvSpPr>
            <p:cNvPr id="1273" name="Rectangle aux angles arrondis"/>
            <p:cNvSpPr/>
            <p:nvPr/>
          </p:nvSpPr>
          <p:spPr>
            <a:xfrm>
              <a:off x="0" y="0"/>
              <a:ext cx="16881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74" name="Career Path and Competency Framework"/>
            <p:cNvSpPr txBox="1"/>
            <p:nvPr/>
          </p:nvSpPr>
          <p:spPr>
            <a:xfrm>
              <a:off x="13356" y="20349"/>
              <a:ext cx="1661388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Career Path and Competency Framework</a:t>
              </a:r>
            </a:p>
          </p:txBody>
        </p:sp>
      </p:grpSp>
      <p:grpSp>
        <p:nvGrpSpPr>
          <p:cNvPr id="1278" name="Google Shape;1368;p32"/>
          <p:cNvGrpSpPr/>
          <p:nvPr/>
        </p:nvGrpSpPr>
        <p:grpSpPr>
          <a:xfrm>
            <a:off x="5035100" y="2680099"/>
            <a:ext cx="1688101" cy="273601"/>
            <a:chOff x="0" y="0"/>
            <a:chExt cx="1688100" cy="273599"/>
          </a:xfrm>
        </p:grpSpPr>
        <p:sp>
          <p:nvSpPr>
            <p:cNvPr id="1276" name="Rectangle aux angles arrondis"/>
            <p:cNvSpPr/>
            <p:nvPr/>
          </p:nvSpPr>
          <p:spPr>
            <a:xfrm>
              <a:off x="0" y="0"/>
              <a:ext cx="16881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77" name="Employee Engagement"/>
            <p:cNvSpPr txBox="1"/>
            <p:nvPr/>
          </p:nvSpPr>
          <p:spPr>
            <a:xfrm>
              <a:off x="13356" y="20349"/>
              <a:ext cx="1661388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Employee Engagement</a:t>
              </a:r>
            </a:p>
          </p:txBody>
        </p:sp>
      </p:grpSp>
      <p:grpSp>
        <p:nvGrpSpPr>
          <p:cNvPr id="1281" name="Google Shape;1369;p32"/>
          <p:cNvGrpSpPr/>
          <p:nvPr/>
        </p:nvGrpSpPr>
        <p:grpSpPr>
          <a:xfrm>
            <a:off x="6760574" y="2680099"/>
            <a:ext cx="1688101" cy="273601"/>
            <a:chOff x="0" y="0"/>
            <a:chExt cx="1688100" cy="273599"/>
          </a:xfrm>
        </p:grpSpPr>
        <p:sp>
          <p:nvSpPr>
            <p:cNvPr id="1279" name="Rectangle aux angles arrondis"/>
            <p:cNvSpPr/>
            <p:nvPr/>
          </p:nvSpPr>
          <p:spPr>
            <a:xfrm>
              <a:off x="0" y="0"/>
              <a:ext cx="16881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80" name="Manager Academy"/>
            <p:cNvSpPr txBox="1"/>
            <p:nvPr/>
          </p:nvSpPr>
          <p:spPr>
            <a:xfrm>
              <a:off x="13356" y="20349"/>
              <a:ext cx="1661388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Manager Academy</a:t>
              </a:r>
            </a:p>
          </p:txBody>
        </p:sp>
      </p:grpSp>
      <p:grpSp>
        <p:nvGrpSpPr>
          <p:cNvPr id="1284" name="Google Shape;1370;p32"/>
          <p:cNvGrpSpPr/>
          <p:nvPr/>
        </p:nvGrpSpPr>
        <p:grpSpPr>
          <a:xfrm>
            <a:off x="6334962" y="1980363"/>
            <a:ext cx="2082301" cy="273601"/>
            <a:chOff x="0" y="0"/>
            <a:chExt cx="2082300" cy="273599"/>
          </a:xfrm>
        </p:grpSpPr>
        <p:sp>
          <p:nvSpPr>
            <p:cNvPr id="1282" name="Rectangle aux angles arrondis"/>
            <p:cNvSpPr/>
            <p:nvPr/>
          </p:nvSpPr>
          <p:spPr>
            <a:xfrm>
              <a:off x="0" y="0"/>
              <a:ext cx="20823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83" name="Under &amp; Top Performance Management"/>
            <p:cNvSpPr txBox="1"/>
            <p:nvPr/>
          </p:nvSpPr>
          <p:spPr>
            <a:xfrm>
              <a:off x="13355" y="20349"/>
              <a:ext cx="2055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Under &amp; Top Performance Management</a:t>
              </a:r>
            </a:p>
          </p:txBody>
        </p:sp>
      </p:grpSp>
      <p:grpSp>
        <p:nvGrpSpPr>
          <p:cNvPr id="1287" name="Google Shape;1371;p32"/>
          <p:cNvGrpSpPr/>
          <p:nvPr/>
        </p:nvGrpSpPr>
        <p:grpSpPr>
          <a:xfrm>
            <a:off x="6334938" y="1648839"/>
            <a:ext cx="1029601" cy="341248"/>
            <a:chOff x="0" y="0"/>
            <a:chExt cx="1029600" cy="341246"/>
          </a:xfrm>
        </p:grpSpPr>
        <p:sp>
          <p:nvSpPr>
            <p:cNvPr id="1285" name="Rectangle aux angles arrondis"/>
            <p:cNvSpPr/>
            <p:nvPr/>
          </p:nvSpPr>
          <p:spPr>
            <a:xfrm>
              <a:off x="0" y="33823"/>
              <a:ext cx="1029601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86" name="Sales Performance Routine"/>
            <p:cNvSpPr txBox="1"/>
            <p:nvPr/>
          </p:nvSpPr>
          <p:spPr>
            <a:xfrm>
              <a:off x="13355" y="0"/>
              <a:ext cx="10028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Performance Routine</a:t>
              </a:r>
            </a:p>
          </p:txBody>
        </p:sp>
      </p:grpSp>
      <p:grpSp>
        <p:nvGrpSpPr>
          <p:cNvPr id="1290" name="Google Shape;1372;p32"/>
          <p:cNvGrpSpPr/>
          <p:nvPr/>
        </p:nvGrpSpPr>
        <p:grpSpPr>
          <a:xfrm>
            <a:off x="7388287" y="1682662"/>
            <a:ext cx="1029601" cy="273601"/>
            <a:chOff x="0" y="0"/>
            <a:chExt cx="1029600" cy="273599"/>
          </a:xfrm>
        </p:grpSpPr>
        <p:sp>
          <p:nvSpPr>
            <p:cNvPr id="1288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89" name="Sales Floor Animation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Floor Animation</a:t>
              </a:r>
            </a:p>
          </p:txBody>
        </p:sp>
      </p:grpSp>
      <p:grpSp>
        <p:nvGrpSpPr>
          <p:cNvPr id="1293" name="Google Shape;1373;p32"/>
          <p:cNvGrpSpPr/>
          <p:nvPr/>
        </p:nvGrpSpPr>
        <p:grpSpPr>
          <a:xfrm>
            <a:off x="3953312" y="1979024"/>
            <a:ext cx="1029601" cy="273601"/>
            <a:chOff x="0" y="0"/>
            <a:chExt cx="1029600" cy="273599"/>
          </a:xfrm>
        </p:grpSpPr>
        <p:sp>
          <p:nvSpPr>
            <p:cNvPr id="1291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92" name="Sales Playbook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Playbook</a:t>
              </a:r>
            </a:p>
          </p:txBody>
        </p:sp>
      </p:grpSp>
      <p:grpSp>
        <p:nvGrpSpPr>
          <p:cNvPr id="1296" name="Google Shape;1374;p32"/>
          <p:cNvGrpSpPr/>
          <p:nvPr/>
        </p:nvGrpSpPr>
        <p:grpSpPr>
          <a:xfrm>
            <a:off x="3953312" y="1681325"/>
            <a:ext cx="1029601" cy="273601"/>
            <a:chOff x="0" y="0"/>
            <a:chExt cx="1029600" cy="273599"/>
          </a:xfrm>
        </p:grpSpPr>
        <p:sp>
          <p:nvSpPr>
            <p:cNvPr id="1294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95" name="Knowledge Management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Knowledge Management</a:t>
              </a:r>
            </a:p>
          </p:txBody>
        </p:sp>
      </p:grpSp>
      <p:grpSp>
        <p:nvGrpSpPr>
          <p:cNvPr id="1299" name="Google Shape;1375;p32"/>
          <p:cNvGrpSpPr/>
          <p:nvPr/>
        </p:nvGrpSpPr>
        <p:grpSpPr>
          <a:xfrm>
            <a:off x="5006663" y="1681325"/>
            <a:ext cx="1029601" cy="273601"/>
            <a:chOff x="0" y="0"/>
            <a:chExt cx="1029600" cy="273599"/>
          </a:xfrm>
        </p:grpSpPr>
        <p:sp>
          <p:nvSpPr>
            <p:cNvPr id="1297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298" name="Sales Collaterals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Collaterals</a:t>
              </a:r>
            </a:p>
          </p:txBody>
        </p:sp>
      </p:grpSp>
      <p:grpSp>
        <p:nvGrpSpPr>
          <p:cNvPr id="1302" name="Google Shape;1376;p32"/>
          <p:cNvGrpSpPr/>
          <p:nvPr/>
        </p:nvGrpSpPr>
        <p:grpSpPr>
          <a:xfrm>
            <a:off x="5006663" y="1979024"/>
            <a:ext cx="1029601" cy="273601"/>
            <a:chOff x="0" y="0"/>
            <a:chExt cx="1029600" cy="273599"/>
          </a:xfrm>
        </p:grpSpPr>
        <p:sp>
          <p:nvSpPr>
            <p:cNvPr id="1300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01" name="Sales Training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Training</a:t>
              </a:r>
            </a:p>
          </p:txBody>
        </p:sp>
      </p:grpSp>
      <p:grpSp>
        <p:nvGrpSpPr>
          <p:cNvPr id="1305" name="Google Shape;1377;p32"/>
          <p:cNvGrpSpPr/>
          <p:nvPr/>
        </p:nvGrpSpPr>
        <p:grpSpPr>
          <a:xfrm>
            <a:off x="1571699" y="1979024"/>
            <a:ext cx="1029602" cy="273601"/>
            <a:chOff x="0" y="0"/>
            <a:chExt cx="1029600" cy="273599"/>
          </a:xfrm>
        </p:grpSpPr>
        <p:sp>
          <p:nvSpPr>
            <p:cNvPr id="1303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04" name="New hire onboarding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New hire onboarding</a:t>
              </a:r>
            </a:p>
          </p:txBody>
        </p:sp>
      </p:grpSp>
      <p:grpSp>
        <p:nvGrpSpPr>
          <p:cNvPr id="1308" name="Google Shape;1378;p32"/>
          <p:cNvGrpSpPr/>
          <p:nvPr/>
        </p:nvGrpSpPr>
        <p:grpSpPr>
          <a:xfrm>
            <a:off x="1571699" y="1681325"/>
            <a:ext cx="1029602" cy="273601"/>
            <a:chOff x="0" y="0"/>
            <a:chExt cx="1029600" cy="273599"/>
          </a:xfrm>
        </p:grpSpPr>
        <p:sp>
          <p:nvSpPr>
            <p:cNvPr id="1306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1307" name="Talent Acquisition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Talent Acquisition</a:t>
              </a:r>
            </a:p>
          </p:txBody>
        </p:sp>
      </p:grpSp>
      <p:grpSp>
        <p:nvGrpSpPr>
          <p:cNvPr id="1311" name="Google Shape;1379;p32"/>
          <p:cNvGrpSpPr/>
          <p:nvPr/>
        </p:nvGrpSpPr>
        <p:grpSpPr>
          <a:xfrm>
            <a:off x="2625050" y="1681325"/>
            <a:ext cx="1029601" cy="273601"/>
            <a:chOff x="0" y="0"/>
            <a:chExt cx="1029600" cy="273599"/>
          </a:xfrm>
        </p:grpSpPr>
        <p:sp>
          <p:nvSpPr>
            <p:cNvPr id="1309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10" name="Hiring process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Hiring process</a:t>
              </a:r>
            </a:p>
          </p:txBody>
        </p:sp>
      </p:grpSp>
      <p:grpSp>
        <p:nvGrpSpPr>
          <p:cNvPr id="1314" name="Google Shape;1380;p32"/>
          <p:cNvGrpSpPr/>
          <p:nvPr/>
        </p:nvGrpSpPr>
        <p:grpSpPr>
          <a:xfrm>
            <a:off x="2625050" y="1979024"/>
            <a:ext cx="1029601" cy="273601"/>
            <a:chOff x="0" y="0"/>
            <a:chExt cx="1029600" cy="273599"/>
          </a:xfrm>
        </p:grpSpPr>
        <p:sp>
          <p:nvSpPr>
            <p:cNvPr id="1312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13" name="New hire ramp-up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New hire ramp-up</a:t>
              </a:r>
            </a:p>
          </p:txBody>
        </p:sp>
      </p:grpSp>
      <p:sp>
        <p:nvSpPr>
          <p:cNvPr id="1315" name="Google Shape;1381;p32"/>
          <p:cNvSpPr txBox="1"/>
          <p:nvPr>
            <p:ph type="ctrTitle"/>
          </p:nvPr>
        </p:nvSpPr>
        <p:spPr>
          <a:xfrm>
            <a:off x="483602" y="638424"/>
            <a:ext cx="8272499" cy="56520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Self Assessment by CLIENT Exec Team</a:t>
            </a:r>
          </a:p>
        </p:txBody>
      </p:sp>
      <p:sp>
        <p:nvSpPr>
          <p:cNvPr id="1316" name="Google Shape;1382;p32"/>
          <p:cNvSpPr/>
          <p:nvPr/>
        </p:nvSpPr>
        <p:spPr>
          <a:xfrm>
            <a:off x="575886" y="1138686"/>
            <a:ext cx="1826101" cy="1"/>
          </a:xfrm>
          <a:prstGeom prst="line">
            <a:avLst/>
          </a:prstGeom>
          <a:ln>
            <a:solidFill>
              <a:srgbClr val="2A41E5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317" name="Logo_atscale_sans texture.pngGoogle Shape;1383;p32" descr="Logo_atscale_sans texture.pngGoogle Shape;1383;p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318" name="Google Shape;1384;p32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19" name="Google Shape;1385;p32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Assessments</a:t>
            </a:r>
          </a:p>
        </p:txBody>
      </p:sp>
      <p:sp>
        <p:nvSpPr>
          <p:cNvPr id="1320" name="Google Shape;1386;p32"/>
          <p:cNvSpPr txBox="1"/>
          <p:nvPr/>
        </p:nvSpPr>
        <p:spPr>
          <a:xfrm>
            <a:off x="573599" y="2014045"/>
            <a:ext cx="1074901" cy="30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900">
                <a:solidFill>
                  <a:srgbClr val="2E46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Sales Reps Excellence</a:t>
            </a:r>
          </a:p>
        </p:txBody>
      </p:sp>
      <p:sp>
        <p:nvSpPr>
          <p:cNvPr id="1321" name="Google Shape;1387;p32"/>
          <p:cNvSpPr txBox="1"/>
          <p:nvPr/>
        </p:nvSpPr>
        <p:spPr>
          <a:xfrm>
            <a:off x="1585563" y="1366700"/>
            <a:ext cx="2055823" cy="30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Hiring &amp; Ramp-up</a:t>
            </a:r>
          </a:p>
        </p:txBody>
      </p:sp>
      <p:sp>
        <p:nvSpPr>
          <p:cNvPr id="1322" name="Google Shape;1388;p32"/>
          <p:cNvSpPr txBox="1"/>
          <p:nvPr/>
        </p:nvSpPr>
        <p:spPr>
          <a:xfrm>
            <a:off x="3966887" y="1366700"/>
            <a:ext cx="2055823" cy="30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Enablement</a:t>
            </a:r>
          </a:p>
        </p:txBody>
      </p:sp>
      <p:sp>
        <p:nvSpPr>
          <p:cNvPr id="1323" name="Google Shape;1389;p32"/>
          <p:cNvSpPr txBox="1"/>
          <p:nvPr/>
        </p:nvSpPr>
        <p:spPr>
          <a:xfrm>
            <a:off x="6348237" y="1366700"/>
            <a:ext cx="2055823" cy="30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Performance Management</a:t>
            </a:r>
          </a:p>
        </p:txBody>
      </p:sp>
      <p:sp>
        <p:nvSpPr>
          <p:cNvPr id="1324" name="Google Shape;1390;p32"/>
          <p:cNvSpPr txBox="1"/>
          <p:nvPr/>
        </p:nvSpPr>
        <p:spPr>
          <a:xfrm>
            <a:off x="1585564" y="2356455"/>
            <a:ext cx="6852822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Talent Management</a:t>
            </a:r>
          </a:p>
        </p:txBody>
      </p:sp>
      <p:sp>
        <p:nvSpPr>
          <p:cNvPr id="1325" name="Google Shape;1391;p32"/>
          <p:cNvSpPr txBox="1"/>
          <p:nvPr/>
        </p:nvSpPr>
        <p:spPr>
          <a:xfrm>
            <a:off x="573588" y="3918375"/>
            <a:ext cx="10749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900">
                <a:solidFill>
                  <a:srgbClr val="2E46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Sales Engine</a:t>
            </a:r>
          </a:p>
        </p:txBody>
      </p:sp>
      <p:sp>
        <p:nvSpPr>
          <p:cNvPr id="1326" name="Google Shape;1392;p32"/>
          <p:cNvSpPr txBox="1"/>
          <p:nvPr/>
        </p:nvSpPr>
        <p:spPr>
          <a:xfrm>
            <a:off x="1585550" y="3185900"/>
            <a:ext cx="2055823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Demand Generation</a:t>
            </a:r>
          </a:p>
        </p:txBody>
      </p:sp>
      <p:sp>
        <p:nvSpPr>
          <p:cNvPr id="1327" name="Google Shape;1393;p32"/>
          <p:cNvSpPr txBox="1"/>
          <p:nvPr/>
        </p:nvSpPr>
        <p:spPr>
          <a:xfrm>
            <a:off x="3966875" y="3185900"/>
            <a:ext cx="2055823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Execution</a:t>
            </a:r>
          </a:p>
        </p:txBody>
      </p:sp>
      <p:sp>
        <p:nvSpPr>
          <p:cNvPr id="1328" name="Google Shape;1394;p32"/>
          <p:cNvSpPr txBox="1"/>
          <p:nvPr/>
        </p:nvSpPr>
        <p:spPr>
          <a:xfrm>
            <a:off x="6348225" y="3185900"/>
            <a:ext cx="2055823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Client Relationship</a:t>
            </a:r>
          </a:p>
        </p:txBody>
      </p:sp>
      <p:sp>
        <p:nvSpPr>
          <p:cNvPr id="1329" name="Google Shape;1395;p32"/>
          <p:cNvSpPr txBox="1"/>
          <p:nvPr/>
        </p:nvSpPr>
        <p:spPr>
          <a:xfrm>
            <a:off x="1585551" y="4175656"/>
            <a:ext cx="6852822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Revenue Operations</a:t>
            </a:r>
          </a:p>
        </p:txBody>
      </p:sp>
      <p:sp>
        <p:nvSpPr>
          <p:cNvPr id="1330" name="Google Shape;1396;p32"/>
          <p:cNvSpPr txBox="1"/>
          <p:nvPr/>
        </p:nvSpPr>
        <p:spPr>
          <a:xfrm>
            <a:off x="6680848" y="327499"/>
            <a:ext cx="3147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Weak</a:t>
            </a:r>
          </a:p>
        </p:txBody>
      </p:sp>
      <p:sp>
        <p:nvSpPr>
          <p:cNvPr id="1331" name="Google Shape;1397;p32"/>
          <p:cNvSpPr txBox="1"/>
          <p:nvPr/>
        </p:nvSpPr>
        <p:spPr>
          <a:xfrm>
            <a:off x="8206089" y="327499"/>
            <a:ext cx="62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Best in class</a:t>
            </a:r>
          </a:p>
        </p:txBody>
      </p:sp>
      <p:sp>
        <p:nvSpPr>
          <p:cNvPr id="1332" name="Google Shape;1398;p32"/>
          <p:cNvSpPr/>
          <p:nvPr/>
        </p:nvSpPr>
        <p:spPr>
          <a:xfrm rot="5400000">
            <a:off x="7946349" y="271700"/>
            <a:ext cx="185101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00" y="0"/>
                </a:moveTo>
                <a:lnTo>
                  <a:pt x="18000" y="0"/>
                </a:lnTo>
                <a:cubicBezTo>
                  <a:pt x="19988" y="0"/>
                  <a:pt x="21600" y="1360"/>
                  <a:pt x="21600" y="303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039"/>
                </a:lnTo>
                <a:cubicBezTo>
                  <a:pt x="0" y="1360"/>
                  <a:pt x="1612" y="0"/>
                  <a:pt x="3600" y="0"/>
                </a:cubicBezTo>
                <a:close/>
              </a:path>
            </a:pathLst>
          </a:custGeom>
          <a:solidFill>
            <a:srgbClr val="FFF2C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33" name="Google Shape;1399;p32"/>
          <p:cNvSpPr/>
          <p:nvPr/>
        </p:nvSpPr>
        <p:spPr>
          <a:xfrm rot="16200000">
            <a:off x="7070200" y="271700"/>
            <a:ext cx="185101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00" y="0"/>
                </a:moveTo>
                <a:lnTo>
                  <a:pt x="18000" y="0"/>
                </a:lnTo>
                <a:cubicBezTo>
                  <a:pt x="19988" y="0"/>
                  <a:pt x="21600" y="1360"/>
                  <a:pt x="21600" y="303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039"/>
                </a:lnTo>
                <a:cubicBezTo>
                  <a:pt x="0" y="1360"/>
                  <a:pt x="1612" y="0"/>
                  <a:pt x="3600" y="0"/>
                </a:cubicBezTo>
                <a:close/>
              </a:path>
            </a:pathLst>
          </a:custGeom>
          <a:solidFill>
            <a:srgbClr val="FFF2C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grpSp>
        <p:nvGrpSpPr>
          <p:cNvPr id="1336" name="Google Shape;1400;p32"/>
          <p:cNvGrpSpPr/>
          <p:nvPr/>
        </p:nvGrpSpPr>
        <p:grpSpPr>
          <a:xfrm>
            <a:off x="7272125" y="288800"/>
            <a:ext cx="219301" cy="185101"/>
            <a:chOff x="0" y="0"/>
            <a:chExt cx="219300" cy="185100"/>
          </a:xfrm>
        </p:grpSpPr>
        <p:sp>
          <p:nvSpPr>
            <p:cNvPr id="1334" name="Rectangle"/>
            <p:cNvSpPr/>
            <p:nvPr/>
          </p:nvSpPr>
          <p:spPr>
            <a:xfrm>
              <a:off x="-1" y="-1"/>
              <a:ext cx="219302" cy="185102"/>
            </a:xfrm>
            <a:prstGeom prst="rect">
              <a:avLst/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pPr>
            </a:p>
          </p:txBody>
        </p:sp>
        <p:sp>
          <p:nvSpPr>
            <p:cNvPr id="1335" name="2"/>
            <p:cNvSpPr txBox="1"/>
            <p:nvPr/>
          </p:nvSpPr>
          <p:spPr>
            <a:xfrm>
              <a:off x="-1" y="29049"/>
              <a:ext cx="21930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339" name="Google Shape;1401;p32"/>
          <p:cNvGrpSpPr/>
          <p:nvPr/>
        </p:nvGrpSpPr>
        <p:grpSpPr>
          <a:xfrm>
            <a:off x="7491162" y="288800"/>
            <a:ext cx="219301" cy="185101"/>
            <a:chOff x="0" y="0"/>
            <a:chExt cx="219300" cy="185100"/>
          </a:xfrm>
        </p:grpSpPr>
        <p:sp>
          <p:nvSpPr>
            <p:cNvPr id="1337" name="Rectangle"/>
            <p:cNvSpPr/>
            <p:nvPr/>
          </p:nvSpPr>
          <p:spPr>
            <a:xfrm>
              <a:off x="-1" y="-1"/>
              <a:ext cx="219302" cy="185102"/>
            </a:xfrm>
            <a:prstGeom prst="rect">
              <a:avLst/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pPr>
            </a:p>
          </p:txBody>
        </p:sp>
        <p:sp>
          <p:nvSpPr>
            <p:cNvPr id="1338" name="3"/>
            <p:cNvSpPr txBox="1"/>
            <p:nvPr/>
          </p:nvSpPr>
          <p:spPr>
            <a:xfrm>
              <a:off x="-1" y="29049"/>
              <a:ext cx="21930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342" name="Google Shape;1402;p32"/>
          <p:cNvGrpSpPr/>
          <p:nvPr/>
        </p:nvGrpSpPr>
        <p:grpSpPr>
          <a:xfrm>
            <a:off x="7710199" y="288800"/>
            <a:ext cx="219301" cy="185101"/>
            <a:chOff x="0" y="0"/>
            <a:chExt cx="219300" cy="185100"/>
          </a:xfrm>
        </p:grpSpPr>
        <p:sp>
          <p:nvSpPr>
            <p:cNvPr id="1340" name="Rectangle"/>
            <p:cNvSpPr/>
            <p:nvPr/>
          </p:nvSpPr>
          <p:spPr>
            <a:xfrm>
              <a:off x="-1" y="-1"/>
              <a:ext cx="219302" cy="185102"/>
            </a:xfrm>
            <a:prstGeom prst="rect">
              <a:avLst/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pPr>
            </a:p>
          </p:txBody>
        </p:sp>
        <p:sp>
          <p:nvSpPr>
            <p:cNvPr id="1341" name="4"/>
            <p:cNvSpPr txBox="1"/>
            <p:nvPr/>
          </p:nvSpPr>
          <p:spPr>
            <a:xfrm>
              <a:off x="-1" y="29049"/>
              <a:ext cx="21930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1343" name="Google Shape;1403;p32"/>
          <p:cNvSpPr txBox="1"/>
          <p:nvPr/>
        </p:nvSpPr>
        <p:spPr>
          <a:xfrm>
            <a:off x="7053099" y="317850"/>
            <a:ext cx="2193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chemeClr val="accent2">
                    <a:lumOff val="21764"/>
                  </a:schemeClr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44" name="Google Shape;1404;p32"/>
          <p:cNvSpPr txBox="1"/>
          <p:nvPr/>
        </p:nvSpPr>
        <p:spPr>
          <a:xfrm>
            <a:off x="7929250" y="317850"/>
            <a:ext cx="2193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chemeClr val="accent2">
                    <a:lumOff val="21764"/>
                  </a:schemeClr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45" name="Google Shape;1405;p32"/>
          <p:cNvSpPr/>
          <p:nvPr/>
        </p:nvSpPr>
        <p:spPr>
          <a:xfrm>
            <a:off x="3692600" y="1681900"/>
            <a:ext cx="219301" cy="5652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46" name="Google Shape;1406;p32"/>
          <p:cNvSpPr/>
          <p:nvPr/>
        </p:nvSpPr>
        <p:spPr>
          <a:xfrm>
            <a:off x="6075974" y="1681900"/>
            <a:ext cx="219301" cy="5652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47" name="Google Shape;1407;p32"/>
          <p:cNvSpPr/>
          <p:nvPr/>
        </p:nvSpPr>
        <p:spPr>
          <a:xfrm>
            <a:off x="3694450" y="3507675"/>
            <a:ext cx="219301" cy="5652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48" name="Google Shape;1408;p32"/>
          <p:cNvSpPr/>
          <p:nvPr/>
        </p:nvSpPr>
        <p:spPr>
          <a:xfrm>
            <a:off x="6076038" y="3507675"/>
            <a:ext cx="219301" cy="5652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49" name="Google Shape;1409;p32"/>
          <p:cNvSpPr/>
          <p:nvPr/>
        </p:nvSpPr>
        <p:spPr>
          <a:xfrm>
            <a:off x="8486050" y="3500675"/>
            <a:ext cx="219301" cy="12708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50" name="Google Shape;1410;p32"/>
          <p:cNvSpPr/>
          <p:nvPr/>
        </p:nvSpPr>
        <p:spPr>
          <a:xfrm>
            <a:off x="8486050" y="1682675"/>
            <a:ext cx="219301" cy="12708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415;p33"/>
          <p:cNvSpPr/>
          <p:nvPr/>
        </p:nvSpPr>
        <p:spPr>
          <a:xfrm>
            <a:off x="3692600" y="1681900"/>
            <a:ext cx="219301" cy="5652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53" name="Google Shape;1416;p33"/>
          <p:cNvSpPr/>
          <p:nvPr/>
        </p:nvSpPr>
        <p:spPr>
          <a:xfrm>
            <a:off x="6075974" y="1681900"/>
            <a:ext cx="219301" cy="5652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54" name="Google Shape;1417;p33"/>
          <p:cNvSpPr/>
          <p:nvPr/>
        </p:nvSpPr>
        <p:spPr>
          <a:xfrm>
            <a:off x="3694450" y="3507675"/>
            <a:ext cx="219301" cy="5652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55" name="Google Shape;1418;p33"/>
          <p:cNvSpPr/>
          <p:nvPr/>
        </p:nvSpPr>
        <p:spPr>
          <a:xfrm>
            <a:off x="6076038" y="3507675"/>
            <a:ext cx="219301" cy="5652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56" name="Google Shape;1419;p33"/>
          <p:cNvSpPr/>
          <p:nvPr/>
        </p:nvSpPr>
        <p:spPr>
          <a:xfrm>
            <a:off x="8486050" y="3500675"/>
            <a:ext cx="219301" cy="12708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357" name="Google Shape;1420;p33"/>
          <p:cNvSpPr/>
          <p:nvPr/>
        </p:nvSpPr>
        <p:spPr>
          <a:xfrm>
            <a:off x="8486050" y="1682675"/>
            <a:ext cx="219301" cy="1270801"/>
          </a:xfrm>
          <a:prstGeom prst="chevron">
            <a:avLst>
              <a:gd name="adj" fmla="val 50000"/>
            </a:avLst>
          </a:prstGeom>
          <a:solidFill>
            <a:srgbClr val="B9CDD5">
              <a:alpha val="2471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grpSp>
        <p:nvGrpSpPr>
          <p:cNvPr id="1360" name="Google Shape;1421;p33"/>
          <p:cNvGrpSpPr/>
          <p:nvPr/>
        </p:nvGrpSpPr>
        <p:grpSpPr>
          <a:xfrm>
            <a:off x="1575224" y="4503125"/>
            <a:ext cx="2277301" cy="273601"/>
            <a:chOff x="0" y="0"/>
            <a:chExt cx="2277299" cy="273599"/>
          </a:xfrm>
        </p:grpSpPr>
        <p:sp>
          <p:nvSpPr>
            <p:cNvPr id="1358" name="Rectangle aux angles arrondis"/>
            <p:cNvSpPr/>
            <p:nvPr/>
          </p:nvSpPr>
          <p:spPr>
            <a:xfrm>
              <a:off x="0" y="0"/>
              <a:ext cx="2277300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59" name="Go-to market &amp; process"/>
            <p:cNvSpPr txBox="1"/>
            <p:nvPr/>
          </p:nvSpPr>
          <p:spPr>
            <a:xfrm>
              <a:off x="13355" y="20349"/>
              <a:ext cx="2250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Go-to market &amp; process</a:t>
              </a:r>
            </a:p>
          </p:txBody>
        </p:sp>
      </p:grpSp>
      <p:grpSp>
        <p:nvGrpSpPr>
          <p:cNvPr id="1363" name="Google Shape;1422;p33"/>
          <p:cNvGrpSpPr/>
          <p:nvPr/>
        </p:nvGrpSpPr>
        <p:grpSpPr>
          <a:xfrm>
            <a:off x="3873274" y="4503275"/>
            <a:ext cx="2277301" cy="273601"/>
            <a:chOff x="0" y="0"/>
            <a:chExt cx="2277299" cy="273599"/>
          </a:xfrm>
        </p:grpSpPr>
        <p:sp>
          <p:nvSpPr>
            <p:cNvPr id="1361" name="Rectangle aux angles arrondis"/>
            <p:cNvSpPr/>
            <p:nvPr/>
          </p:nvSpPr>
          <p:spPr>
            <a:xfrm>
              <a:off x="0" y="0"/>
              <a:ext cx="2277300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62" name="Target-Setting, Compensation Plans, Forecasts"/>
            <p:cNvSpPr txBox="1"/>
            <p:nvPr/>
          </p:nvSpPr>
          <p:spPr>
            <a:xfrm>
              <a:off x="13355" y="20349"/>
              <a:ext cx="2250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Target-Setting, Compensation Plans, Forecasts </a:t>
              </a:r>
            </a:p>
          </p:txBody>
        </p:sp>
      </p:grpSp>
      <p:grpSp>
        <p:nvGrpSpPr>
          <p:cNvPr id="1366" name="Google Shape;1423;p33"/>
          <p:cNvGrpSpPr/>
          <p:nvPr/>
        </p:nvGrpSpPr>
        <p:grpSpPr>
          <a:xfrm>
            <a:off x="6171324" y="4503125"/>
            <a:ext cx="2277301" cy="273601"/>
            <a:chOff x="0" y="0"/>
            <a:chExt cx="2277299" cy="273599"/>
          </a:xfrm>
        </p:grpSpPr>
        <p:sp>
          <p:nvSpPr>
            <p:cNvPr id="1364" name="Rectangle aux angles arrondis"/>
            <p:cNvSpPr/>
            <p:nvPr/>
          </p:nvSpPr>
          <p:spPr>
            <a:xfrm>
              <a:off x="0" y="0"/>
              <a:ext cx="2277300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65" name="Sales Toolstack"/>
            <p:cNvSpPr txBox="1"/>
            <p:nvPr/>
          </p:nvSpPr>
          <p:spPr>
            <a:xfrm>
              <a:off x="13355" y="20349"/>
              <a:ext cx="2250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Toolstack</a:t>
              </a:r>
            </a:p>
          </p:txBody>
        </p:sp>
      </p:grpSp>
      <p:grpSp>
        <p:nvGrpSpPr>
          <p:cNvPr id="1369" name="Google Shape;1424;p33"/>
          <p:cNvGrpSpPr/>
          <p:nvPr/>
        </p:nvGrpSpPr>
        <p:grpSpPr>
          <a:xfrm>
            <a:off x="6334838" y="3799113"/>
            <a:ext cx="2082301" cy="273601"/>
            <a:chOff x="0" y="0"/>
            <a:chExt cx="2082300" cy="273599"/>
          </a:xfrm>
        </p:grpSpPr>
        <p:sp>
          <p:nvSpPr>
            <p:cNvPr id="1367" name="Rectangle aux angles arrondis"/>
            <p:cNvSpPr/>
            <p:nvPr/>
          </p:nvSpPr>
          <p:spPr>
            <a:xfrm>
              <a:off x="0" y="0"/>
              <a:ext cx="20823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68" name="Portfolio Growth &amp; Churn Prevention"/>
            <p:cNvSpPr txBox="1"/>
            <p:nvPr/>
          </p:nvSpPr>
          <p:spPr>
            <a:xfrm>
              <a:off x="13355" y="20349"/>
              <a:ext cx="2055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Portfolio Growth &amp; Churn Prevention</a:t>
              </a:r>
            </a:p>
          </p:txBody>
        </p:sp>
      </p:grpSp>
      <p:grpSp>
        <p:nvGrpSpPr>
          <p:cNvPr id="1372" name="Google Shape;1425;p33"/>
          <p:cNvGrpSpPr/>
          <p:nvPr/>
        </p:nvGrpSpPr>
        <p:grpSpPr>
          <a:xfrm>
            <a:off x="6334812" y="3501413"/>
            <a:ext cx="1029601" cy="273601"/>
            <a:chOff x="0" y="0"/>
            <a:chExt cx="1029600" cy="273599"/>
          </a:xfrm>
        </p:grpSpPr>
        <p:sp>
          <p:nvSpPr>
            <p:cNvPr id="1370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71" name="Client Territory Planning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Client Territory Planning</a:t>
              </a:r>
            </a:p>
          </p:txBody>
        </p:sp>
      </p:grpSp>
      <p:grpSp>
        <p:nvGrpSpPr>
          <p:cNvPr id="1375" name="Google Shape;1426;p33"/>
          <p:cNvGrpSpPr/>
          <p:nvPr/>
        </p:nvGrpSpPr>
        <p:grpSpPr>
          <a:xfrm>
            <a:off x="7388162" y="3467589"/>
            <a:ext cx="1029602" cy="341248"/>
            <a:chOff x="0" y="0"/>
            <a:chExt cx="1029600" cy="341246"/>
          </a:xfrm>
        </p:grpSpPr>
        <p:sp>
          <p:nvSpPr>
            <p:cNvPr id="1373" name="Rectangle aux angles arrondis"/>
            <p:cNvSpPr/>
            <p:nvPr/>
          </p:nvSpPr>
          <p:spPr>
            <a:xfrm>
              <a:off x="0" y="33823"/>
              <a:ext cx="1029601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74" name="Outreach Strategy, SLAs &amp; Quotas"/>
            <p:cNvSpPr txBox="1"/>
            <p:nvPr/>
          </p:nvSpPr>
          <p:spPr>
            <a:xfrm>
              <a:off x="13355" y="0"/>
              <a:ext cx="10028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Outreach Strategy, SLAs &amp; Quotas</a:t>
              </a:r>
            </a:p>
          </p:txBody>
        </p:sp>
      </p:grpSp>
      <p:grpSp>
        <p:nvGrpSpPr>
          <p:cNvPr id="1378" name="Google Shape;1427;p33"/>
          <p:cNvGrpSpPr/>
          <p:nvPr/>
        </p:nvGrpSpPr>
        <p:grpSpPr>
          <a:xfrm>
            <a:off x="3953024" y="3799275"/>
            <a:ext cx="681301" cy="273601"/>
            <a:chOff x="0" y="0"/>
            <a:chExt cx="681299" cy="273599"/>
          </a:xfrm>
        </p:grpSpPr>
        <p:sp>
          <p:nvSpPr>
            <p:cNvPr id="1376" name="Rectangle aux angles arrondis"/>
            <p:cNvSpPr/>
            <p:nvPr/>
          </p:nvSpPr>
          <p:spPr>
            <a:xfrm>
              <a:off x="0" y="0"/>
              <a:ext cx="681300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77" name="Demo"/>
            <p:cNvSpPr txBox="1"/>
            <p:nvPr/>
          </p:nvSpPr>
          <p:spPr>
            <a:xfrm>
              <a:off x="13355" y="20349"/>
              <a:ext cx="654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Demo</a:t>
              </a:r>
            </a:p>
          </p:txBody>
        </p:sp>
      </p:grpSp>
      <p:grpSp>
        <p:nvGrpSpPr>
          <p:cNvPr id="1381" name="Google Shape;1428;p33"/>
          <p:cNvGrpSpPr/>
          <p:nvPr/>
        </p:nvGrpSpPr>
        <p:grpSpPr>
          <a:xfrm>
            <a:off x="4654124" y="3765451"/>
            <a:ext cx="681301" cy="341248"/>
            <a:chOff x="0" y="0"/>
            <a:chExt cx="681299" cy="341246"/>
          </a:xfrm>
        </p:grpSpPr>
        <p:sp>
          <p:nvSpPr>
            <p:cNvPr id="1379" name="Rectangle aux angles arrondis"/>
            <p:cNvSpPr/>
            <p:nvPr/>
          </p:nvSpPr>
          <p:spPr>
            <a:xfrm>
              <a:off x="0" y="33823"/>
              <a:ext cx="681300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80" name="Proposal &amp; negotiation"/>
            <p:cNvSpPr txBox="1"/>
            <p:nvPr/>
          </p:nvSpPr>
          <p:spPr>
            <a:xfrm>
              <a:off x="13355" y="0"/>
              <a:ext cx="6545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Proposal &amp; negotiation</a:t>
              </a:r>
            </a:p>
          </p:txBody>
        </p:sp>
      </p:grpSp>
      <p:grpSp>
        <p:nvGrpSpPr>
          <p:cNvPr id="1384" name="Google Shape;1429;p33"/>
          <p:cNvGrpSpPr/>
          <p:nvPr/>
        </p:nvGrpSpPr>
        <p:grpSpPr>
          <a:xfrm>
            <a:off x="5355225" y="3799275"/>
            <a:ext cx="681301" cy="273601"/>
            <a:chOff x="0" y="0"/>
            <a:chExt cx="681299" cy="273599"/>
          </a:xfrm>
        </p:grpSpPr>
        <p:sp>
          <p:nvSpPr>
            <p:cNvPr id="1382" name="Rectangle aux angles arrondis"/>
            <p:cNvSpPr/>
            <p:nvPr/>
          </p:nvSpPr>
          <p:spPr>
            <a:xfrm>
              <a:off x="0" y="0"/>
              <a:ext cx="681300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83" name="Closing"/>
            <p:cNvSpPr txBox="1"/>
            <p:nvPr/>
          </p:nvSpPr>
          <p:spPr>
            <a:xfrm>
              <a:off x="13355" y="20349"/>
              <a:ext cx="654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Closing</a:t>
              </a:r>
            </a:p>
          </p:txBody>
        </p:sp>
      </p:grpSp>
      <p:grpSp>
        <p:nvGrpSpPr>
          <p:cNvPr id="1387" name="Google Shape;1430;p33"/>
          <p:cNvGrpSpPr/>
          <p:nvPr/>
        </p:nvGrpSpPr>
        <p:grpSpPr>
          <a:xfrm>
            <a:off x="3953474" y="3501425"/>
            <a:ext cx="1029602" cy="273601"/>
            <a:chOff x="0" y="0"/>
            <a:chExt cx="1029600" cy="273599"/>
          </a:xfrm>
        </p:grpSpPr>
        <p:sp>
          <p:nvSpPr>
            <p:cNvPr id="1385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86" name="Prospection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Prospection</a:t>
              </a:r>
            </a:p>
          </p:txBody>
        </p:sp>
      </p:grpSp>
      <p:grpSp>
        <p:nvGrpSpPr>
          <p:cNvPr id="1390" name="Google Shape;1431;p33"/>
          <p:cNvGrpSpPr/>
          <p:nvPr/>
        </p:nvGrpSpPr>
        <p:grpSpPr>
          <a:xfrm>
            <a:off x="5006825" y="3501425"/>
            <a:ext cx="1029601" cy="273601"/>
            <a:chOff x="0" y="0"/>
            <a:chExt cx="1029600" cy="273599"/>
          </a:xfrm>
        </p:grpSpPr>
        <p:sp>
          <p:nvSpPr>
            <p:cNvPr id="1388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89" name="Discovery &amp; Qualification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Discovery &amp; Qualification</a:t>
              </a:r>
            </a:p>
          </p:txBody>
        </p:sp>
      </p:grpSp>
      <p:grpSp>
        <p:nvGrpSpPr>
          <p:cNvPr id="1393" name="Google Shape;1432;p33"/>
          <p:cNvGrpSpPr/>
          <p:nvPr/>
        </p:nvGrpSpPr>
        <p:grpSpPr>
          <a:xfrm>
            <a:off x="1571225" y="3764701"/>
            <a:ext cx="681301" cy="341248"/>
            <a:chOff x="0" y="0"/>
            <a:chExt cx="681299" cy="341246"/>
          </a:xfrm>
        </p:grpSpPr>
        <p:sp>
          <p:nvSpPr>
            <p:cNvPr id="1391" name="Rectangle aux angles arrondis"/>
            <p:cNvSpPr/>
            <p:nvPr/>
          </p:nvSpPr>
          <p:spPr>
            <a:xfrm>
              <a:off x="0" y="33823"/>
              <a:ext cx="681300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92" name="Alignment with Sales"/>
            <p:cNvSpPr txBox="1"/>
            <p:nvPr/>
          </p:nvSpPr>
          <p:spPr>
            <a:xfrm>
              <a:off x="13355" y="0"/>
              <a:ext cx="6545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Alignment with Sales</a:t>
              </a:r>
            </a:p>
          </p:txBody>
        </p:sp>
      </p:grpSp>
      <p:grpSp>
        <p:nvGrpSpPr>
          <p:cNvPr id="1396" name="Google Shape;1433;p33"/>
          <p:cNvGrpSpPr/>
          <p:nvPr/>
        </p:nvGrpSpPr>
        <p:grpSpPr>
          <a:xfrm>
            <a:off x="2272325" y="3764701"/>
            <a:ext cx="681301" cy="341248"/>
            <a:chOff x="0" y="0"/>
            <a:chExt cx="681299" cy="341246"/>
          </a:xfrm>
        </p:grpSpPr>
        <p:sp>
          <p:nvSpPr>
            <p:cNvPr id="1394" name="Rectangle aux angles arrondis"/>
            <p:cNvSpPr/>
            <p:nvPr/>
          </p:nvSpPr>
          <p:spPr>
            <a:xfrm>
              <a:off x="0" y="33823"/>
              <a:ext cx="681300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95" name="Campaign Management"/>
            <p:cNvSpPr txBox="1"/>
            <p:nvPr/>
          </p:nvSpPr>
          <p:spPr>
            <a:xfrm>
              <a:off x="13355" y="0"/>
              <a:ext cx="6545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Campaign Management</a:t>
              </a:r>
            </a:p>
          </p:txBody>
        </p:sp>
      </p:grpSp>
      <p:grpSp>
        <p:nvGrpSpPr>
          <p:cNvPr id="1399" name="Google Shape;1434;p33"/>
          <p:cNvGrpSpPr/>
          <p:nvPr/>
        </p:nvGrpSpPr>
        <p:grpSpPr>
          <a:xfrm>
            <a:off x="2973425" y="3764701"/>
            <a:ext cx="681301" cy="341248"/>
            <a:chOff x="0" y="0"/>
            <a:chExt cx="681299" cy="341246"/>
          </a:xfrm>
        </p:grpSpPr>
        <p:sp>
          <p:nvSpPr>
            <p:cNvPr id="1397" name="Rectangle aux angles arrondis"/>
            <p:cNvSpPr/>
            <p:nvPr/>
          </p:nvSpPr>
          <p:spPr>
            <a:xfrm>
              <a:off x="0" y="33823"/>
              <a:ext cx="681300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398" name="Full funnel data"/>
            <p:cNvSpPr txBox="1"/>
            <p:nvPr/>
          </p:nvSpPr>
          <p:spPr>
            <a:xfrm>
              <a:off x="13355" y="0"/>
              <a:ext cx="6545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Full funnel data</a:t>
              </a:r>
            </a:p>
          </p:txBody>
        </p:sp>
      </p:grpSp>
      <p:grpSp>
        <p:nvGrpSpPr>
          <p:cNvPr id="1402" name="Google Shape;1435;p33"/>
          <p:cNvGrpSpPr/>
          <p:nvPr/>
        </p:nvGrpSpPr>
        <p:grpSpPr>
          <a:xfrm>
            <a:off x="1571674" y="3466851"/>
            <a:ext cx="1029602" cy="341248"/>
            <a:chOff x="0" y="0"/>
            <a:chExt cx="1029600" cy="341246"/>
          </a:xfrm>
        </p:grpSpPr>
        <p:sp>
          <p:nvSpPr>
            <p:cNvPr id="1400" name="Rectangle aux angles arrondis"/>
            <p:cNvSpPr/>
            <p:nvPr/>
          </p:nvSpPr>
          <p:spPr>
            <a:xfrm>
              <a:off x="0" y="33823"/>
              <a:ext cx="1029601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01" name="Demand Generation Strategy"/>
            <p:cNvSpPr txBox="1"/>
            <p:nvPr/>
          </p:nvSpPr>
          <p:spPr>
            <a:xfrm>
              <a:off x="13355" y="0"/>
              <a:ext cx="10028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Demand Generation Strategy</a:t>
              </a:r>
            </a:p>
          </p:txBody>
        </p:sp>
      </p:grpSp>
      <p:grpSp>
        <p:nvGrpSpPr>
          <p:cNvPr id="1405" name="Google Shape;1436;p33"/>
          <p:cNvGrpSpPr/>
          <p:nvPr/>
        </p:nvGrpSpPr>
        <p:grpSpPr>
          <a:xfrm>
            <a:off x="2625025" y="3466851"/>
            <a:ext cx="1029601" cy="341248"/>
            <a:chOff x="0" y="0"/>
            <a:chExt cx="1029600" cy="341246"/>
          </a:xfrm>
        </p:grpSpPr>
        <p:sp>
          <p:nvSpPr>
            <p:cNvPr id="1403" name="Rectangle aux angles arrondis"/>
            <p:cNvSpPr/>
            <p:nvPr/>
          </p:nvSpPr>
          <p:spPr>
            <a:xfrm>
              <a:off x="0" y="33823"/>
              <a:ext cx="1029601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04" name="Team Structure &amp; Ownership"/>
            <p:cNvSpPr txBox="1"/>
            <p:nvPr/>
          </p:nvSpPr>
          <p:spPr>
            <a:xfrm>
              <a:off x="13355" y="0"/>
              <a:ext cx="10028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Team Structure &amp; Ownership</a:t>
              </a:r>
            </a:p>
          </p:txBody>
        </p:sp>
      </p:grpSp>
      <p:grpSp>
        <p:nvGrpSpPr>
          <p:cNvPr id="1408" name="Google Shape;1437;p33"/>
          <p:cNvGrpSpPr/>
          <p:nvPr/>
        </p:nvGrpSpPr>
        <p:grpSpPr>
          <a:xfrm>
            <a:off x="1575274" y="2684087"/>
            <a:ext cx="1688102" cy="273601"/>
            <a:chOff x="0" y="0"/>
            <a:chExt cx="1688100" cy="273599"/>
          </a:xfrm>
        </p:grpSpPr>
        <p:sp>
          <p:nvSpPr>
            <p:cNvPr id="1406" name="Rectangle aux angles arrondis"/>
            <p:cNvSpPr/>
            <p:nvPr/>
          </p:nvSpPr>
          <p:spPr>
            <a:xfrm>
              <a:off x="0" y="0"/>
              <a:ext cx="16881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1407" name="Org Structure"/>
            <p:cNvSpPr txBox="1"/>
            <p:nvPr/>
          </p:nvSpPr>
          <p:spPr>
            <a:xfrm>
              <a:off x="13356" y="20349"/>
              <a:ext cx="1661388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Org Structure</a:t>
              </a:r>
            </a:p>
          </p:txBody>
        </p:sp>
      </p:grpSp>
      <p:grpSp>
        <p:nvGrpSpPr>
          <p:cNvPr id="1411" name="Google Shape;1438;p33"/>
          <p:cNvGrpSpPr/>
          <p:nvPr/>
        </p:nvGrpSpPr>
        <p:grpSpPr>
          <a:xfrm>
            <a:off x="3303799" y="2680112"/>
            <a:ext cx="1688101" cy="273601"/>
            <a:chOff x="0" y="0"/>
            <a:chExt cx="1688100" cy="273599"/>
          </a:xfrm>
        </p:grpSpPr>
        <p:sp>
          <p:nvSpPr>
            <p:cNvPr id="1409" name="Rectangle aux angles arrondis"/>
            <p:cNvSpPr/>
            <p:nvPr/>
          </p:nvSpPr>
          <p:spPr>
            <a:xfrm>
              <a:off x="0" y="0"/>
              <a:ext cx="16881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10" name="Career Path and Competency Framework"/>
            <p:cNvSpPr txBox="1"/>
            <p:nvPr/>
          </p:nvSpPr>
          <p:spPr>
            <a:xfrm>
              <a:off x="13356" y="20349"/>
              <a:ext cx="1661388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Career Path and Competency Framework</a:t>
              </a:r>
            </a:p>
          </p:txBody>
        </p:sp>
      </p:grpSp>
      <p:grpSp>
        <p:nvGrpSpPr>
          <p:cNvPr id="1414" name="Google Shape;1439;p33"/>
          <p:cNvGrpSpPr/>
          <p:nvPr/>
        </p:nvGrpSpPr>
        <p:grpSpPr>
          <a:xfrm>
            <a:off x="5035100" y="2680099"/>
            <a:ext cx="1688101" cy="273601"/>
            <a:chOff x="0" y="0"/>
            <a:chExt cx="1688100" cy="273599"/>
          </a:xfrm>
        </p:grpSpPr>
        <p:sp>
          <p:nvSpPr>
            <p:cNvPr id="1412" name="Rectangle aux angles arrondis"/>
            <p:cNvSpPr/>
            <p:nvPr/>
          </p:nvSpPr>
          <p:spPr>
            <a:xfrm>
              <a:off x="0" y="0"/>
              <a:ext cx="16881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13" name="Employee Engagement"/>
            <p:cNvSpPr txBox="1"/>
            <p:nvPr/>
          </p:nvSpPr>
          <p:spPr>
            <a:xfrm>
              <a:off x="13356" y="20349"/>
              <a:ext cx="1661388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Employee Engagement</a:t>
              </a:r>
            </a:p>
          </p:txBody>
        </p:sp>
      </p:grpSp>
      <p:grpSp>
        <p:nvGrpSpPr>
          <p:cNvPr id="1417" name="Google Shape;1440;p33"/>
          <p:cNvGrpSpPr/>
          <p:nvPr/>
        </p:nvGrpSpPr>
        <p:grpSpPr>
          <a:xfrm>
            <a:off x="6760574" y="2680099"/>
            <a:ext cx="1688101" cy="273601"/>
            <a:chOff x="0" y="0"/>
            <a:chExt cx="1688100" cy="273599"/>
          </a:xfrm>
        </p:grpSpPr>
        <p:sp>
          <p:nvSpPr>
            <p:cNvPr id="1415" name="Rectangle aux angles arrondis"/>
            <p:cNvSpPr/>
            <p:nvPr/>
          </p:nvSpPr>
          <p:spPr>
            <a:xfrm>
              <a:off x="0" y="0"/>
              <a:ext cx="16881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16" name="Manager Academy"/>
            <p:cNvSpPr txBox="1"/>
            <p:nvPr/>
          </p:nvSpPr>
          <p:spPr>
            <a:xfrm>
              <a:off x="13356" y="20349"/>
              <a:ext cx="1661388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Manager Academy</a:t>
              </a:r>
            </a:p>
          </p:txBody>
        </p:sp>
      </p:grpSp>
      <p:grpSp>
        <p:nvGrpSpPr>
          <p:cNvPr id="1420" name="Google Shape;1441;p33"/>
          <p:cNvGrpSpPr/>
          <p:nvPr/>
        </p:nvGrpSpPr>
        <p:grpSpPr>
          <a:xfrm>
            <a:off x="6334962" y="1980363"/>
            <a:ext cx="2082301" cy="273601"/>
            <a:chOff x="0" y="0"/>
            <a:chExt cx="2082300" cy="273599"/>
          </a:xfrm>
        </p:grpSpPr>
        <p:sp>
          <p:nvSpPr>
            <p:cNvPr id="1418" name="Rectangle aux angles arrondis"/>
            <p:cNvSpPr/>
            <p:nvPr/>
          </p:nvSpPr>
          <p:spPr>
            <a:xfrm>
              <a:off x="0" y="0"/>
              <a:ext cx="20823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19" name="Under &amp; Top Performance Management"/>
            <p:cNvSpPr txBox="1"/>
            <p:nvPr/>
          </p:nvSpPr>
          <p:spPr>
            <a:xfrm>
              <a:off x="13355" y="20349"/>
              <a:ext cx="20555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Under &amp; Top Performance Management</a:t>
              </a:r>
            </a:p>
          </p:txBody>
        </p:sp>
      </p:grpSp>
      <p:grpSp>
        <p:nvGrpSpPr>
          <p:cNvPr id="1423" name="Google Shape;1442;p33"/>
          <p:cNvGrpSpPr/>
          <p:nvPr/>
        </p:nvGrpSpPr>
        <p:grpSpPr>
          <a:xfrm>
            <a:off x="6334938" y="1648839"/>
            <a:ext cx="1029601" cy="341248"/>
            <a:chOff x="0" y="0"/>
            <a:chExt cx="1029600" cy="341246"/>
          </a:xfrm>
        </p:grpSpPr>
        <p:sp>
          <p:nvSpPr>
            <p:cNvPr id="1421" name="Rectangle aux angles arrondis"/>
            <p:cNvSpPr/>
            <p:nvPr/>
          </p:nvSpPr>
          <p:spPr>
            <a:xfrm>
              <a:off x="0" y="33823"/>
              <a:ext cx="1029601" cy="273601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22" name="Sales Performance Routine"/>
            <p:cNvSpPr txBox="1"/>
            <p:nvPr/>
          </p:nvSpPr>
          <p:spPr>
            <a:xfrm>
              <a:off x="13355" y="0"/>
              <a:ext cx="1002890" cy="341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Performance Routine</a:t>
              </a:r>
            </a:p>
          </p:txBody>
        </p:sp>
      </p:grpSp>
      <p:grpSp>
        <p:nvGrpSpPr>
          <p:cNvPr id="1426" name="Google Shape;1443;p33"/>
          <p:cNvGrpSpPr/>
          <p:nvPr/>
        </p:nvGrpSpPr>
        <p:grpSpPr>
          <a:xfrm>
            <a:off x="7388287" y="1682662"/>
            <a:ext cx="1029601" cy="273601"/>
            <a:chOff x="0" y="0"/>
            <a:chExt cx="1029600" cy="273599"/>
          </a:xfrm>
        </p:grpSpPr>
        <p:sp>
          <p:nvSpPr>
            <p:cNvPr id="1424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25" name="Sales Floor Animation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Floor Animation</a:t>
              </a:r>
            </a:p>
          </p:txBody>
        </p:sp>
      </p:grpSp>
      <p:grpSp>
        <p:nvGrpSpPr>
          <p:cNvPr id="1429" name="Google Shape;1444;p33"/>
          <p:cNvGrpSpPr/>
          <p:nvPr/>
        </p:nvGrpSpPr>
        <p:grpSpPr>
          <a:xfrm>
            <a:off x="3953312" y="1979024"/>
            <a:ext cx="1029601" cy="273601"/>
            <a:chOff x="0" y="0"/>
            <a:chExt cx="1029600" cy="273599"/>
          </a:xfrm>
        </p:grpSpPr>
        <p:sp>
          <p:nvSpPr>
            <p:cNvPr id="1427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28" name="Sales Playbook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Playbook</a:t>
              </a:r>
            </a:p>
          </p:txBody>
        </p:sp>
      </p:grpSp>
      <p:grpSp>
        <p:nvGrpSpPr>
          <p:cNvPr id="1432" name="Google Shape;1445;p33"/>
          <p:cNvGrpSpPr/>
          <p:nvPr/>
        </p:nvGrpSpPr>
        <p:grpSpPr>
          <a:xfrm>
            <a:off x="3953312" y="1681325"/>
            <a:ext cx="1029601" cy="273601"/>
            <a:chOff x="0" y="0"/>
            <a:chExt cx="1029600" cy="273599"/>
          </a:xfrm>
        </p:grpSpPr>
        <p:sp>
          <p:nvSpPr>
            <p:cNvPr id="1430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31" name="Knowledge Management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Knowledge Management</a:t>
              </a:r>
            </a:p>
          </p:txBody>
        </p:sp>
      </p:grpSp>
      <p:grpSp>
        <p:nvGrpSpPr>
          <p:cNvPr id="1435" name="Google Shape;1446;p33"/>
          <p:cNvGrpSpPr/>
          <p:nvPr/>
        </p:nvGrpSpPr>
        <p:grpSpPr>
          <a:xfrm>
            <a:off x="5006663" y="1681325"/>
            <a:ext cx="1029601" cy="273601"/>
            <a:chOff x="0" y="0"/>
            <a:chExt cx="1029600" cy="273599"/>
          </a:xfrm>
        </p:grpSpPr>
        <p:sp>
          <p:nvSpPr>
            <p:cNvPr id="1433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34" name="Sales Collaterals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Collaterals</a:t>
              </a:r>
            </a:p>
          </p:txBody>
        </p:sp>
      </p:grpSp>
      <p:grpSp>
        <p:nvGrpSpPr>
          <p:cNvPr id="1438" name="Google Shape;1447;p33"/>
          <p:cNvGrpSpPr/>
          <p:nvPr/>
        </p:nvGrpSpPr>
        <p:grpSpPr>
          <a:xfrm>
            <a:off x="5006663" y="1979024"/>
            <a:ext cx="1029601" cy="273601"/>
            <a:chOff x="0" y="0"/>
            <a:chExt cx="1029600" cy="273599"/>
          </a:xfrm>
        </p:grpSpPr>
        <p:sp>
          <p:nvSpPr>
            <p:cNvPr id="1436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37" name="Sales Training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Sales Training</a:t>
              </a:r>
            </a:p>
          </p:txBody>
        </p:sp>
      </p:grpSp>
      <p:grpSp>
        <p:nvGrpSpPr>
          <p:cNvPr id="1441" name="Google Shape;1448;p33"/>
          <p:cNvGrpSpPr/>
          <p:nvPr/>
        </p:nvGrpSpPr>
        <p:grpSpPr>
          <a:xfrm>
            <a:off x="1571699" y="1979024"/>
            <a:ext cx="1029602" cy="273601"/>
            <a:chOff x="0" y="0"/>
            <a:chExt cx="1029600" cy="273599"/>
          </a:xfrm>
        </p:grpSpPr>
        <p:sp>
          <p:nvSpPr>
            <p:cNvPr id="1439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40" name="New hire onboarding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New hire onboarding</a:t>
              </a:r>
            </a:p>
          </p:txBody>
        </p:sp>
      </p:grpSp>
      <p:grpSp>
        <p:nvGrpSpPr>
          <p:cNvPr id="1444" name="Google Shape;1449;p33"/>
          <p:cNvGrpSpPr/>
          <p:nvPr/>
        </p:nvGrpSpPr>
        <p:grpSpPr>
          <a:xfrm>
            <a:off x="1571699" y="1681325"/>
            <a:ext cx="1029602" cy="273601"/>
            <a:chOff x="0" y="0"/>
            <a:chExt cx="1029600" cy="273599"/>
          </a:xfrm>
        </p:grpSpPr>
        <p:sp>
          <p:nvSpPr>
            <p:cNvPr id="1442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1443" name="Talent Acquisition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Talent Acquisition</a:t>
              </a:r>
            </a:p>
          </p:txBody>
        </p:sp>
      </p:grpSp>
      <p:grpSp>
        <p:nvGrpSpPr>
          <p:cNvPr id="1447" name="Google Shape;1450;p33"/>
          <p:cNvGrpSpPr/>
          <p:nvPr/>
        </p:nvGrpSpPr>
        <p:grpSpPr>
          <a:xfrm>
            <a:off x="2625050" y="1681325"/>
            <a:ext cx="1029601" cy="273601"/>
            <a:chOff x="0" y="0"/>
            <a:chExt cx="1029600" cy="273599"/>
          </a:xfrm>
        </p:grpSpPr>
        <p:sp>
          <p:nvSpPr>
            <p:cNvPr id="1445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46" name="Hiring process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Hiring process</a:t>
              </a:r>
            </a:p>
          </p:txBody>
        </p:sp>
      </p:grpSp>
      <p:grpSp>
        <p:nvGrpSpPr>
          <p:cNvPr id="1450" name="Google Shape;1451;p33"/>
          <p:cNvGrpSpPr/>
          <p:nvPr/>
        </p:nvGrpSpPr>
        <p:grpSpPr>
          <a:xfrm>
            <a:off x="2625050" y="1979024"/>
            <a:ext cx="1029601" cy="273601"/>
            <a:chOff x="0" y="0"/>
            <a:chExt cx="1029600" cy="273599"/>
          </a:xfrm>
        </p:grpSpPr>
        <p:sp>
          <p:nvSpPr>
            <p:cNvPr id="1448" name="Rectangle aux angles arrondis"/>
            <p:cNvSpPr/>
            <p:nvPr/>
          </p:nvSpPr>
          <p:spPr>
            <a:xfrm>
              <a:off x="0" y="0"/>
              <a:ext cx="1029601" cy="2736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pPr>
            </a:p>
          </p:txBody>
        </p:sp>
        <p:sp>
          <p:nvSpPr>
            <p:cNvPr id="1449" name="New hire ramp-up"/>
            <p:cNvSpPr txBox="1"/>
            <p:nvPr/>
          </p:nvSpPr>
          <p:spPr>
            <a:xfrm>
              <a:off x="13355" y="20349"/>
              <a:ext cx="1002890" cy="232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000" tIns="72000" rIns="72000" bIns="72000" numCol="1" anchor="ctr">
              <a:spAutoFit/>
            </a:bodyPr>
            <a:lstStyle>
              <a:lvl1pPr>
                <a:lnSpc>
                  <a:spcPct val="121875"/>
                </a:lnSpc>
                <a:defRPr sz="600">
                  <a:solidFill>
                    <a:srgbClr val="19323F"/>
                  </a:solidFill>
                  <a:latin typeface="Space Grotesk"/>
                  <a:ea typeface="Space Grotesk"/>
                  <a:cs typeface="Space Grotesk"/>
                  <a:sym typeface="Space Grotesk"/>
                </a:defRPr>
              </a:lvl1pPr>
            </a:lstStyle>
            <a:p>
              <a:pPr/>
              <a:r>
                <a:t>New hire ramp-up</a:t>
              </a:r>
            </a:p>
          </p:txBody>
        </p:sp>
      </p:grpSp>
      <p:sp>
        <p:nvSpPr>
          <p:cNvPr id="1451" name="Google Shape;1452;p33"/>
          <p:cNvSpPr txBox="1"/>
          <p:nvPr/>
        </p:nvSpPr>
        <p:spPr>
          <a:xfrm>
            <a:off x="1585563" y="1366700"/>
            <a:ext cx="2055823" cy="30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Hiring &amp; Ramp-up</a:t>
            </a:r>
          </a:p>
        </p:txBody>
      </p:sp>
      <p:sp>
        <p:nvSpPr>
          <p:cNvPr id="1452" name="Google Shape;1453;p33"/>
          <p:cNvSpPr txBox="1"/>
          <p:nvPr/>
        </p:nvSpPr>
        <p:spPr>
          <a:xfrm>
            <a:off x="3966887" y="1366700"/>
            <a:ext cx="2055823" cy="30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Enablement</a:t>
            </a:r>
          </a:p>
        </p:txBody>
      </p:sp>
      <p:sp>
        <p:nvSpPr>
          <p:cNvPr id="1453" name="Google Shape;1454;p33"/>
          <p:cNvSpPr txBox="1"/>
          <p:nvPr/>
        </p:nvSpPr>
        <p:spPr>
          <a:xfrm>
            <a:off x="6348237" y="1366700"/>
            <a:ext cx="2055823" cy="30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Performance Management</a:t>
            </a:r>
          </a:p>
        </p:txBody>
      </p:sp>
      <p:sp>
        <p:nvSpPr>
          <p:cNvPr id="1454" name="Google Shape;1455;p33"/>
          <p:cNvSpPr txBox="1"/>
          <p:nvPr/>
        </p:nvSpPr>
        <p:spPr>
          <a:xfrm>
            <a:off x="1585564" y="2356455"/>
            <a:ext cx="6852822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Talent Management</a:t>
            </a:r>
          </a:p>
        </p:txBody>
      </p:sp>
      <p:sp>
        <p:nvSpPr>
          <p:cNvPr id="1455" name="Google Shape;1456;p33"/>
          <p:cNvSpPr txBox="1"/>
          <p:nvPr/>
        </p:nvSpPr>
        <p:spPr>
          <a:xfrm>
            <a:off x="1585550" y="3185900"/>
            <a:ext cx="2055823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Demand Generation</a:t>
            </a:r>
          </a:p>
        </p:txBody>
      </p:sp>
      <p:sp>
        <p:nvSpPr>
          <p:cNvPr id="1456" name="Google Shape;1457;p33"/>
          <p:cNvSpPr txBox="1"/>
          <p:nvPr/>
        </p:nvSpPr>
        <p:spPr>
          <a:xfrm>
            <a:off x="3966875" y="3185900"/>
            <a:ext cx="2055823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Sales Execution</a:t>
            </a:r>
          </a:p>
        </p:txBody>
      </p:sp>
      <p:sp>
        <p:nvSpPr>
          <p:cNvPr id="1457" name="Google Shape;1458;p33"/>
          <p:cNvSpPr txBox="1"/>
          <p:nvPr/>
        </p:nvSpPr>
        <p:spPr>
          <a:xfrm>
            <a:off x="6348225" y="3185900"/>
            <a:ext cx="2055823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Client Relationship</a:t>
            </a:r>
          </a:p>
        </p:txBody>
      </p:sp>
      <p:sp>
        <p:nvSpPr>
          <p:cNvPr id="1458" name="Google Shape;1459;p33"/>
          <p:cNvSpPr txBox="1"/>
          <p:nvPr/>
        </p:nvSpPr>
        <p:spPr>
          <a:xfrm>
            <a:off x="1585551" y="4175656"/>
            <a:ext cx="6852822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21875"/>
              </a:lnSpc>
              <a:defRPr sz="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Revenue Operations</a:t>
            </a:r>
          </a:p>
        </p:txBody>
      </p:sp>
      <p:sp>
        <p:nvSpPr>
          <p:cNvPr id="1459" name="Google Shape;1460;p33"/>
          <p:cNvSpPr txBox="1"/>
          <p:nvPr>
            <p:ph type="ctrTitle"/>
          </p:nvPr>
        </p:nvSpPr>
        <p:spPr>
          <a:xfrm>
            <a:off x="483602" y="638424"/>
            <a:ext cx="8272499" cy="56520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Atscale Assessment &amp; Recommended Scoping</a:t>
            </a:r>
          </a:p>
        </p:txBody>
      </p:sp>
      <p:pic>
        <p:nvPicPr>
          <p:cNvPr id="1460" name="Logo_atscale_sans texture.pngGoogle Shape;1462;p33" descr="Logo_atscale_sans texture.pngGoogle Shape;1462;p3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461" name="Google Shape;1464;p33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Assessments</a:t>
            </a:r>
          </a:p>
        </p:txBody>
      </p:sp>
      <p:sp>
        <p:nvSpPr>
          <p:cNvPr id="1462" name="Google Shape;1465;p33"/>
          <p:cNvSpPr txBox="1"/>
          <p:nvPr/>
        </p:nvSpPr>
        <p:spPr>
          <a:xfrm>
            <a:off x="573599" y="2014045"/>
            <a:ext cx="1074901" cy="30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900">
                <a:solidFill>
                  <a:srgbClr val="2E46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Sales Reps Excellence</a:t>
            </a:r>
          </a:p>
        </p:txBody>
      </p:sp>
      <p:sp>
        <p:nvSpPr>
          <p:cNvPr id="1463" name="Google Shape;1466;p33"/>
          <p:cNvSpPr txBox="1"/>
          <p:nvPr/>
        </p:nvSpPr>
        <p:spPr>
          <a:xfrm>
            <a:off x="573588" y="3918375"/>
            <a:ext cx="10749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1875"/>
              </a:lnSpc>
              <a:defRPr sz="900">
                <a:solidFill>
                  <a:srgbClr val="2E46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Sales Engine</a:t>
            </a:r>
          </a:p>
        </p:txBody>
      </p:sp>
      <p:sp>
        <p:nvSpPr>
          <p:cNvPr id="1464" name="Google Shape;1467;p33"/>
          <p:cNvSpPr txBox="1"/>
          <p:nvPr/>
        </p:nvSpPr>
        <p:spPr>
          <a:xfrm>
            <a:off x="6680848" y="327499"/>
            <a:ext cx="3147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Weak</a:t>
            </a:r>
          </a:p>
        </p:txBody>
      </p:sp>
      <p:sp>
        <p:nvSpPr>
          <p:cNvPr id="1465" name="Google Shape;1468;p33"/>
          <p:cNvSpPr txBox="1"/>
          <p:nvPr/>
        </p:nvSpPr>
        <p:spPr>
          <a:xfrm>
            <a:off x="8206089" y="327499"/>
            <a:ext cx="62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Best in class</a:t>
            </a:r>
          </a:p>
        </p:txBody>
      </p:sp>
      <p:sp>
        <p:nvSpPr>
          <p:cNvPr id="1466" name="Google Shape;1469;p33"/>
          <p:cNvSpPr/>
          <p:nvPr/>
        </p:nvSpPr>
        <p:spPr>
          <a:xfrm rot="5400000">
            <a:off x="7946349" y="271700"/>
            <a:ext cx="185101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00" y="0"/>
                </a:moveTo>
                <a:lnTo>
                  <a:pt x="18000" y="0"/>
                </a:lnTo>
                <a:cubicBezTo>
                  <a:pt x="19988" y="0"/>
                  <a:pt x="21600" y="1360"/>
                  <a:pt x="21600" y="303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039"/>
                </a:lnTo>
                <a:cubicBezTo>
                  <a:pt x="0" y="1360"/>
                  <a:pt x="1612" y="0"/>
                  <a:pt x="3600" y="0"/>
                </a:cubicBezTo>
                <a:close/>
              </a:path>
            </a:pathLst>
          </a:custGeom>
          <a:solidFill>
            <a:srgbClr val="FFF2C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467" name="Google Shape;1470;p33"/>
          <p:cNvSpPr/>
          <p:nvPr/>
        </p:nvSpPr>
        <p:spPr>
          <a:xfrm rot="16200000">
            <a:off x="7070200" y="271700"/>
            <a:ext cx="185101" cy="21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00" y="0"/>
                </a:moveTo>
                <a:lnTo>
                  <a:pt x="18000" y="0"/>
                </a:lnTo>
                <a:cubicBezTo>
                  <a:pt x="19988" y="0"/>
                  <a:pt x="21600" y="1360"/>
                  <a:pt x="21600" y="303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039"/>
                </a:lnTo>
                <a:cubicBezTo>
                  <a:pt x="0" y="1360"/>
                  <a:pt x="1612" y="0"/>
                  <a:pt x="3600" y="0"/>
                </a:cubicBezTo>
                <a:close/>
              </a:path>
            </a:pathLst>
          </a:custGeom>
          <a:solidFill>
            <a:srgbClr val="FFF2C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grpSp>
        <p:nvGrpSpPr>
          <p:cNvPr id="1470" name="Google Shape;1471;p33"/>
          <p:cNvGrpSpPr/>
          <p:nvPr/>
        </p:nvGrpSpPr>
        <p:grpSpPr>
          <a:xfrm>
            <a:off x="7272125" y="288800"/>
            <a:ext cx="219301" cy="185101"/>
            <a:chOff x="0" y="0"/>
            <a:chExt cx="219300" cy="185100"/>
          </a:xfrm>
        </p:grpSpPr>
        <p:sp>
          <p:nvSpPr>
            <p:cNvPr id="1468" name="Rectangle"/>
            <p:cNvSpPr/>
            <p:nvPr/>
          </p:nvSpPr>
          <p:spPr>
            <a:xfrm>
              <a:off x="-1" y="-1"/>
              <a:ext cx="219302" cy="185102"/>
            </a:xfrm>
            <a:prstGeom prst="rect">
              <a:avLst/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pPr>
            </a:p>
          </p:txBody>
        </p:sp>
        <p:sp>
          <p:nvSpPr>
            <p:cNvPr id="1469" name="2"/>
            <p:cNvSpPr txBox="1"/>
            <p:nvPr/>
          </p:nvSpPr>
          <p:spPr>
            <a:xfrm>
              <a:off x="-1" y="29049"/>
              <a:ext cx="21930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473" name="Google Shape;1472;p33"/>
          <p:cNvGrpSpPr/>
          <p:nvPr/>
        </p:nvGrpSpPr>
        <p:grpSpPr>
          <a:xfrm>
            <a:off x="7491162" y="288800"/>
            <a:ext cx="219301" cy="185101"/>
            <a:chOff x="0" y="0"/>
            <a:chExt cx="219300" cy="185100"/>
          </a:xfrm>
        </p:grpSpPr>
        <p:sp>
          <p:nvSpPr>
            <p:cNvPr id="1471" name="Rectangle"/>
            <p:cNvSpPr/>
            <p:nvPr/>
          </p:nvSpPr>
          <p:spPr>
            <a:xfrm>
              <a:off x="-1" y="-1"/>
              <a:ext cx="219302" cy="185102"/>
            </a:xfrm>
            <a:prstGeom prst="rect">
              <a:avLst/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pPr>
            </a:p>
          </p:txBody>
        </p:sp>
        <p:sp>
          <p:nvSpPr>
            <p:cNvPr id="1472" name="3"/>
            <p:cNvSpPr txBox="1"/>
            <p:nvPr/>
          </p:nvSpPr>
          <p:spPr>
            <a:xfrm>
              <a:off x="-1" y="29049"/>
              <a:ext cx="21930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476" name="Google Shape;1473;p33"/>
          <p:cNvGrpSpPr/>
          <p:nvPr/>
        </p:nvGrpSpPr>
        <p:grpSpPr>
          <a:xfrm>
            <a:off x="7710199" y="288800"/>
            <a:ext cx="219301" cy="185101"/>
            <a:chOff x="0" y="0"/>
            <a:chExt cx="219300" cy="185100"/>
          </a:xfrm>
        </p:grpSpPr>
        <p:sp>
          <p:nvSpPr>
            <p:cNvPr id="1474" name="Rectangle"/>
            <p:cNvSpPr/>
            <p:nvPr/>
          </p:nvSpPr>
          <p:spPr>
            <a:xfrm>
              <a:off x="-1" y="-1"/>
              <a:ext cx="219302" cy="185102"/>
            </a:xfrm>
            <a:prstGeom prst="rect">
              <a:avLst/>
            </a:prstGeom>
            <a:solidFill>
              <a:srgbClr val="FFF2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pPr>
            </a:p>
          </p:txBody>
        </p:sp>
        <p:sp>
          <p:nvSpPr>
            <p:cNvPr id="1475" name="4"/>
            <p:cNvSpPr txBox="1"/>
            <p:nvPr/>
          </p:nvSpPr>
          <p:spPr>
            <a:xfrm>
              <a:off x="-1" y="29049"/>
              <a:ext cx="21930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700">
                  <a:solidFill>
                    <a:schemeClr val="accent2">
                      <a:lumOff val="21764"/>
                    </a:schemeClr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1477" name="Google Shape;1474;p33"/>
          <p:cNvSpPr txBox="1"/>
          <p:nvPr/>
        </p:nvSpPr>
        <p:spPr>
          <a:xfrm>
            <a:off x="7053099" y="317850"/>
            <a:ext cx="2193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chemeClr val="accent2">
                    <a:lumOff val="21764"/>
                  </a:schemeClr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78" name="Google Shape;1475;p33"/>
          <p:cNvSpPr txBox="1"/>
          <p:nvPr/>
        </p:nvSpPr>
        <p:spPr>
          <a:xfrm>
            <a:off x="7929250" y="317850"/>
            <a:ext cx="2193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chemeClr val="accent2">
                    <a:lumOff val="21764"/>
                  </a:schemeClr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Logo_atscale_sans texture.pngGoogle Shape;1490;p34" descr="Logo_atscale_sans texture.pngGoogle Shape;1490;p3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1481" name="Google Shape;1491;p34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82" name="Google Shape;1492;p34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1483" name="Google Shape;1493;p34"/>
          <p:cNvSpPr txBox="1"/>
          <p:nvPr/>
        </p:nvSpPr>
        <p:spPr>
          <a:xfrm>
            <a:off x="1064393" y="1574301"/>
            <a:ext cx="23889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Introduction</a:t>
            </a:r>
          </a:p>
        </p:txBody>
      </p:sp>
      <p:pic>
        <p:nvPicPr>
          <p:cNvPr id="1484" name="Hexagone.pngGoogle Shape;1494;p34" descr="Hexagone.pngGoogle Shape;1494;p3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225376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485" name="Google Shape;1495;p34"/>
          <p:cNvSpPr txBox="1"/>
          <p:nvPr>
            <p:ph type="ctrTitle"/>
          </p:nvPr>
        </p:nvSpPr>
        <p:spPr>
          <a:xfrm>
            <a:off x="621584" y="2258927"/>
            <a:ext cx="277801" cy="354901"/>
          </a:xfrm>
          <a:prstGeom prst="rect">
            <a:avLst/>
          </a:prstGeom>
        </p:spPr>
        <p:txBody>
          <a:bodyPr lIns="51750" tIns="51750" rIns="51750" bIns="51750"/>
          <a:lstStyle>
            <a:lvl1pPr algn="l">
              <a:defRPr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1486" name="Hexagone.pngGoogle Shape;1496;p34" descr="Hexagone.pngGoogle Shape;1496;p3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301811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487" name="Google Shape;1497;p34"/>
          <p:cNvSpPr txBox="1"/>
          <p:nvPr/>
        </p:nvSpPr>
        <p:spPr>
          <a:xfrm>
            <a:off x="621584" y="3023277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488" name="Hexagone.pngGoogle Shape;1498;p34" descr="Hexagone.pngGoogle Shape;1498;p3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3778691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489" name="Google Shape;1499;p34"/>
          <p:cNvSpPr txBox="1"/>
          <p:nvPr/>
        </p:nvSpPr>
        <p:spPr>
          <a:xfrm>
            <a:off x="609373" y="3783851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90" name="Google Shape;1500;p34"/>
          <p:cNvSpPr txBox="1"/>
          <p:nvPr/>
        </p:nvSpPr>
        <p:spPr>
          <a:xfrm>
            <a:off x="1064400" y="2310901"/>
            <a:ext cx="23889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Revenue Audit findings </a:t>
            </a:r>
          </a:p>
        </p:txBody>
      </p:sp>
      <p:sp>
        <p:nvSpPr>
          <p:cNvPr id="1491" name="Google Shape;1501;p34"/>
          <p:cNvSpPr txBox="1"/>
          <p:nvPr/>
        </p:nvSpPr>
        <p:spPr>
          <a:xfrm>
            <a:off x="1064400" y="3014549"/>
            <a:ext cx="3424500" cy="476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>
                <a:solidFill>
                  <a:srgbClr val="BDD3F3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Competency-Gap Analysis per Building Block</a:t>
            </a:r>
          </a:p>
        </p:txBody>
      </p:sp>
      <p:sp>
        <p:nvSpPr>
          <p:cNvPr id="1492" name="Google Shape;1502;p34"/>
          <p:cNvSpPr txBox="1"/>
          <p:nvPr/>
        </p:nvSpPr>
        <p:spPr>
          <a:xfrm>
            <a:off x="1064399" y="3827950"/>
            <a:ext cx="32055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833"/>
              </a:lnSpc>
              <a:defRPr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6-month Roadmap</a:t>
            </a:r>
          </a:p>
        </p:txBody>
      </p:sp>
      <p:pic>
        <p:nvPicPr>
          <p:cNvPr id="1493" name="Hexagone.pngGoogle Shape;1503;p34" descr="Hexagone.pngGoogle Shape;1503;p3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024" y="1489415"/>
            <a:ext cx="403976" cy="403976"/>
          </a:xfrm>
          <a:prstGeom prst="rect">
            <a:avLst/>
          </a:prstGeom>
          <a:ln w="12700">
            <a:miter lim="400000"/>
          </a:ln>
        </p:spPr>
      </p:pic>
      <p:sp>
        <p:nvSpPr>
          <p:cNvPr id="1494" name="Google Shape;1504;p34"/>
          <p:cNvSpPr txBox="1"/>
          <p:nvPr/>
        </p:nvSpPr>
        <p:spPr>
          <a:xfrm>
            <a:off x="639902" y="1494576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510;p35"/>
          <p:cNvSpPr/>
          <p:nvPr/>
        </p:nvSpPr>
        <p:spPr>
          <a:xfrm>
            <a:off x="6444234" y="1035557"/>
            <a:ext cx="1108801" cy="2434502"/>
          </a:xfrm>
          <a:prstGeom prst="rect">
            <a:avLst/>
          </a:prstGeom>
          <a:solidFill>
            <a:srgbClr val="E6EBF5">
              <a:alpha val="70200"/>
            </a:srgbClr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497" name="Google Shape;1511;p35"/>
          <p:cNvSpPr/>
          <p:nvPr/>
        </p:nvSpPr>
        <p:spPr>
          <a:xfrm>
            <a:off x="7552943" y="1035557"/>
            <a:ext cx="1108801" cy="2434502"/>
          </a:xfrm>
          <a:prstGeom prst="rect">
            <a:avLst/>
          </a:prstGeom>
          <a:solidFill>
            <a:srgbClr val="EEF0F8">
              <a:alpha val="70200"/>
            </a:srgbClr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498" name="Google Shape;1512;p35"/>
          <p:cNvSpPr/>
          <p:nvPr/>
        </p:nvSpPr>
        <p:spPr>
          <a:xfrm>
            <a:off x="5335523" y="1035557"/>
            <a:ext cx="1108801" cy="2434502"/>
          </a:xfrm>
          <a:prstGeom prst="rect">
            <a:avLst/>
          </a:prstGeom>
          <a:solidFill>
            <a:srgbClr val="DDE8F5">
              <a:alpha val="70200"/>
            </a:srgbClr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499" name="Google Shape;1513;p35"/>
          <p:cNvSpPr/>
          <p:nvPr/>
        </p:nvSpPr>
        <p:spPr>
          <a:xfrm>
            <a:off x="-1" y="-1"/>
            <a:ext cx="9141902" cy="288002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00" name="Google Shape;1514;p35"/>
          <p:cNvSpPr/>
          <p:nvPr/>
        </p:nvSpPr>
        <p:spPr>
          <a:xfrm>
            <a:off x="877824" y="54864"/>
            <a:ext cx="1" cy="178201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01" name="Google Shape;1515;p35"/>
          <p:cNvSpPr txBox="1"/>
          <p:nvPr/>
        </p:nvSpPr>
        <p:spPr>
          <a:xfrm>
            <a:off x="980703" y="54218"/>
            <a:ext cx="6103601" cy="179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Recommendations &amp; Roadmap</a:t>
            </a:r>
          </a:p>
        </p:txBody>
      </p:sp>
      <p:sp>
        <p:nvSpPr>
          <p:cNvPr id="1502" name="Google Shape;1516;p35"/>
          <p:cNvSpPr txBox="1"/>
          <p:nvPr/>
        </p:nvSpPr>
        <p:spPr>
          <a:xfrm>
            <a:off x="274329" y="383790"/>
            <a:ext cx="4046201" cy="23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>
              <a:defRPr sz="11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Initiatives Prioritization</a:t>
            </a:r>
          </a:p>
        </p:txBody>
      </p:sp>
      <p:sp>
        <p:nvSpPr>
          <p:cNvPr id="1503" name="Google Shape;1517;p35"/>
          <p:cNvSpPr/>
          <p:nvPr/>
        </p:nvSpPr>
        <p:spPr>
          <a:xfrm>
            <a:off x="34290" y="699516"/>
            <a:ext cx="150900" cy="1018501"/>
          </a:xfrm>
          <a:prstGeom prst="rect">
            <a:avLst/>
          </a:prstGeom>
          <a:solidFill>
            <a:srgbClr val="1800FF"/>
          </a:solidFill>
          <a:ln>
            <a:solidFill>
              <a:srgbClr val="18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04" name="Google Shape;1518;p35"/>
          <p:cNvSpPr txBox="1"/>
          <p:nvPr/>
        </p:nvSpPr>
        <p:spPr>
          <a:xfrm rot="16200000">
            <a:off x="-358825" y="1141889"/>
            <a:ext cx="941800" cy="142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ctr">
              <a:defRPr b="1" sz="500">
                <a:solidFill>
                  <a:srgbClr val="FFFFFF"/>
                </a:solidFill>
              </a:defRPr>
            </a:lvl1pPr>
          </a:lstStyle>
          <a:p>
            <a:pPr/>
            <a:r>
              <a:t>Cycle 1</a:t>
            </a:r>
          </a:p>
        </p:txBody>
      </p:sp>
      <p:sp>
        <p:nvSpPr>
          <p:cNvPr id="1505" name="Google Shape;1519;p35"/>
          <p:cNvSpPr/>
          <p:nvPr/>
        </p:nvSpPr>
        <p:spPr>
          <a:xfrm>
            <a:off x="240029" y="699516"/>
            <a:ext cx="4183502" cy="125700"/>
          </a:xfrm>
          <a:prstGeom prst="rect">
            <a:avLst/>
          </a:prstGeom>
          <a:solidFill>
            <a:srgbClr val="F3F5F8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06" name="Google Shape;1520;p35"/>
          <p:cNvSpPr txBox="1"/>
          <p:nvPr/>
        </p:nvSpPr>
        <p:spPr>
          <a:xfrm>
            <a:off x="240029" y="698865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07" name="Google Shape;1521;p35"/>
          <p:cNvSpPr txBox="1"/>
          <p:nvPr/>
        </p:nvSpPr>
        <p:spPr>
          <a:xfrm>
            <a:off x="432053" y="717915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Performance Rituals &amp; Coaching Framework</a:t>
            </a:r>
          </a:p>
        </p:txBody>
      </p:sp>
      <p:sp>
        <p:nvSpPr>
          <p:cNvPr id="1508" name="Google Shape;1522;p35"/>
          <p:cNvSpPr/>
          <p:nvPr/>
        </p:nvSpPr>
        <p:spPr>
          <a:xfrm>
            <a:off x="3943349" y="720090"/>
            <a:ext cx="466502" cy="84301"/>
          </a:xfrm>
          <a:prstGeom prst="rect">
            <a:avLst/>
          </a:prstGeom>
          <a:solidFill>
            <a:srgbClr val="1800FF"/>
          </a:solidFill>
          <a:ln>
            <a:solidFill>
              <a:srgbClr val="18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09" name="Google Shape;1523;p35"/>
          <p:cNvSpPr txBox="1"/>
          <p:nvPr/>
        </p:nvSpPr>
        <p:spPr>
          <a:xfrm>
            <a:off x="3943349" y="698740"/>
            <a:ext cx="4665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00">
                <a:solidFill>
                  <a:srgbClr val="FFFFFF"/>
                </a:solidFill>
              </a:defRPr>
            </a:lvl1pPr>
          </a:lstStyle>
          <a:p>
            <a:pPr/>
            <a:r>
              <a:t>QUICK WIN</a:t>
            </a:r>
          </a:p>
        </p:txBody>
      </p:sp>
      <p:sp>
        <p:nvSpPr>
          <p:cNvPr id="1510" name="Google Shape;1524;p35"/>
          <p:cNvSpPr/>
          <p:nvPr/>
        </p:nvSpPr>
        <p:spPr>
          <a:xfrm>
            <a:off x="240029" y="827075"/>
            <a:ext cx="4183502" cy="125700"/>
          </a:xfrm>
          <a:prstGeom prst="rect">
            <a:avLst/>
          </a:prstGeom>
          <a:solidFill>
            <a:srgbClr val="FFFFFF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11" name="Google Shape;1525;p35"/>
          <p:cNvSpPr txBox="1"/>
          <p:nvPr/>
        </p:nvSpPr>
        <p:spPr>
          <a:xfrm>
            <a:off x="240029" y="826424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12" name="Google Shape;1526;p35"/>
          <p:cNvSpPr txBox="1"/>
          <p:nvPr/>
        </p:nvSpPr>
        <p:spPr>
          <a:xfrm>
            <a:off x="432053" y="845474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CRM Hygiene, Activity Tracking &amp; Unified KPI Dashboard</a:t>
            </a:r>
          </a:p>
        </p:txBody>
      </p:sp>
      <p:sp>
        <p:nvSpPr>
          <p:cNvPr id="1513" name="Google Shape;1527;p35"/>
          <p:cNvSpPr/>
          <p:nvPr/>
        </p:nvSpPr>
        <p:spPr>
          <a:xfrm>
            <a:off x="240029" y="954633"/>
            <a:ext cx="4183502" cy="125700"/>
          </a:xfrm>
          <a:prstGeom prst="rect">
            <a:avLst/>
          </a:prstGeom>
          <a:solidFill>
            <a:srgbClr val="F3F5F8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14" name="Google Shape;1528;p35"/>
          <p:cNvSpPr txBox="1"/>
          <p:nvPr/>
        </p:nvSpPr>
        <p:spPr>
          <a:xfrm>
            <a:off x="240029" y="953983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15" name="Google Shape;1529;p35"/>
          <p:cNvSpPr txBox="1"/>
          <p:nvPr/>
        </p:nvSpPr>
        <p:spPr>
          <a:xfrm>
            <a:off x="432053" y="973033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Forecast Governance &amp; Stage Definitions</a:t>
            </a:r>
          </a:p>
        </p:txBody>
      </p:sp>
      <p:sp>
        <p:nvSpPr>
          <p:cNvPr id="1516" name="Google Shape;1530;p35"/>
          <p:cNvSpPr/>
          <p:nvPr/>
        </p:nvSpPr>
        <p:spPr>
          <a:xfrm>
            <a:off x="3943349" y="975208"/>
            <a:ext cx="466502" cy="84301"/>
          </a:xfrm>
          <a:prstGeom prst="rect">
            <a:avLst/>
          </a:prstGeom>
          <a:solidFill>
            <a:srgbClr val="1800FF"/>
          </a:solidFill>
          <a:ln>
            <a:solidFill>
              <a:srgbClr val="18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17" name="Google Shape;1531;p35"/>
          <p:cNvSpPr txBox="1"/>
          <p:nvPr/>
        </p:nvSpPr>
        <p:spPr>
          <a:xfrm>
            <a:off x="3943349" y="953858"/>
            <a:ext cx="4665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00">
                <a:solidFill>
                  <a:srgbClr val="FFFFFF"/>
                </a:solidFill>
              </a:defRPr>
            </a:lvl1pPr>
          </a:lstStyle>
          <a:p>
            <a:pPr/>
            <a:r>
              <a:t>QUICK WIN</a:t>
            </a:r>
          </a:p>
        </p:txBody>
      </p:sp>
      <p:sp>
        <p:nvSpPr>
          <p:cNvPr id="1518" name="Google Shape;1532;p35"/>
          <p:cNvSpPr/>
          <p:nvPr/>
        </p:nvSpPr>
        <p:spPr>
          <a:xfrm>
            <a:off x="240029" y="1082191"/>
            <a:ext cx="4183502" cy="125700"/>
          </a:xfrm>
          <a:prstGeom prst="rect">
            <a:avLst/>
          </a:prstGeom>
          <a:solidFill>
            <a:srgbClr val="FFFFFF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19" name="Google Shape;1533;p35"/>
          <p:cNvSpPr txBox="1"/>
          <p:nvPr/>
        </p:nvSpPr>
        <p:spPr>
          <a:xfrm>
            <a:off x="240029" y="1081541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520" name="Google Shape;1534;p35"/>
          <p:cNvSpPr txBox="1"/>
          <p:nvPr/>
        </p:nvSpPr>
        <p:spPr>
          <a:xfrm>
            <a:off x="432053" y="1100591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Outbound Training / Coaching for Enterprise AEs</a:t>
            </a:r>
          </a:p>
        </p:txBody>
      </p:sp>
      <p:sp>
        <p:nvSpPr>
          <p:cNvPr id="1521" name="Google Shape;1535;p35"/>
          <p:cNvSpPr/>
          <p:nvPr/>
        </p:nvSpPr>
        <p:spPr>
          <a:xfrm>
            <a:off x="3943349" y="1102766"/>
            <a:ext cx="466502" cy="84301"/>
          </a:xfrm>
          <a:prstGeom prst="rect">
            <a:avLst/>
          </a:prstGeom>
          <a:solidFill>
            <a:srgbClr val="1800FF"/>
          </a:solidFill>
          <a:ln>
            <a:solidFill>
              <a:srgbClr val="18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22" name="Google Shape;1536;p35"/>
          <p:cNvSpPr txBox="1"/>
          <p:nvPr/>
        </p:nvSpPr>
        <p:spPr>
          <a:xfrm>
            <a:off x="3943349" y="1081416"/>
            <a:ext cx="4665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00">
                <a:solidFill>
                  <a:srgbClr val="FFFFFF"/>
                </a:solidFill>
              </a:defRPr>
            </a:lvl1pPr>
          </a:lstStyle>
          <a:p>
            <a:pPr/>
            <a:r>
              <a:t>QUICK WIN</a:t>
            </a:r>
          </a:p>
        </p:txBody>
      </p:sp>
      <p:sp>
        <p:nvSpPr>
          <p:cNvPr id="1523" name="Google Shape;1537;p35"/>
          <p:cNvSpPr/>
          <p:nvPr/>
        </p:nvSpPr>
        <p:spPr>
          <a:xfrm>
            <a:off x="240029" y="1209752"/>
            <a:ext cx="4183502" cy="125700"/>
          </a:xfrm>
          <a:prstGeom prst="rect">
            <a:avLst/>
          </a:prstGeom>
          <a:solidFill>
            <a:srgbClr val="F3F5F8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24" name="Google Shape;1538;p35"/>
          <p:cNvSpPr txBox="1"/>
          <p:nvPr/>
        </p:nvSpPr>
        <p:spPr>
          <a:xfrm>
            <a:off x="240029" y="1209101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25" name="Google Shape;1539;p35"/>
          <p:cNvSpPr txBox="1"/>
          <p:nvPr/>
        </p:nvSpPr>
        <p:spPr>
          <a:xfrm>
            <a:off x="432053" y="1228151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Demand Generation Strategy, BDR Excellence &amp; Lead Quality</a:t>
            </a:r>
          </a:p>
        </p:txBody>
      </p:sp>
      <p:sp>
        <p:nvSpPr>
          <p:cNvPr id="1526" name="Google Shape;1540;p35"/>
          <p:cNvSpPr/>
          <p:nvPr/>
        </p:nvSpPr>
        <p:spPr>
          <a:xfrm>
            <a:off x="240029" y="1337310"/>
            <a:ext cx="4183502" cy="125700"/>
          </a:xfrm>
          <a:prstGeom prst="rect">
            <a:avLst/>
          </a:prstGeom>
          <a:solidFill>
            <a:srgbClr val="FFFFFF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27" name="Google Shape;1541;p35"/>
          <p:cNvSpPr txBox="1"/>
          <p:nvPr/>
        </p:nvSpPr>
        <p:spPr>
          <a:xfrm>
            <a:off x="240029" y="1336659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28" name="Google Shape;1542;p35"/>
          <p:cNvSpPr txBox="1"/>
          <p:nvPr/>
        </p:nvSpPr>
        <p:spPr>
          <a:xfrm>
            <a:off x="432053" y="1355709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Structured Hiring and Ramp-Up Process, Scorecards &amp; TA Operating Model</a:t>
            </a:r>
          </a:p>
        </p:txBody>
      </p:sp>
      <p:sp>
        <p:nvSpPr>
          <p:cNvPr id="1529" name="Google Shape;1543;p35"/>
          <p:cNvSpPr/>
          <p:nvPr/>
        </p:nvSpPr>
        <p:spPr>
          <a:xfrm>
            <a:off x="3943349" y="1357883"/>
            <a:ext cx="466502" cy="84301"/>
          </a:xfrm>
          <a:prstGeom prst="rect">
            <a:avLst/>
          </a:prstGeom>
          <a:solidFill>
            <a:srgbClr val="1800FF"/>
          </a:solidFill>
          <a:ln>
            <a:solidFill>
              <a:srgbClr val="18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30" name="Google Shape;1544;p35"/>
          <p:cNvSpPr txBox="1"/>
          <p:nvPr/>
        </p:nvSpPr>
        <p:spPr>
          <a:xfrm>
            <a:off x="3943349" y="1336533"/>
            <a:ext cx="4665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00">
                <a:solidFill>
                  <a:srgbClr val="FFFFFF"/>
                </a:solidFill>
              </a:defRPr>
            </a:lvl1pPr>
          </a:lstStyle>
          <a:p>
            <a:pPr/>
            <a:r>
              <a:t>QUICK WIN</a:t>
            </a:r>
          </a:p>
        </p:txBody>
      </p:sp>
      <p:sp>
        <p:nvSpPr>
          <p:cNvPr id="1531" name="Google Shape;1545;p35"/>
          <p:cNvSpPr/>
          <p:nvPr/>
        </p:nvSpPr>
        <p:spPr>
          <a:xfrm>
            <a:off x="240029" y="1464869"/>
            <a:ext cx="4183502" cy="125700"/>
          </a:xfrm>
          <a:prstGeom prst="rect">
            <a:avLst/>
          </a:prstGeom>
          <a:solidFill>
            <a:srgbClr val="F3F5F8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32" name="Google Shape;1546;p35"/>
          <p:cNvSpPr txBox="1"/>
          <p:nvPr/>
        </p:nvSpPr>
        <p:spPr>
          <a:xfrm>
            <a:off x="240029" y="1464218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33" name="Google Shape;1547;p35"/>
          <p:cNvSpPr txBox="1"/>
          <p:nvPr/>
        </p:nvSpPr>
        <p:spPr>
          <a:xfrm>
            <a:off x="432053" y="1483268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Playbook Relaunch, Discovery &amp; MEDDIC Training</a:t>
            </a:r>
          </a:p>
        </p:txBody>
      </p:sp>
      <p:sp>
        <p:nvSpPr>
          <p:cNvPr id="1534" name="Google Shape;1548;p35"/>
          <p:cNvSpPr/>
          <p:nvPr/>
        </p:nvSpPr>
        <p:spPr>
          <a:xfrm>
            <a:off x="240029" y="1592427"/>
            <a:ext cx="4183502" cy="125700"/>
          </a:xfrm>
          <a:prstGeom prst="rect">
            <a:avLst/>
          </a:prstGeom>
          <a:solidFill>
            <a:srgbClr val="FFFFFF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35" name="Google Shape;1549;p35"/>
          <p:cNvSpPr txBox="1"/>
          <p:nvPr/>
        </p:nvSpPr>
        <p:spPr>
          <a:xfrm>
            <a:off x="240029" y="1591777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36" name="Google Shape;1550;p35"/>
          <p:cNvSpPr txBox="1"/>
          <p:nvPr/>
        </p:nvSpPr>
        <p:spPr>
          <a:xfrm>
            <a:off x="432053" y="1610827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Territory Design, Account Allocation &amp; TAM Governance</a:t>
            </a:r>
          </a:p>
        </p:txBody>
      </p:sp>
      <p:sp>
        <p:nvSpPr>
          <p:cNvPr id="1537" name="Google Shape;1551;p35"/>
          <p:cNvSpPr/>
          <p:nvPr/>
        </p:nvSpPr>
        <p:spPr>
          <a:xfrm>
            <a:off x="34290" y="1747417"/>
            <a:ext cx="150900" cy="890701"/>
          </a:xfrm>
          <a:prstGeom prst="rect">
            <a:avLst/>
          </a:prstGeom>
          <a:solidFill>
            <a:srgbClr val="2E46FA"/>
          </a:solidFill>
          <a:ln>
            <a:solidFill>
              <a:srgbClr val="2E46FA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38" name="Google Shape;1552;p35"/>
          <p:cNvSpPr txBox="1"/>
          <p:nvPr/>
        </p:nvSpPr>
        <p:spPr>
          <a:xfrm rot="16200000">
            <a:off x="-300576" y="2128663"/>
            <a:ext cx="808001" cy="142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ctr">
              <a:defRPr b="1" sz="500">
                <a:solidFill>
                  <a:srgbClr val="FFFFFF"/>
                </a:solidFill>
              </a:defRPr>
            </a:lvl1pPr>
          </a:lstStyle>
          <a:p>
            <a:pPr/>
            <a:r>
              <a:t>Cycle 2</a:t>
            </a:r>
          </a:p>
        </p:txBody>
      </p:sp>
      <p:sp>
        <p:nvSpPr>
          <p:cNvPr id="1539" name="Google Shape;1553;p35"/>
          <p:cNvSpPr/>
          <p:nvPr/>
        </p:nvSpPr>
        <p:spPr>
          <a:xfrm>
            <a:off x="240029" y="1747417"/>
            <a:ext cx="4183502" cy="125700"/>
          </a:xfrm>
          <a:prstGeom prst="rect">
            <a:avLst/>
          </a:prstGeom>
          <a:solidFill>
            <a:srgbClr val="F3F5F8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40" name="Google Shape;1554;p35"/>
          <p:cNvSpPr txBox="1"/>
          <p:nvPr/>
        </p:nvSpPr>
        <p:spPr>
          <a:xfrm>
            <a:off x="240029" y="1746767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541" name="Google Shape;1555;p35"/>
          <p:cNvSpPr txBox="1"/>
          <p:nvPr/>
        </p:nvSpPr>
        <p:spPr>
          <a:xfrm>
            <a:off x="432053" y="1765817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Career Architecture, Competency Framework &amp; Cross-Region Cadence</a:t>
            </a:r>
          </a:p>
        </p:txBody>
      </p:sp>
      <p:sp>
        <p:nvSpPr>
          <p:cNvPr id="1542" name="Google Shape;1556;p35"/>
          <p:cNvSpPr/>
          <p:nvPr/>
        </p:nvSpPr>
        <p:spPr>
          <a:xfrm>
            <a:off x="240029" y="1874977"/>
            <a:ext cx="4183502" cy="125700"/>
          </a:xfrm>
          <a:prstGeom prst="rect">
            <a:avLst/>
          </a:prstGeom>
          <a:solidFill>
            <a:srgbClr val="FFFFFF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43" name="Google Shape;1557;p35"/>
          <p:cNvSpPr txBox="1"/>
          <p:nvPr/>
        </p:nvSpPr>
        <p:spPr>
          <a:xfrm>
            <a:off x="240029" y="1874327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544" name="Google Shape;1558;p35"/>
          <p:cNvSpPr txBox="1"/>
          <p:nvPr/>
        </p:nvSpPr>
        <p:spPr>
          <a:xfrm>
            <a:off x="432053" y="1893377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Sales Compensation, Quota Fairness &amp; Talent Retention</a:t>
            </a:r>
          </a:p>
        </p:txBody>
      </p:sp>
      <p:sp>
        <p:nvSpPr>
          <p:cNvPr id="1545" name="Google Shape;1559;p35"/>
          <p:cNvSpPr/>
          <p:nvPr/>
        </p:nvSpPr>
        <p:spPr>
          <a:xfrm>
            <a:off x="240029" y="2002535"/>
            <a:ext cx="4183502" cy="125700"/>
          </a:xfrm>
          <a:prstGeom prst="rect">
            <a:avLst/>
          </a:prstGeom>
          <a:solidFill>
            <a:srgbClr val="F3F5F8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46" name="Google Shape;1560;p35"/>
          <p:cNvSpPr txBox="1"/>
          <p:nvPr/>
        </p:nvSpPr>
        <p:spPr>
          <a:xfrm>
            <a:off x="240029" y="2001885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547" name="Google Shape;1561;p35"/>
          <p:cNvSpPr txBox="1"/>
          <p:nvPr/>
        </p:nvSpPr>
        <p:spPr>
          <a:xfrm>
            <a:off x="432053" y="2020935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Manager Academy, Leadership Capability &amp; Support Staffing</a:t>
            </a:r>
          </a:p>
        </p:txBody>
      </p:sp>
      <p:sp>
        <p:nvSpPr>
          <p:cNvPr id="1548" name="Google Shape;1562;p35"/>
          <p:cNvSpPr/>
          <p:nvPr/>
        </p:nvSpPr>
        <p:spPr>
          <a:xfrm>
            <a:off x="240029" y="2130094"/>
            <a:ext cx="4183502" cy="125700"/>
          </a:xfrm>
          <a:prstGeom prst="rect">
            <a:avLst/>
          </a:prstGeom>
          <a:solidFill>
            <a:srgbClr val="FFFFFF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49" name="Google Shape;1563;p35"/>
          <p:cNvSpPr txBox="1"/>
          <p:nvPr/>
        </p:nvSpPr>
        <p:spPr>
          <a:xfrm>
            <a:off x="240029" y="2129444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550" name="Google Shape;1564;p35"/>
          <p:cNvSpPr txBox="1"/>
          <p:nvPr/>
        </p:nvSpPr>
        <p:spPr>
          <a:xfrm>
            <a:off x="432053" y="2148494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Onboarding Redesign: Role-Based Tracks &amp; Ramp Milestones</a:t>
            </a:r>
          </a:p>
        </p:txBody>
      </p:sp>
      <p:sp>
        <p:nvSpPr>
          <p:cNvPr id="1551" name="Google Shape;1565;p35"/>
          <p:cNvSpPr/>
          <p:nvPr/>
        </p:nvSpPr>
        <p:spPr>
          <a:xfrm>
            <a:off x="240029" y="2257654"/>
            <a:ext cx="4183502" cy="125700"/>
          </a:xfrm>
          <a:prstGeom prst="rect">
            <a:avLst/>
          </a:prstGeom>
          <a:solidFill>
            <a:srgbClr val="F3F5F8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52" name="Google Shape;1566;p35"/>
          <p:cNvSpPr txBox="1"/>
          <p:nvPr/>
        </p:nvSpPr>
        <p:spPr>
          <a:xfrm>
            <a:off x="240029" y="2257003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553" name="Google Shape;1567;p35"/>
          <p:cNvSpPr txBox="1"/>
          <p:nvPr/>
        </p:nvSpPr>
        <p:spPr>
          <a:xfrm>
            <a:off x="432053" y="2276053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Annual Enablement Calendar, Certifications &amp; Operating Model</a:t>
            </a:r>
          </a:p>
        </p:txBody>
      </p:sp>
      <p:sp>
        <p:nvSpPr>
          <p:cNvPr id="1554" name="Google Shape;1568;p35"/>
          <p:cNvSpPr/>
          <p:nvPr/>
        </p:nvSpPr>
        <p:spPr>
          <a:xfrm>
            <a:off x="240029" y="2385211"/>
            <a:ext cx="4183502" cy="125700"/>
          </a:xfrm>
          <a:prstGeom prst="rect">
            <a:avLst/>
          </a:prstGeom>
          <a:solidFill>
            <a:srgbClr val="FFFFFF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55" name="Google Shape;1569;p35"/>
          <p:cNvSpPr txBox="1"/>
          <p:nvPr/>
        </p:nvSpPr>
        <p:spPr>
          <a:xfrm>
            <a:off x="240029" y="2384561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556" name="Google Shape;1570;p35"/>
          <p:cNvSpPr txBox="1"/>
          <p:nvPr/>
        </p:nvSpPr>
        <p:spPr>
          <a:xfrm>
            <a:off x="432053" y="2403611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Enterprise Enablement: Coaching, Messaging, Complex Cycles &amp; ROI Content</a:t>
            </a:r>
          </a:p>
        </p:txBody>
      </p:sp>
      <p:sp>
        <p:nvSpPr>
          <p:cNvPr id="1557" name="Google Shape;1571;p35"/>
          <p:cNvSpPr/>
          <p:nvPr/>
        </p:nvSpPr>
        <p:spPr>
          <a:xfrm>
            <a:off x="240029" y="2512772"/>
            <a:ext cx="4183502" cy="125700"/>
          </a:xfrm>
          <a:prstGeom prst="rect">
            <a:avLst/>
          </a:prstGeom>
          <a:solidFill>
            <a:srgbClr val="F3F5F8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58" name="Google Shape;1572;p35"/>
          <p:cNvSpPr txBox="1"/>
          <p:nvPr/>
        </p:nvSpPr>
        <p:spPr>
          <a:xfrm>
            <a:off x="240029" y="2512121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559" name="Google Shape;1573;p35"/>
          <p:cNvSpPr txBox="1"/>
          <p:nvPr/>
        </p:nvSpPr>
        <p:spPr>
          <a:xfrm>
            <a:off x="432053" y="2531171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ABM, Events &amp; Partnership Pipeline Governance</a:t>
            </a:r>
          </a:p>
        </p:txBody>
      </p:sp>
      <p:sp>
        <p:nvSpPr>
          <p:cNvPr id="1560" name="Google Shape;1574;p35"/>
          <p:cNvSpPr/>
          <p:nvPr/>
        </p:nvSpPr>
        <p:spPr>
          <a:xfrm>
            <a:off x="34290" y="2667761"/>
            <a:ext cx="150900" cy="635701"/>
          </a:xfrm>
          <a:prstGeom prst="rect">
            <a:avLst/>
          </a:prstGeom>
          <a:solidFill>
            <a:srgbClr val="6B7EC9"/>
          </a:solidFill>
          <a:ln>
            <a:solidFill>
              <a:srgbClr val="6B7EC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61" name="Google Shape;1575;p35"/>
          <p:cNvSpPr txBox="1"/>
          <p:nvPr/>
        </p:nvSpPr>
        <p:spPr>
          <a:xfrm rot="16200000">
            <a:off x="-175425" y="2916738"/>
            <a:ext cx="562000" cy="142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ctr">
              <a:defRPr b="1" sz="500">
                <a:solidFill>
                  <a:srgbClr val="FFFFFF"/>
                </a:solidFill>
              </a:defRPr>
            </a:lvl1pPr>
          </a:lstStyle>
          <a:p>
            <a:pPr/>
            <a:r>
              <a:t>Cycle 3</a:t>
            </a:r>
          </a:p>
        </p:txBody>
      </p:sp>
      <p:sp>
        <p:nvSpPr>
          <p:cNvPr id="1562" name="Google Shape;1576;p35"/>
          <p:cNvSpPr/>
          <p:nvPr/>
        </p:nvSpPr>
        <p:spPr>
          <a:xfrm>
            <a:off x="240029" y="2667761"/>
            <a:ext cx="4183502" cy="125700"/>
          </a:xfrm>
          <a:prstGeom prst="rect">
            <a:avLst/>
          </a:prstGeom>
          <a:solidFill>
            <a:srgbClr val="FFFFFF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63" name="Google Shape;1577;p35"/>
          <p:cNvSpPr txBox="1"/>
          <p:nvPr/>
        </p:nvSpPr>
        <p:spPr>
          <a:xfrm>
            <a:off x="240029" y="2667111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564" name="Google Shape;1578;p35"/>
          <p:cNvSpPr txBox="1"/>
          <p:nvPr/>
        </p:nvSpPr>
        <p:spPr>
          <a:xfrm>
            <a:off x="432053" y="2686161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CS Commercial Enablement &amp; CSM/AE Expansion Motion</a:t>
            </a:r>
          </a:p>
        </p:txBody>
      </p:sp>
      <p:sp>
        <p:nvSpPr>
          <p:cNvPr id="1565" name="Google Shape;1579;p35"/>
          <p:cNvSpPr/>
          <p:nvPr/>
        </p:nvSpPr>
        <p:spPr>
          <a:xfrm>
            <a:off x="240029" y="2795321"/>
            <a:ext cx="4183502" cy="125700"/>
          </a:xfrm>
          <a:prstGeom prst="rect">
            <a:avLst/>
          </a:prstGeom>
          <a:solidFill>
            <a:srgbClr val="F3F5F8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66" name="Google Shape;1580;p35"/>
          <p:cNvSpPr txBox="1"/>
          <p:nvPr/>
        </p:nvSpPr>
        <p:spPr>
          <a:xfrm>
            <a:off x="240029" y="2794670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1567" name="Google Shape;1581;p35"/>
          <p:cNvSpPr txBox="1"/>
          <p:nvPr/>
        </p:nvSpPr>
        <p:spPr>
          <a:xfrm>
            <a:off x="432053" y="2813720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Customer Health, Churn Prevention &amp; Renewal Program</a:t>
            </a:r>
          </a:p>
        </p:txBody>
      </p:sp>
      <p:sp>
        <p:nvSpPr>
          <p:cNvPr id="1568" name="Google Shape;1582;p35"/>
          <p:cNvSpPr/>
          <p:nvPr/>
        </p:nvSpPr>
        <p:spPr>
          <a:xfrm>
            <a:off x="240029" y="2922879"/>
            <a:ext cx="4183502" cy="125700"/>
          </a:xfrm>
          <a:prstGeom prst="rect">
            <a:avLst/>
          </a:prstGeom>
          <a:solidFill>
            <a:srgbClr val="FFFFFF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69" name="Google Shape;1583;p35"/>
          <p:cNvSpPr txBox="1"/>
          <p:nvPr/>
        </p:nvSpPr>
        <p:spPr>
          <a:xfrm>
            <a:off x="240029" y="2922229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1570" name="Google Shape;1584;p35"/>
          <p:cNvSpPr txBox="1"/>
          <p:nvPr/>
        </p:nvSpPr>
        <p:spPr>
          <a:xfrm>
            <a:off x="432053" y="2941279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Value-Based Selling &amp; Negotiation Certification</a:t>
            </a:r>
          </a:p>
        </p:txBody>
      </p:sp>
      <p:sp>
        <p:nvSpPr>
          <p:cNvPr id="1571" name="Google Shape;1585;p35"/>
          <p:cNvSpPr/>
          <p:nvPr/>
        </p:nvSpPr>
        <p:spPr>
          <a:xfrm>
            <a:off x="240029" y="3050438"/>
            <a:ext cx="4183502" cy="125700"/>
          </a:xfrm>
          <a:prstGeom prst="rect">
            <a:avLst/>
          </a:prstGeom>
          <a:solidFill>
            <a:srgbClr val="F3F5F8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72" name="Google Shape;1586;p35"/>
          <p:cNvSpPr txBox="1"/>
          <p:nvPr/>
        </p:nvSpPr>
        <p:spPr>
          <a:xfrm>
            <a:off x="240029" y="3049787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1573" name="Google Shape;1587;p35"/>
          <p:cNvSpPr txBox="1"/>
          <p:nvPr/>
        </p:nvSpPr>
        <p:spPr>
          <a:xfrm>
            <a:off x="432053" y="3068837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RevOps Operating Model, Funnel Governance &amp; Target Differentiation</a:t>
            </a:r>
          </a:p>
        </p:txBody>
      </p:sp>
      <p:sp>
        <p:nvSpPr>
          <p:cNvPr id="1574" name="Google Shape;1588;p35"/>
          <p:cNvSpPr/>
          <p:nvPr/>
        </p:nvSpPr>
        <p:spPr>
          <a:xfrm>
            <a:off x="240029" y="3177998"/>
            <a:ext cx="4183502" cy="125700"/>
          </a:xfrm>
          <a:prstGeom prst="rect">
            <a:avLst/>
          </a:prstGeom>
          <a:solidFill>
            <a:srgbClr val="FFFFFF"/>
          </a:solidFill>
          <a:ln w="7150">
            <a:solidFill>
              <a:srgbClr val="E8ECF0"/>
            </a:solidFill>
          </a:ln>
        </p:spPr>
        <p:txBody>
          <a:bodyPr lIns="0" tIns="0" rIns="0" bIns="0" anchor="ctr"/>
          <a:lstStyle/>
          <a:p>
            <a:pPr>
              <a:defRPr sz="1300">
                <a:latin typeface="Poppins"/>
                <a:ea typeface="Poppins"/>
                <a:cs typeface="Poppins"/>
                <a:sym typeface="Poppins"/>
              </a:defRPr>
            </a:pPr>
          </a:p>
        </p:txBody>
      </p:sp>
      <p:sp>
        <p:nvSpPr>
          <p:cNvPr id="1575" name="Google Shape;1589;p35"/>
          <p:cNvSpPr txBox="1"/>
          <p:nvPr/>
        </p:nvSpPr>
        <p:spPr>
          <a:xfrm>
            <a:off x="240029" y="3177347"/>
            <a:ext cx="19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1576" name="Google Shape;1590;p35"/>
          <p:cNvSpPr txBox="1"/>
          <p:nvPr/>
        </p:nvSpPr>
        <p:spPr>
          <a:xfrm>
            <a:off x="432053" y="3196397"/>
            <a:ext cx="3459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Enterprise Brand, DG Strategy &amp; Website Repositioning</a:t>
            </a:r>
          </a:p>
        </p:txBody>
      </p:sp>
      <p:sp>
        <p:nvSpPr>
          <p:cNvPr id="1577" name="Google Shape;1591;p35"/>
          <p:cNvSpPr txBox="1"/>
          <p:nvPr/>
        </p:nvSpPr>
        <p:spPr>
          <a:xfrm>
            <a:off x="5349399" y="651699"/>
            <a:ext cx="3600402" cy="23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/>
          <a:p>
            <a:pPr>
              <a:defRPr sz="1100">
                <a:solidFill>
                  <a:srgbClr val="19323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Impact vs Ease of</a:t>
            </a:r>
            <a:r>
              <a:rPr>
                <a:solidFill>
                  <a:srgbClr val="000000"/>
                </a:solidFill>
              </a:rPr>
              <a:t> </a:t>
            </a:r>
            <a:r>
              <a:t>Implementation</a:t>
            </a:r>
          </a:p>
        </p:txBody>
      </p:sp>
      <p:sp>
        <p:nvSpPr>
          <p:cNvPr id="1578" name="Google Shape;1592;p35"/>
          <p:cNvSpPr/>
          <p:nvPr/>
        </p:nvSpPr>
        <p:spPr>
          <a:xfrm>
            <a:off x="5335523" y="1847088"/>
            <a:ext cx="3326101" cy="1"/>
          </a:xfrm>
          <a:prstGeom prst="line">
            <a:avLst/>
          </a:prstGeom>
          <a:ln w="7150">
            <a:solidFill>
              <a:srgbClr val="B9CDD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79" name="Google Shape;1593;p35"/>
          <p:cNvSpPr/>
          <p:nvPr/>
        </p:nvSpPr>
        <p:spPr>
          <a:xfrm>
            <a:off x="5335523" y="2658617"/>
            <a:ext cx="3326101" cy="1"/>
          </a:xfrm>
          <a:prstGeom prst="line">
            <a:avLst/>
          </a:prstGeom>
          <a:ln w="7150">
            <a:solidFill>
              <a:srgbClr val="B9CDD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80" name="Google Shape;1594;p35"/>
          <p:cNvSpPr txBox="1"/>
          <p:nvPr/>
        </p:nvSpPr>
        <p:spPr>
          <a:xfrm>
            <a:off x="4834900" y="1344465"/>
            <a:ext cx="445900" cy="142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r">
              <a:defRPr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Critical</a:t>
            </a:r>
          </a:p>
        </p:txBody>
      </p:sp>
      <p:sp>
        <p:nvSpPr>
          <p:cNvPr id="1581" name="Google Shape;1595;p35"/>
          <p:cNvSpPr txBox="1"/>
          <p:nvPr/>
        </p:nvSpPr>
        <p:spPr>
          <a:xfrm>
            <a:off x="4834900" y="2155995"/>
            <a:ext cx="445900" cy="142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r">
              <a:defRPr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Essential</a:t>
            </a:r>
          </a:p>
        </p:txBody>
      </p:sp>
      <p:sp>
        <p:nvSpPr>
          <p:cNvPr id="1582" name="Google Shape;1596;p35"/>
          <p:cNvSpPr txBox="1"/>
          <p:nvPr/>
        </p:nvSpPr>
        <p:spPr>
          <a:xfrm>
            <a:off x="4834900" y="2967525"/>
            <a:ext cx="445900" cy="142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r">
              <a:defRPr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Important</a:t>
            </a:r>
          </a:p>
        </p:txBody>
      </p:sp>
      <p:sp>
        <p:nvSpPr>
          <p:cNvPr id="1583" name="Google Shape;1597;p35"/>
          <p:cNvSpPr txBox="1"/>
          <p:nvPr/>
        </p:nvSpPr>
        <p:spPr>
          <a:xfrm>
            <a:off x="5752728" y="3501967"/>
            <a:ext cx="274301" cy="142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ctr">
              <a:defRPr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1584" name="Google Shape;1598;p35"/>
          <p:cNvSpPr txBox="1"/>
          <p:nvPr/>
        </p:nvSpPr>
        <p:spPr>
          <a:xfrm>
            <a:off x="6827148" y="3501967"/>
            <a:ext cx="343001" cy="142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ctr">
              <a:defRPr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1585" name="Google Shape;1599;p35"/>
          <p:cNvSpPr txBox="1"/>
          <p:nvPr/>
        </p:nvSpPr>
        <p:spPr>
          <a:xfrm>
            <a:off x="7970148" y="3501967"/>
            <a:ext cx="274301" cy="142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ctr">
              <a:defRPr sz="6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1586" name="Google Shape;1600;p35"/>
          <p:cNvSpPr txBox="1"/>
          <p:nvPr/>
        </p:nvSpPr>
        <p:spPr>
          <a:xfrm>
            <a:off x="6621283" y="3733236"/>
            <a:ext cx="754602" cy="179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ctr">
              <a:defRPr sz="800">
                <a:solidFill>
                  <a:srgbClr val="2E46FA"/>
                </a:solidFill>
              </a:defRPr>
            </a:lvl1pPr>
          </a:lstStyle>
          <a:p>
            <a:pPr/>
            <a:r>
              <a:t>Complexity</a:t>
            </a:r>
          </a:p>
        </p:txBody>
      </p:sp>
      <p:sp>
        <p:nvSpPr>
          <p:cNvPr id="1587" name="Google Shape;1601;p35"/>
          <p:cNvSpPr txBox="1"/>
          <p:nvPr/>
        </p:nvSpPr>
        <p:spPr>
          <a:xfrm>
            <a:off x="4800609" y="1871609"/>
            <a:ext cx="411701" cy="179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r">
              <a:defRPr sz="800">
                <a:solidFill>
                  <a:srgbClr val="2E46FA"/>
                </a:solidFill>
              </a:defRPr>
            </a:lvl1pPr>
          </a:lstStyle>
          <a:p>
            <a:pPr/>
            <a:r>
              <a:t>Impact</a:t>
            </a:r>
          </a:p>
        </p:txBody>
      </p:sp>
      <p:sp>
        <p:nvSpPr>
          <p:cNvPr id="1588" name="Google Shape;1602;p35"/>
          <p:cNvSpPr/>
          <p:nvPr/>
        </p:nvSpPr>
        <p:spPr>
          <a:xfrm>
            <a:off x="5516004" y="1215581"/>
            <a:ext cx="126901" cy="126901"/>
          </a:xfrm>
          <a:prstGeom prst="ellipse">
            <a:avLst/>
          </a:prstGeom>
          <a:solidFill>
            <a:srgbClr val="DBE3F0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89" name="Google Shape;1603;p35"/>
          <p:cNvSpPr txBox="1"/>
          <p:nvPr/>
        </p:nvSpPr>
        <p:spPr>
          <a:xfrm>
            <a:off x="5516004" y="1215581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90" name="Google Shape;1604;p35"/>
          <p:cNvSpPr/>
          <p:nvPr/>
        </p:nvSpPr>
        <p:spPr>
          <a:xfrm>
            <a:off x="7245592" y="1644955"/>
            <a:ext cx="126901" cy="126901"/>
          </a:xfrm>
          <a:prstGeom prst="ellipse">
            <a:avLst/>
          </a:prstGeom>
          <a:solidFill>
            <a:srgbClr val="C8C5C5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91" name="Google Shape;1605;p35"/>
          <p:cNvSpPr txBox="1"/>
          <p:nvPr/>
        </p:nvSpPr>
        <p:spPr>
          <a:xfrm>
            <a:off x="7245592" y="1644955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92" name="Google Shape;1606;p35"/>
          <p:cNvSpPr/>
          <p:nvPr/>
        </p:nvSpPr>
        <p:spPr>
          <a:xfrm>
            <a:off x="6136880" y="1215581"/>
            <a:ext cx="126901" cy="126901"/>
          </a:xfrm>
          <a:prstGeom prst="ellipse">
            <a:avLst/>
          </a:prstGeom>
          <a:solidFill>
            <a:srgbClr val="C8C5C5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93" name="Google Shape;1607;p35"/>
          <p:cNvSpPr txBox="1"/>
          <p:nvPr/>
        </p:nvSpPr>
        <p:spPr>
          <a:xfrm>
            <a:off x="6136880" y="1215581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94" name="Google Shape;1608;p35"/>
          <p:cNvSpPr/>
          <p:nvPr/>
        </p:nvSpPr>
        <p:spPr>
          <a:xfrm>
            <a:off x="5516004" y="1442809"/>
            <a:ext cx="126901" cy="126901"/>
          </a:xfrm>
          <a:prstGeom prst="ellipse">
            <a:avLst/>
          </a:prstGeom>
          <a:solidFill>
            <a:srgbClr val="EBC5D0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95" name="Google Shape;1609;p35"/>
          <p:cNvSpPr txBox="1"/>
          <p:nvPr/>
        </p:nvSpPr>
        <p:spPr>
          <a:xfrm>
            <a:off x="5516004" y="1442809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596" name="Google Shape;1610;p35"/>
          <p:cNvSpPr/>
          <p:nvPr/>
        </p:nvSpPr>
        <p:spPr>
          <a:xfrm>
            <a:off x="6935192" y="1644959"/>
            <a:ext cx="126901" cy="126901"/>
          </a:xfrm>
          <a:prstGeom prst="ellipse">
            <a:avLst/>
          </a:prstGeom>
          <a:solidFill>
            <a:srgbClr val="B9CDD5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97" name="Google Shape;1611;p35"/>
          <p:cNvSpPr txBox="1"/>
          <p:nvPr/>
        </p:nvSpPr>
        <p:spPr>
          <a:xfrm>
            <a:off x="6935192" y="1644959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98" name="Google Shape;1612;p35"/>
          <p:cNvSpPr/>
          <p:nvPr/>
        </p:nvSpPr>
        <p:spPr>
          <a:xfrm>
            <a:off x="5516004" y="2027110"/>
            <a:ext cx="126901" cy="1269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99" name="Google Shape;1613;p35"/>
          <p:cNvSpPr txBox="1"/>
          <p:nvPr/>
        </p:nvSpPr>
        <p:spPr>
          <a:xfrm>
            <a:off x="5516004" y="2027110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600" name="Google Shape;1614;p35"/>
          <p:cNvSpPr/>
          <p:nvPr/>
        </p:nvSpPr>
        <p:spPr>
          <a:xfrm>
            <a:off x="6624714" y="1210236"/>
            <a:ext cx="126901" cy="126901"/>
          </a:xfrm>
          <a:prstGeom prst="ellipse">
            <a:avLst/>
          </a:prstGeom>
          <a:solidFill>
            <a:srgbClr val="B4C5DF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01" name="Google Shape;1615;p35"/>
          <p:cNvSpPr txBox="1"/>
          <p:nvPr/>
        </p:nvSpPr>
        <p:spPr>
          <a:xfrm>
            <a:off x="6624714" y="1210236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02" name="Google Shape;1616;p35"/>
          <p:cNvSpPr/>
          <p:nvPr/>
        </p:nvSpPr>
        <p:spPr>
          <a:xfrm>
            <a:off x="5826440" y="1215581"/>
            <a:ext cx="126901" cy="126901"/>
          </a:xfrm>
          <a:prstGeom prst="ellipse">
            <a:avLst/>
          </a:prstGeom>
          <a:solidFill>
            <a:srgbClr val="C8C5C5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03" name="Google Shape;1617;p35"/>
          <p:cNvSpPr txBox="1"/>
          <p:nvPr/>
        </p:nvSpPr>
        <p:spPr>
          <a:xfrm>
            <a:off x="5826440" y="1215581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04" name="Google Shape;1618;p35"/>
          <p:cNvSpPr/>
          <p:nvPr/>
        </p:nvSpPr>
        <p:spPr>
          <a:xfrm>
            <a:off x="6136866" y="1464280"/>
            <a:ext cx="126901" cy="126901"/>
          </a:xfrm>
          <a:prstGeom prst="ellipse">
            <a:avLst/>
          </a:prstGeom>
          <a:solidFill>
            <a:srgbClr val="98B5FE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05" name="Google Shape;1619;p35"/>
          <p:cNvSpPr txBox="1"/>
          <p:nvPr/>
        </p:nvSpPr>
        <p:spPr>
          <a:xfrm>
            <a:off x="6136866" y="1464280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06" name="Google Shape;1620;p35"/>
          <p:cNvSpPr/>
          <p:nvPr/>
        </p:nvSpPr>
        <p:spPr>
          <a:xfrm>
            <a:off x="5826436" y="1464280"/>
            <a:ext cx="126901" cy="126901"/>
          </a:xfrm>
          <a:prstGeom prst="ellipse">
            <a:avLst/>
          </a:prstGeom>
          <a:solidFill>
            <a:srgbClr val="98B5FE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07" name="Google Shape;1621;p35"/>
          <p:cNvSpPr txBox="1"/>
          <p:nvPr/>
        </p:nvSpPr>
        <p:spPr>
          <a:xfrm>
            <a:off x="5826436" y="1464280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608" name="Google Shape;1622;p35"/>
          <p:cNvSpPr/>
          <p:nvPr/>
        </p:nvSpPr>
        <p:spPr>
          <a:xfrm>
            <a:off x="6624714" y="1442809"/>
            <a:ext cx="126901" cy="126901"/>
          </a:xfrm>
          <a:prstGeom prst="ellipse">
            <a:avLst/>
          </a:prstGeom>
          <a:solidFill>
            <a:srgbClr val="98B5FE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09" name="Google Shape;1623;p35"/>
          <p:cNvSpPr txBox="1"/>
          <p:nvPr/>
        </p:nvSpPr>
        <p:spPr>
          <a:xfrm>
            <a:off x="6624714" y="1442809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610" name="Google Shape;1624;p35"/>
          <p:cNvSpPr/>
          <p:nvPr/>
        </p:nvSpPr>
        <p:spPr>
          <a:xfrm>
            <a:off x="6624714" y="2027110"/>
            <a:ext cx="126901" cy="126901"/>
          </a:xfrm>
          <a:prstGeom prst="ellipse">
            <a:avLst/>
          </a:prstGeom>
          <a:solidFill>
            <a:srgbClr val="BDD3F3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11" name="Google Shape;1625;p35"/>
          <p:cNvSpPr txBox="1"/>
          <p:nvPr/>
        </p:nvSpPr>
        <p:spPr>
          <a:xfrm>
            <a:off x="6624714" y="2027110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612" name="Google Shape;1626;p35"/>
          <p:cNvSpPr/>
          <p:nvPr/>
        </p:nvSpPr>
        <p:spPr>
          <a:xfrm>
            <a:off x="6935151" y="1442809"/>
            <a:ext cx="126901" cy="126901"/>
          </a:xfrm>
          <a:prstGeom prst="ellipse">
            <a:avLst/>
          </a:prstGeom>
          <a:solidFill>
            <a:srgbClr val="B4C5DF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13" name="Google Shape;1627;p35"/>
          <p:cNvSpPr txBox="1"/>
          <p:nvPr/>
        </p:nvSpPr>
        <p:spPr>
          <a:xfrm>
            <a:off x="6935151" y="1442809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614" name="Google Shape;1628;p35"/>
          <p:cNvSpPr/>
          <p:nvPr/>
        </p:nvSpPr>
        <p:spPr>
          <a:xfrm>
            <a:off x="6935189" y="1210236"/>
            <a:ext cx="126901" cy="126901"/>
          </a:xfrm>
          <a:prstGeom prst="ellipse">
            <a:avLst/>
          </a:prstGeom>
          <a:solidFill>
            <a:srgbClr val="B4C5DF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15" name="Google Shape;1629;p35"/>
          <p:cNvSpPr txBox="1"/>
          <p:nvPr/>
        </p:nvSpPr>
        <p:spPr>
          <a:xfrm>
            <a:off x="6935189" y="1210236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616" name="Google Shape;1630;p35"/>
          <p:cNvSpPr/>
          <p:nvPr/>
        </p:nvSpPr>
        <p:spPr>
          <a:xfrm>
            <a:off x="7733424" y="2027110"/>
            <a:ext cx="126901" cy="126901"/>
          </a:xfrm>
          <a:prstGeom prst="ellipse">
            <a:avLst/>
          </a:prstGeom>
          <a:solidFill>
            <a:srgbClr val="B9CDD5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17" name="Google Shape;1631;p35"/>
          <p:cNvSpPr txBox="1"/>
          <p:nvPr/>
        </p:nvSpPr>
        <p:spPr>
          <a:xfrm>
            <a:off x="7733424" y="2027110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618" name="Google Shape;1632;p35"/>
          <p:cNvSpPr/>
          <p:nvPr/>
        </p:nvSpPr>
        <p:spPr>
          <a:xfrm>
            <a:off x="7245591" y="1442809"/>
            <a:ext cx="126901" cy="126901"/>
          </a:xfrm>
          <a:prstGeom prst="ellipse">
            <a:avLst/>
          </a:prstGeom>
          <a:solidFill>
            <a:srgbClr val="C5C3DF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19" name="Google Shape;1633;p35"/>
          <p:cNvSpPr txBox="1"/>
          <p:nvPr/>
        </p:nvSpPr>
        <p:spPr>
          <a:xfrm>
            <a:off x="7245591" y="1442809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620" name="Google Shape;1634;p35"/>
          <p:cNvSpPr/>
          <p:nvPr/>
        </p:nvSpPr>
        <p:spPr>
          <a:xfrm>
            <a:off x="8043863" y="1215581"/>
            <a:ext cx="126901" cy="126901"/>
          </a:xfrm>
          <a:prstGeom prst="ellipse">
            <a:avLst/>
          </a:prstGeom>
          <a:solidFill>
            <a:srgbClr val="C5C3DF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21" name="Google Shape;1635;p35"/>
          <p:cNvSpPr txBox="1"/>
          <p:nvPr/>
        </p:nvSpPr>
        <p:spPr>
          <a:xfrm>
            <a:off x="8043863" y="1215581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1622" name="Google Shape;1636;p35"/>
          <p:cNvSpPr/>
          <p:nvPr/>
        </p:nvSpPr>
        <p:spPr>
          <a:xfrm>
            <a:off x="7244066" y="1210236"/>
            <a:ext cx="126901" cy="126901"/>
          </a:xfrm>
          <a:prstGeom prst="ellipse">
            <a:avLst/>
          </a:prstGeom>
          <a:solidFill>
            <a:srgbClr val="EBC5D0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23" name="Google Shape;1637;p35"/>
          <p:cNvSpPr txBox="1"/>
          <p:nvPr/>
        </p:nvSpPr>
        <p:spPr>
          <a:xfrm>
            <a:off x="7244066" y="1210236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1624" name="Google Shape;1638;p35"/>
          <p:cNvSpPr/>
          <p:nvPr/>
        </p:nvSpPr>
        <p:spPr>
          <a:xfrm>
            <a:off x="8354300" y="1215581"/>
            <a:ext cx="126901" cy="126901"/>
          </a:xfrm>
          <a:prstGeom prst="ellipse">
            <a:avLst/>
          </a:prstGeom>
          <a:solidFill>
            <a:srgbClr val="C8C5C5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25" name="Google Shape;1639;p35"/>
          <p:cNvSpPr txBox="1"/>
          <p:nvPr/>
        </p:nvSpPr>
        <p:spPr>
          <a:xfrm>
            <a:off x="8354300" y="1215581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1626" name="Google Shape;1640;p35"/>
          <p:cNvSpPr/>
          <p:nvPr/>
        </p:nvSpPr>
        <p:spPr>
          <a:xfrm>
            <a:off x="8043863" y="2027110"/>
            <a:ext cx="126901" cy="126901"/>
          </a:xfrm>
          <a:prstGeom prst="ellipse">
            <a:avLst/>
          </a:prstGeom>
          <a:solidFill>
            <a:srgbClr val="B9CDD5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27" name="Google Shape;1641;p35"/>
          <p:cNvSpPr txBox="1"/>
          <p:nvPr/>
        </p:nvSpPr>
        <p:spPr>
          <a:xfrm>
            <a:off x="8043863" y="2027110"/>
            <a:ext cx="1269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1628" name="Google Shape;1642;p35"/>
          <p:cNvSpPr txBox="1"/>
          <p:nvPr/>
        </p:nvSpPr>
        <p:spPr>
          <a:xfrm>
            <a:off x="4800600" y="4111205"/>
            <a:ext cx="2674601" cy="142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>
              <a:defRPr b="1" sz="600">
                <a:solidFill>
                  <a:srgbClr val="19323F"/>
                </a:solidFill>
              </a:defRPr>
            </a:lvl1pPr>
          </a:lstStyle>
          <a:p>
            <a:pPr/>
            <a:r>
              <a:t>Building Blocks</a:t>
            </a:r>
          </a:p>
        </p:txBody>
      </p:sp>
      <p:sp>
        <p:nvSpPr>
          <p:cNvPr id="1629" name="Google Shape;1643;p35"/>
          <p:cNvSpPr/>
          <p:nvPr/>
        </p:nvSpPr>
        <p:spPr>
          <a:xfrm>
            <a:off x="4766300" y="4264509"/>
            <a:ext cx="973800" cy="150901"/>
          </a:xfrm>
          <a:prstGeom prst="rect">
            <a:avLst/>
          </a:prstGeom>
          <a:solidFill>
            <a:srgbClr val="BDD3F3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630" name="Google Shape;1644;p35"/>
          <p:cNvSpPr txBox="1"/>
          <p:nvPr/>
        </p:nvSpPr>
        <p:spPr>
          <a:xfrm>
            <a:off x="4766300" y="4276459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Sales Hiring &amp; Ramp-Up</a:t>
            </a:r>
          </a:p>
        </p:txBody>
      </p:sp>
      <p:sp>
        <p:nvSpPr>
          <p:cNvPr id="1631" name="Google Shape;1645;p35"/>
          <p:cNvSpPr/>
          <p:nvPr/>
        </p:nvSpPr>
        <p:spPr>
          <a:xfrm>
            <a:off x="5781283" y="4264509"/>
            <a:ext cx="973800" cy="150901"/>
          </a:xfrm>
          <a:prstGeom prst="rect">
            <a:avLst/>
          </a:prstGeom>
          <a:solidFill>
            <a:srgbClr val="B4C5DF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632" name="Google Shape;1646;p35"/>
          <p:cNvSpPr txBox="1"/>
          <p:nvPr/>
        </p:nvSpPr>
        <p:spPr>
          <a:xfrm>
            <a:off x="5781283" y="4276459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Sales Enablement</a:t>
            </a:r>
          </a:p>
        </p:txBody>
      </p:sp>
      <p:sp>
        <p:nvSpPr>
          <p:cNvPr id="1633" name="Google Shape;1647;p35"/>
          <p:cNvSpPr/>
          <p:nvPr/>
        </p:nvSpPr>
        <p:spPr>
          <a:xfrm>
            <a:off x="6796268" y="4264509"/>
            <a:ext cx="973800" cy="150901"/>
          </a:xfrm>
          <a:prstGeom prst="rect">
            <a:avLst/>
          </a:prstGeom>
          <a:solidFill>
            <a:srgbClr val="DBE3F0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634" name="Google Shape;1648;p35"/>
          <p:cNvSpPr txBox="1"/>
          <p:nvPr/>
        </p:nvSpPr>
        <p:spPr>
          <a:xfrm>
            <a:off x="6796268" y="4276459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Sales Perf Mgmt</a:t>
            </a:r>
          </a:p>
        </p:txBody>
      </p:sp>
      <p:sp>
        <p:nvSpPr>
          <p:cNvPr id="1635" name="Google Shape;1649;p35"/>
          <p:cNvSpPr/>
          <p:nvPr/>
        </p:nvSpPr>
        <p:spPr>
          <a:xfrm>
            <a:off x="7811251" y="4264509"/>
            <a:ext cx="973800" cy="150901"/>
          </a:xfrm>
          <a:prstGeom prst="rect">
            <a:avLst/>
          </a:prstGeom>
          <a:solidFill>
            <a:srgbClr val="98B5FE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636" name="Google Shape;1650;p35"/>
          <p:cNvSpPr txBox="1"/>
          <p:nvPr/>
        </p:nvSpPr>
        <p:spPr>
          <a:xfrm>
            <a:off x="7811251" y="4276459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Talent Management</a:t>
            </a:r>
          </a:p>
        </p:txBody>
      </p:sp>
      <p:sp>
        <p:nvSpPr>
          <p:cNvPr id="1637" name="Google Shape;1651;p35"/>
          <p:cNvSpPr/>
          <p:nvPr/>
        </p:nvSpPr>
        <p:spPr>
          <a:xfrm>
            <a:off x="4766300" y="4456534"/>
            <a:ext cx="973800" cy="150901"/>
          </a:xfrm>
          <a:prstGeom prst="rect">
            <a:avLst/>
          </a:prstGeom>
          <a:solidFill>
            <a:srgbClr val="B9CDD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638" name="Google Shape;1652;p35"/>
          <p:cNvSpPr txBox="1"/>
          <p:nvPr/>
        </p:nvSpPr>
        <p:spPr>
          <a:xfrm>
            <a:off x="4766300" y="4468484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Demand Gen</a:t>
            </a:r>
          </a:p>
        </p:txBody>
      </p:sp>
      <p:sp>
        <p:nvSpPr>
          <p:cNvPr id="1639" name="Google Shape;1653;p35"/>
          <p:cNvSpPr/>
          <p:nvPr/>
        </p:nvSpPr>
        <p:spPr>
          <a:xfrm>
            <a:off x="5781283" y="4456534"/>
            <a:ext cx="973800" cy="150901"/>
          </a:xfrm>
          <a:prstGeom prst="rect">
            <a:avLst/>
          </a:prstGeom>
          <a:solidFill>
            <a:srgbClr val="EBC5D0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640" name="Google Shape;1654;p35"/>
          <p:cNvSpPr txBox="1"/>
          <p:nvPr/>
        </p:nvSpPr>
        <p:spPr>
          <a:xfrm>
            <a:off x="5781283" y="4468484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Sales Execution</a:t>
            </a:r>
          </a:p>
        </p:txBody>
      </p:sp>
      <p:sp>
        <p:nvSpPr>
          <p:cNvPr id="1641" name="Google Shape;1655;p35"/>
          <p:cNvSpPr/>
          <p:nvPr/>
        </p:nvSpPr>
        <p:spPr>
          <a:xfrm>
            <a:off x="6796268" y="4456534"/>
            <a:ext cx="973800" cy="150901"/>
          </a:xfrm>
          <a:prstGeom prst="rect">
            <a:avLst/>
          </a:prstGeom>
          <a:solidFill>
            <a:srgbClr val="C5C3DF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642" name="Google Shape;1656;p35"/>
          <p:cNvSpPr txBox="1"/>
          <p:nvPr/>
        </p:nvSpPr>
        <p:spPr>
          <a:xfrm>
            <a:off x="6796268" y="4468484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Client Relationship</a:t>
            </a:r>
          </a:p>
        </p:txBody>
      </p:sp>
      <p:sp>
        <p:nvSpPr>
          <p:cNvPr id="1643" name="Google Shape;1657;p35"/>
          <p:cNvSpPr/>
          <p:nvPr/>
        </p:nvSpPr>
        <p:spPr>
          <a:xfrm>
            <a:off x="7811251" y="4456534"/>
            <a:ext cx="973800" cy="150901"/>
          </a:xfrm>
          <a:prstGeom prst="rect">
            <a:avLst/>
          </a:prstGeom>
          <a:solidFill>
            <a:srgbClr val="C8C5C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644" name="Google Shape;1658;p35"/>
          <p:cNvSpPr txBox="1"/>
          <p:nvPr/>
        </p:nvSpPr>
        <p:spPr>
          <a:xfrm>
            <a:off x="7811251" y="4468484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Rev Ops</a:t>
            </a:r>
          </a:p>
        </p:txBody>
      </p:sp>
      <p:pic>
        <p:nvPicPr>
          <p:cNvPr id="1645" name="Logo_atscale_sans texture.pngGoogle Shape;1659;p35" descr="Logo_atscale_sans texture.pngGoogle Shape;1659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599" y="73862"/>
            <a:ext cx="636101" cy="1402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65;p36"/>
          <p:cNvSpPr/>
          <p:nvPr/>
        </p:nvSpPr>
        <p:spPr>
          <a:xfrm>
            <a:off x="-1" y="-1"/>
            <a:ext cx="9141902" cy="288002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48" name="Google Shape;1666;p36"/>
          <p:cNvSpPr/>
          <p:nvPr/>
        </p:nvSpPr>
        <p:spPr>
          <a:xfrm>
            <a:off x="877824" y="54864"/>
            <a:ext cx="1" cy="178201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49" name="Google Shape;1667;p36"/>
          <p:cNvSpPr txBox="1"/>
          <p:nvPr/>
        </p:nvSpPr>
        <p:spPr>
          <a:xfrm>
            <a:off x="980703" y="54218"/>
            <a:ext cx="6103601" cy="179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Recommendations &amp; Roadmap</a:t>
            </a:r>
          </a:p>
        </p:txBody>
      </p:sp>
      <p:sp>
        <p:nvSpPr>
          <p:cNvPr id="1650" name="Google Shape;1668;p36"/>
          <p:cNvSpPr txBox="1"/>
          <p:nvPr/>
        </p:nvSpPr>
        <p:spPr>
          <a:xfrm>
            <a:off x="274329" y="346175"/>
            <a:ext cx="6103601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>
              <a:defRPr sz="1700">
                <a:solidFill>
                  <a:srgbClr val="1932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Initiatives Prioritization | Gantt view</a:t>
            </a:r>
          </a:p>
        </p:txBody>
      </p:sp>
      <p:sp>
        <p:nvSpPr>
          <p:cNvPr id="1651" name="Google Shape;1669;p36"/>
          <p:cNvSpPr txBox="1"/>
          <p:nvPr/>
        </p:nvSpPr>
        <p:spPr>
          <a:xfrm>
            <a:off x="274329" y="712676"/>
            <a:ext cx="3360401" cy="179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>
              <a:defRPr sz="800">
                <a:solidFill>
                  <a:srgbClr val="2E46FA"/>
                </a:solidFill>
              </a:defRPr>
            </a:lvl1pPr>
          </a:lstStyle>
          <a:p>
            <a:pPr/>
            <a:r>
              <a:t>Recommended programs over time</a:t>
            </a:r>
          </a:p>
        </p:txBody>
      </p:sp>
      <p:sp>
        <p:nvSpPr>
          <p:cNvPr id="1652" name="Google Shape;1670;p36"/>
          <p:cNvSpPr/>
          <p:nvPr/>
        </p:nvSpPr>
        <p:spPr>
          <a:xfrm>
            <a:off x="2434589" y="795528"/>
            <a:ext cx="632401" cy="150900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53" name="Google Shape;1671;p36"/>
          <p:cNvSpPr txBox="1"/>
          <p:nvPr/>
        </p:nvSpPr>
        <p:spPr>
          <a:xfrm>
            <a:off x="2434589" y="807477"/>
            <a:ext cx="63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FFFFFF"/>
                </a:solidFill>
              </a:defRPr>
            </a:lvl1pPr>
          </a:lstStyle>
          <a:p>
            <a:pPr/>
            <a:r>
              <a:t>June</a:t>
            </a:r>
          </a:p>
        </p:txBody>
      </p:sp>
      <p:sp>
        <p:nvSpPr>
          <p:cNvPr id="1654" name="Google Shape;1672;p36"/>
          <p:cNvSpPr/>
          <p:nvPr/>
        </p:nvSpPr>
        <p:spPr>
          <a:xfrm>
            <a:off x="3067049" y="795528"/>
            <a:ext cx="632402" cy="150900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55" name="Google Shape;1673;p36"/>
          <p:cNvSpPr txBox="1"/>
          <p:nvPr/>
        </p:nvSpPr>
        <p:spPr>
          <a:xfrm>
            <a:off x="3067049" y="807477"/>
            <a:ext cx="6324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FFFFFF"/>
                </a:solidFill>
              </a:defRPr>
            </a:lvl1pPr>
          </a:lstStyle>
          <a:p>
            <a:pPr/>
            <a:r>
              <a:t>July</a:t>
            </a:r>
          </a:p>
        </p:txBody>
      </p:sp>
      <p:sp>
        <p:nvSpPr>
          <p:cNvPr id="1656" name="Google Shape;1674;p36"/>
          <p:cNvSpPr/>
          <p:nvPr/>
        </p:nvSpPr>
        <p:spPr>
          <a:xfrm>
            <a:off x="3699509" y="795528"/>
            <a:ext cx="632401" cy="150900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57" name="Google Shape;1675;p36"/>
          <p:cNvSpPr txBox="1"/>
          <p:nvPr/>
        </p:nvSpPr>
        <p:spPr>
          <a:xfrm>
            <a:off x="3699509" y="807477"/>
            <a:ext cx="63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FFFFFF"/>
                </a:solidFill>
              </a:defRPr>
            </a:lvl1pPr>
          </a:lstStyle>
          <a:p>
            <a:pPr/>
            <a:r>
              <a:t>August</a:t>
            </a:r>
          </a:p>
        </p:txBody>
      </p:sp>
      <p:sp>
        <p:nvSpPr>
          <p:cNvPr id="1658" name="Google Shape;1676;p36"/>
          <p:cNvSpPr/>
          <p:nvPr/>
        </p:nvSpPr>
        <p:spPr>
          <a:xfrm>
            <a:off x="4331970" y="795528"/>
            <a:ext cx="632401" cy="150900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59" name="Google Shape;1677;p36"/>
          <p:cNvSpPr txBox="1"/>
          <p:nvPr/>
        </p:nvSpPr>
        <p:spPr>
          <a:xfrm>
            <a:off x="4331970" y="807477"/>
            <a:ext cx="63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FFFFFF"/>
                </a:solidFill>
              </a:defRPr>
            </a:lvl1pPr>
          </a:lstStyle>
          <a:p>
            <a:pPr/>
            <a:r>
              <a:t>September</a:t>
            </a:r>
          </a:p>
        </p:txBody>
      </p:sp>
      <p:sp>
        <p:nvSpPr>
          <p:cNvPr id="1660" name="Google Shape;1678;p36"/>
          <p:cNvSpPr/>
          <p:nvPr/>
        </p:nvSpPr>
        <p:spPr>
          <a:xfrm>
            <a:off x="4964429" y="795528"/>
            <a:ext cx="632401" cy="150900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61" name="Google Shape;1679;p36"/>
          <p:cNvSpPr txBox="1"/>
          <p:nvPr/>
        </p:nvSpPr>
        <p:spPr>
          <a:xfrm>
            <a:off x="4964429" y="807477"/>
            <a:ext cx="63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FFFFFF"/>
                </a:solidFill>
              </a:defRPr>
            </a:lvl1pPr>
          </a:lstStyle>
          <a:p>
            <a:pPr/>
            <a:r>
              <a:t>October</a:t>
            </a:r>
          </a:p>
        </p:txBody>
      </p:sp>
      <p:sp>
        <p:nvSpPr>
          <p:cNvPr id="1662" name="Google Shape;1680;p36"/>
          <p:cNvSpPr/>
          <p:nvPr/>
        </p:nvSpPr>
        <p:spPr>
          <a:xfrm>
            <a:off x="5596890" y="795528"/>
            <a:ext cx="632401" cy="150900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63" name="Google Shape;1681;p36"/>
          <p:cNvSpPr txBox="1"/>
          <p:nvPr/>
        </p:nvSpPr>
        <p:spPr>
          <a:xfrm>
            <a:off x="5596890" y="807477"/>
            <a:ext cx="63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FFFFFF"/>
                </a:solidFill>
              </a:defRPr>
            </a:lvl1pPr>
          </a:lstStyle>
          <a:p>
            <a:pPr/>
            <a:r>
              <a:t>November</a:t>
            </a:r>
          </a:p>
        </p:txBody>
      </p:sp>
      <p:sp>
        <p:nvSpPr>
          <p:cNvPr id="1664" name="Google Shape;1682;p36"/>
          <p:cNvSpPr/>
          <p:nvPr/>
        </p:nvSpPr>
        <p:spPr>
          <a:xfrm>
            <a:off x="6229349" y="795528"/>
            <a:ext cx="632402" cy="150900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65" name="Google Shape;1683;p36"/>
          <p:cNvSpPr txBox="1"/>
          <p:nvPr/>
        </p:nvSpPr>
        <p:spPr>
          <a:xfrm>
            <a:off x="6229349" y="807477"/>
            <a:ext cx="6324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FFFFFF"/>
                </a:solidFill>
              </a:defRPr>
            </a:lvl1pPr>
          </a:lstStyle>
          <a:p>
            <a:pPr/>
            <a:r>
              <a:t>December</a:t>
            </a:r>
          </a:p>
        </p:txBody>
      </p:sp>
      <p:sp>
        <p:nvSpPr>
          <p:cNvPr id="1666" name="Google Shape;1684;p36"/>
          <p:cNvSpPr/>
          <p:nvPr/>
        </p:nvSpPr>
        <p:spPr>
          <a:xfrm>
            <a:off x="6861809" y="795528"/>
            <a:ext cx="632401" cy="150900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67" name="Google Shape;1685;p36"/>
          <p:cNvSpPr txBox="1"/>
          <p:nvPr/>
        </p:nvSpPr>
        <p:spPr>
          <a:xfrm>
            <a:off x="6861809" y="807477"/>
            <a:ext cx="63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FFFFFF"/>
                </a:solidFill>
              </a:defRPr>
            </a:lvl1pPr>
          </a:lstStyle>
          <a:p>
            <a:pPr/>
            <a:r>
              <a:t>January</a:t>
            </a:r>
          </a:p>
        </p:txBody>
      </p:sp>
      <p:sp>
        <p:nvSpPr>
          <p:cNvPr id="1668" name="Google Shape;1686;p36"/>
          <p:cNvSpPr/>
          <p:nvPr/>
        </p:nvSpPr>
        <p:spPr>
          <a:xfrm>
            <a:off x="7494269" y="795528"/>
            <a:ext cx="632401" cy="150900"/>
          </a:xfrm>
          <a:prstGeom prst="rect">
            <a:avLst/>
          </a:prstGeom>
          <a:solidFill>
            <a:srgbClr val="19323F"/>
          </a:solidFill>
          <a:ln>
            <a:solidFill>
              <a:srgbClr val="19323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69" name="Google Shape;1687;p36"/>
          <p:cNvSpPr txBox="1"/>
          <p:nvPr/>
        </p:nvSpPr>
        <p:spPr>
          <a:xfrm>
            <a:off x="7494269" y="807477"/>
            <a:ext cx="63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FFFFFF"/>
                </a:solidFill>
              </a:defRPr>
            </a:lvl1pPr>
          </a:lstStyle>
          <a:p>
            <a:pPr/>
            <a:r>
              <a:t>February</a:t>
            </a:r>
          </a:p>
        </p:txBody>
      </p:sp>
      <p:sp>
        <p:nvSpPr>
          <p:cNvPr id="1670" name="Google Shape;1688;p36"/>
          <p:cNvSpPr/>
          <p:nvPr/>
        </p:nvSpPr>
        <p:spPr>
          <a:xfrm>
            <a:off x="2434589" y="946403"/>
            <a:ext cx="1897501" cy="2825701"/>
          </a:xfrm>
          <a:prstGeom prst="rect">
            <a:avLst/>
          </a:prstGeom>
          <a:solidFill>
            <a:srgbClr val="E8EDF8">
              <a:alpha val="80000"/>
            </a:srgbClr>
          </a:solidFill>
          <a:ln w="7150">
            <a:solidFill>
              <a:srgbClr val="D8DCE8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71" name="Google Shape;1689;p36"/>
          <p:cNvSpPr/>
          <p:nvPr/>
        </p:nvSpPr>
        <p:spPr>
          <a:xfrm>
            <a:off x="4331970" y="946403"/>
            <a:ext cx="1897501" cy="2825701"/>
          </a:xfrm>
          <a:prstGeom prst="rect">
            <a:avLst/>
          </a:prstGeom>
          <a:solidFill>
            <a:srgbClr val="EDF0FA">
              <a:alpha val="80000"/>
            </a:srgbClr>
          </a:solidFill>
          <a:ln w="7150">
            <a:solidFill>
              <a:srgbClr val="D8DCE8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72" name="Google Shape;1690;p36"/>
          <p:cNvSpPr/>
          <p:nvPr/>
        </p:nvSpPr>
        <p:spPr>
          <a:xfrm>
            <a:off x="6229349" y="946403"/>
            <a:ext cx="1897502" cy="2825701"/>
          </a:xfrm>
          <a:prstGeom prst="rect">
            <a:avLst/>
          </a:prstGeom>
          <a:solidFill>
            <a:srgbClr val="F0F2FC">
              <a:alpha val="80000"/>
            </a:srgbClr>
          </a:solidFill>
          <a:ln w="7150">
            <a:solidFill>
              <a:srgbClr val="D8DCE8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73" name="Google Shape;1691;p36"/>
          <p:cNvSpPr/>
          <p:nvPr/>
        </p:nvSpPr>
        <p:spPr>
          <a:xfrm flipH="1">
            <a:off x="3067050" y="946403"/>
            <a:ext cx="1" cy="2811901"/>
          </a:xfrm>
          <a:prstGeom prst="line">
            <a:avLst/>
          </a:prstGeom>
          <a:ln w="7150">
            <a:solidFill>
              <a:srgbClr val="D8DC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4" name="Google Shape;1692;p36"/>
          <p:cNvSpPr/>
          <p:nvPr/>
        </p:nvSpPr>
        <p:spPr>
          <a:xfrm flipH="1">
            <a:off x="3699509" y="946403"/>
            <a:ext cx="1" cy="2811901"/>
          </a:xfrm>
          <a:prstGeom prst="line">
            <a:avLst/>
          </a:prstGeom>
          <a:ln w="7150">
            <a:solidFill>
              <a:srgbClr val="D8DC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5" name="Google Shape;1693;p36"/>
          <p:cNvSpPr/>
          <p:nvPr/>
        </p:nvSpPr>
        <p:spPr>
          <a:xfrm flipH="1">
            <a:off x="4331970" y="946403"/>
            <a:ext cx="1" cy="2811901"/>
          </a:xfrm>
          <a:prstGeom prst="line">
            <a:avLst/>
          </a:prstGeom>
          <a:ln w="7150">
            <a:solidFill>
              <a:srgbClr val="D8DC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6" name="Google Shape;1694;p36"/>
          <p:cNvSpPr/>
          <p:nvPr/>
        </p:nvSpPr>
        <p:spPr>
          <a:xfrm flipH="1">
            <a:off x="4964429" y="946403"/>
            <a:ext cx="1" cy="2811901"/>
          </a:xfrm>
          <a:prstGeom prst="line">
            <a:avLst/>
          </a:prstGeom>
          <a:ln w="7150">
            <a:solidFill>
              <a:srgbClr val="D8DC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7" name="Google Shape;1695;p36"/>
          <p:cNvSpPr/>
          <p:nvPr/>
        </p:nvSpPr>
        <p:spPr>
          <a:xfrm flipH="1">
            <a:off x="5596890" y="946403"/>
            <a:ext cx="1" cy="2811901"/>
          </a:xfrm>
          <a:prstGeom prst="line">
            <a:avLst/>
          </a:prstGeom>
          <a:ln w="7150">
            <a:solidFill>
              <a:srgbClr val="D8DC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8" name="Google Shape;1696;p36"/>
          <p:cNvSpPr/>
          <p:nvPr/>
        </p:nvSpPr>
        <p:spPr>
          <a:xfrm flipH="1">
            <a:off x="6229349" y="946403"/>
            <a:ext cx="1" cy="2811901"/>
          </a:xfrm>
          <a:prstGeom prst="line">
            <a:avLst/>
          </a:prstGeom>
          <a:ln w="7150">
            <a:solidFill>
              <a:srgbClr val="D8DC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9" name="Google Shape;1697;p36"/>
          <p:cNvSpPr/>
          <p:nvPr/>
        </p:nvSpPr>
        <p:spPr>
          <a:xfrm>
            <a:off x="6861809" y="946403"/>
            <a:ext cx="1" cy="2811901"/>
          </a:xfrm>
          <a:prstGeom prst="line">
            <a:avLst/>
          </a:prstGeom>
          <a:ln w="7150">
            <a:solidFill>
              <a:srgbClr val="D8DC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80" name="Google Shape;1698;p36"/>
          <p:cNvSpPr/>
          <p:nvPr/>
        </p:nvSpPr>
        <p:spPr>
          <a:xfrm>
            <a:off x="7494269" y="946403"/>
            <a:ext cx="1" cy="2811901"/>
          </a:xfrm>
          <a:prstGeom prst="line">
            <a:avLst/>
          </a:prstGeom>
          <a:ln w="7150">
            <a:solidFill>
              <a:srgbClr val="D8DC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81" name="Google Shape;1699;p36"/>
          <p:cNvSpPr txBox="1"/>
          <p:nvPr/>
        </p:nvSpPr>
        <p:spPr>
          <a:xfrm rot="16200000">
            <a:off x="-1290351" y="2277796"/>
            <a:ext cx="2740001" cy="142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ctr">
              <a:defRPr sz="600">
                <a:solidFill>
                  <a:srgbClr val="2E46FA"/>
                </a:solidFill>
              </a:defRPr>
            </a:lvl1pPr>
          </a:lstStyle>
          <a:p>
            <a:pPr/>
            <a:r>
              <a:t>Programs / decisions to set up</a:t>
            </a:r>
          </a:p>
        </p:txBody>
      </p:sp>
      <p:sp>
        <p:nvSpPr>
          <p:cNvPr id="1682" name="Google Shape;1700;p36"/>
          <p:cNvSpPr/>
          <p:nvPr/>
        </p:nvSpPr>
        <p:spPr>
          <a:xfrm>
            <a:off x="240029" y="946403"/>
            <a:ext cx="2091602" cy="140701"/>
          </a:xfrm>
          <a:prstGeom prst="rect">
            <a:avLst/>
          </a:prstGeom>
          <a:solidFill>
            <a:srgbClr val="FFFFFF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683" name="Google Shape;1701;p36"/>
          <p:cNvSpPr txBox="1"/>
          <p:nvPr/>
        </p:nvSpPr>
        <p:spPr>
          <a:xfrm>
            <a:off x="240030" y="972303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1. Sales Performance Rituals &amp; Coaching Framework</a:t>
            </a:r>
          </a:p>
        </p:txBody>
      </p:sp>
      <p:sp>
        <p:nvSpPr>
          <p:cNvPr id="1684" name="Google Shape;1702;p36"/>
          <p:cNvSpPr/>
          <p:nvPr/>
        </p:nvSpPr>
        <p:spPr>
          <a:xfrm>
            <a:off x="2451730" y="978024"/>
            <a:ext cx="945000" cy="77401"/>
          </a:xfrm>
          <a:prstGeom prst="roundRect">
            <a:avLst>
              <a:gd name="adj" fmla="val 26607"/>
            </a:avLst>
          </a:prstGeom>
          <a:solidFill>
            <a:srgbClr val="DBE3F0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85" name="Google Shape;1703;p36"/>
          <p:cNvSpPr/>
          <p:nvPr/>
        </p:nvSpPr>
        <p:spPr>
          <a:xfrm>
            <a:off x="240029" y="1086992"/>
            <a:ext cx="2091602" cy="140701"/>
          </a:xfrm>
          <a:prstGeom prst="rect">
            <a:avLst/>
          </a:prstGeom>
          <a:solidFill>
            <a:srgbClr val="F5F6FA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686" name="Google Shape;1704;p36"/>
          <p:cNvSpPr txBox="1"/>
          <p:nvPr/>
        </p:nvSpPr>
        <p:spPr>
          <a:xfrm>
            <a:off x="240030" y="1112892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2. CRM Hygiene, Activity Tracking &amp; Unified KPI Dashboard</a:t>
            </a:r>
          </a:p>
        </p:txBody>
      </p:sp>
      <p:sp>
        <p:nvSpPr>
          <p:cNvPr id="1687" name="Google Shape;1705;p36"/>
          <p:cNvSpPr/>
          <p:nvPr/>
        </p:nvSpPr>
        <p:spPr>
          <a:xfrm>
            <a:off x="2451717" y="1118625"/>
            <a:ext cx="3145202" cy="77401"/>
          </a:xfrm>
          <a:prstGeom prst="roundRect">
            <a:avLst>
              <a:gd name="adj" fmla="val 26607"/>
            </a:avLst>
          </a:prstGeom>
          <a:solidFill>
            <a:srgbClr val="C8C5C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88" name="Google Shape;1706;p36"/>
          <p:cNvSpPr/>
          <p:nvPr/>
        </p:nvSpPr>
        <p:spPr>
          <a:xfrm>
            <a:off x="240029" y="1227582"/>
            <a:ext cx="2091602" cy="140701"/>
          </a:xfrm>
          <a:prstGeom prst="rect">
            <a:avLst/>
          </a:prstGeom>
          <a:solidFill>
            <a:srgbClr val="FFFFFF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689" name="Google Shape;1707;p36"/>
          <p:cNvSpPr txBox="1"/>
          <p:nvPr/>
        </p:nvSpPr>
        <p:spPr>
          <a:xfrm>
            <a:off x="240030" y="1253482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3. Forecast Governance &amp; Stage Definitions</a:t>
            </a:r>
          </a:p>
        </p:txBody>
      </p:sp>
      <p:sp>
        <p:nvSpPr>
          <p:cNvPr id="1690" name="Google Shape;1708;p36"/>
          <p:cNvSpPr/>
          <p:nvPr/>
        </p:nvSpPr>
        <p:spPr>
          <a:xfrm>
            <a:off x="2451735" y="1259214"/>
            <a:ext cx="1863001" cy="77401"/>
          </a:xfrm>
          <a:prstGeom prst="roundRect">
            <a:avLst>
              <a:gd name="adj" fmla="val 26607"/>
            </a:avLst>
          </a:prstGeom>
          <a:solidFill>
            <a:srgbClr val="C8C5C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91" name="Google Shape;1709;p36"/>
          <p:cNvSpPr/>
          <p:nvPr/>
        </p:nvSpPr>
        <p:spPr>
          <a:xfrm>
            <a:off x="240029" y="1368171"/>
            <a:ext cx="2091602" cy="140701"/>
          </a:xfrm>
          <a:prstGeom prst="rect">
            <a:avLst/>
          </a:prstGeom>
          <a:solidFill>
            <a:srgbClr val="F5F6FA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692" name="Google Shape;1710;p36"/>
          <p:cNvSpPr txBox="1"/>
          <p:nvPr/>
        </p:nvSpPr>
        <p:spPr>
          <a:xfrm>
            <a:off x="240030" y="1394071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4. Outbound  Training / Coaching for Enterprise AEs</a:t>
            </a:r>
          </a:p>
        </p:txBody>
      </p:sp>
      <p:sp>
        <p:nvSpPr>
          <p:cNvPr id="1693" name="Google Shape;1711;p36"/>
          <p:cNvSpPr/>
          <p:nvPr/>
        </p:nvSpPr>
        <p:spPr>
          <a:xfrm>
            <a:off x="2451711" y="1399800"/>
            <a:ext cx="4375501" cy="77401"/>
          </a:xfrm>
          <a:prstGeom prst="roundRect">
            <a:avLst>
              <a:gd name="adj" fmla="val 26607"/>
            </a:avLst>
          </a:prstGeom>
          <a:solidFill>
            <a:srgbClr val="EBC5D0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94" name="Google Shape;1712;p36"/>
          <p:cNvSpPr/>
          <p:nvPr/>
        </p:nvSpPr>
        <p:spPr>
          <a:xfrm>
            <a:off x="240029" y="1508760"/>
            <a:ext cx="2091602" cy="140701"/>
          </a:xfrm>
          <a:prstGeom prst="rect">
            <a:avLst/>
          </a:prstGeom>
          <a:solidFill>
            <a:srgbClr val="FFFFFF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695" name="Google Shape;1713;p36"/>
          <p:cNvSpPr txBox="1"/>
          <p:nvPr/>
        </p:nvSpPr>
        <p:spPr>
          <a:xfrm>
            <a:off x="240030" y="1534660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5. Demand Generation Strategy, BDR Excellence &amp; Lead Quality</a:t>
            </a:r>
          </a:p>
        </p:txBody>
      </p:sp>
      <p:sp>
        <p:nvSpPr>
          <p:cNvPr id="1696" name="Google Shape;1714;p36"/>
          <p:cNvSpPr/>
          <p:nvPr/>
        </p:nvSpPr>
        <p:spPr>
          <a:xfrm>
            <a:off x="2451735" y="1540392"/>
            <a:ext cx="1863001" cy="77401"/>
          </a:xfrm>
          <a:prstGeom prst="roundRect">
            <a:avLst>
              <a:gd name="adj" fmla="val 26607"/>
            </a:avLst>
          </a:prstGeom>
          <a:solidFill>
            <a:srgbClr val="B9CDD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97" name="Google Shape;1715;p36"/>
          <p:cNvSpPr/>
          <p:nvPr/>
        </p:nvSpPr>
        <p:spPr>
          <a:xfrm>
            <a:off x="240029" y="1649348"/>
            <a:ext cx="2091602" cy="140701"/>
          </a:xfrm>
          <a:prstGeom prst="rect">
            <a:avLst/>
          </a:prstGeom>
          <a:solidFill>
            <a:srgbClr val="F5F6FA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698" name="Google Shape;1716;p36"/>
          <p:cNvSpPr txBox="1"/>
          <p:nvPr/>
        </p:nvSpPr>
        <p:spPr>
          <a:xfrm>
            <a:off x="240030" y="1675248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6. Structured Hiring Process, Scorecards &amp; TA Operating Model</a:t>
            </a:r>
          </a:p>
        </p:txBody>
      </p:sp>
      <p:sp>
        <p:nvSpPr>
          <p:cNvPr id="1699" name="Google Shape;1717;p36"/>
          <p:cNvSpPr/>
          <p:nvPr/>
        </p:nvSpPr>
        <p:spPr>
          <a:xfrm>
            <a:off x="2451730" y="1680974"/>
            <a:ext cx="615300" cy="77401"/>
          </a:xfrm>
          <a:prstGeom prst="roundRect">
            <a:avLst>
              <a:gd name="adj" fmla="val 26607"/>
            </a:avLst>
          </a:prstGeom>
          <a:solidFill>
            <a:srgbClr val="BDD3F3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00" name="Google Shape;1718;p36"/>
          <p:cNvSpPr/>
          <p:nvPr/>
        </p:nvSpPr>
        <p:spPr>
          <a:xfrm>
            <a:off x="240029" y="1789938"/>
            <a:ext cx="2091602" cy="140701"/>
          </a:xfrm>
          <a:prstGeom prst="rect">
            <a:avLst/>
          </a:prstGeom>
          <a:solidFill>
            <a:srgbClr val="FFFFFF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01" name="Google Shape;1719;p36"/>
          <p:cNvSpPr txBox="1"/>
          <p:nvPr/>
        </p:nvSpPr>
        <p:spPr>
          <a:xfrm>
            <a:off x="240030" y="1815838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7. Sales Playbook Relaunch, Discovery &amp; MEDDIC Embedding</a:t>
            </a:r>
          </a:p>
        </p:txBody>
      </p:sp>
      <p:sp>
        <p:nvSpPr>
          <p:cNvPr id="1702" name="Google Shape;1720;p36"/>
          <p:cNvSpPr/>
          <p:nvPr/>
        </p:nvSpPr>
        <p:spPr>
          <a:xfrm>
            <a:off x="2451715" y="1821575"/>
            <a:ext cx="3777601" cy="77401"/>
          </a:xfrm>
          <a:prstGeom prst="roundRect">
            <a:avLst>
              <a:gd name="adj" fmla="val 26607"/>
            </a:avLst>
          </a:prstGeom>
          <a:solidFill>
            <a:srgbClr val="B4C5DF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03" name="Google Shape;1721;p36"/>
          <p:cNvSpPr/>
          <p:nvPr/>
        </p:nvSpPr>
        <p:spPr>
          <a:xfrm>
            <a:off x="240029" y="1930526"/>
            <a:ext cx="2091602" cy="140701"/>
          </a:xfrm>
          <a:prstGeom prst="rect">
            <a:avLst/>
          </a:prstGeom>
          <a:solidFill>
            <a:srgbClr val="F5F6FA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04" name="Google Shape;1722;p36"/>
          <p:cNvSpPr txBox="1"/>
          <p:nvPr/>
        </p:nvSpPr>
        <p:spPr>
          <a:xfrm>
            <a:off x="240030" y="1956426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8. Territory Design, Account Allocation &amp; TAM Governance</a:t>
            </a:r>
          </a:p>
        </p:txBody>
      </p:sp>
      <p:sp>
        <p:nvSpPr>
          <p:cNvPr id="1705" name="Google Shape;1723;p36"/>
          <p:cNvSpPr/>
          <p:nvPr/>
        </p:nvSpPr>
        <p:spPr>
          <a:xfrm>
            <a:off x="2451735" y="1962160"/>
            <a:ext cx="2495401" cy="77401"/>
          </a:xfrm>
          <a:prstGeom prst="roundRect">
            <a:avLst>
              <a:gd name="adj" fmla="val 26607"/>
            </a:avLst>
          </a:prstGeom>
          <a:solidFill>
            <a:srgbClr val="C8C5C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06" name="Google Shape;1724;p36"/>
          <p:cNvSpPr/>
          <p:nvPr/>
        </p:nvSpPr>
        <p:spPr>
          <a:xfrm>
            <a:off x="240029" y="2071116"/>
            <a:ext cx="2091602" cy="140701"/>
          </a:xfrm>
          <a:prstGeom prst="rect">
            <a:avLst/>
          </a:prstGeom>
          <a:solidFill>
            <a:srgbClr val="FFFFFF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07" name="Google Shape;1725;p36"/>
          <p:cNvSpPr txBox="1"/>
          <p:nvPr/>
        </p:nvSpPr>
        <p:spPr>
          <a:xfrm>
            <a:off x="240030" y="2097016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9. Career Architecture, Competency Framework &amp; Cross-Region Cadence</a:t>
            </a:r>
          </a:p>
        </p:txBody>
      </p:sp>
      <p:sp>
        <p:nvSpPr>
          <p:cNvPr id="1708" name="Google Shape;1726;p36"/>
          <p:cNvSpPr/>
          <p:nvPr/>
        </p:nvSpPr>
        <p:spPr>
          <a:xfrm>
            <a:off x="3699452" y="2102749"/>
            <a:ext cx="2512801" cy="77401"/>
          </a:xfrm>
          <a:prstGeom prst="roundRect">
            <a:avLst>
              <a:gd name="adj" fmla="val 26607"/>
            </a:avLst>
          </a:prstGeom>
          <a:solidFill>
            <a:srgbClr val="98B5FE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09" name="Google Shape;1727;p36"/>
          <p:cNvSpPr/>
          <p:nvPr/>
        </p:nvSpPr>
        <p:spPr>
          <a:xfrm>
            <a:off x="240029" y="2211704"/>
            <a:ext cx="2091602" cy="140701"/>
          </a:xfrm>
          <a:prstGeom prst="rect">
            <a:avLst/>
          </a:prstGeom>
          <a:solidFill>
            <a:srgbClr val="F5F6FA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10" name="Google Shape;1728;p36"/>
          <p:cNvSpPr txBox="1"/>
          <p:nvPr/>
        </p:nvSpPr>
        <p:spPr>
          <a:xfrm>
            <a:off x="240030" y="2237604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10. Sales Compensation, Quota Fairness &amp; Talent Retention</a:t>
            </a:r>
          </a:p>
        </p:txBody>
      </p:sp>
      <p:sp>
        <p:nvSpPr>
          <p:cNvPr id="1711" name="Google Shape;1729;p36"/>
          <p:cNvSpPr/>
          <p:nvPr/>
        </p:nvSpPr>
        <p:spPr>
          <a:xfrm>
            <a:off x="3066930" y="2243350"/>
            <a:ext cx="3777601" cy="77401"/>
          </a:xfrm>
          <a:prstGeom prst="roundRect">
            <a:avLst>
              <a:gd name="adj" fmla="val 26607"/>
            </a:avLst>
          </a:prstGeom>
          <a:solidFill>
            <a:srgbClr val="98B5FE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12" name="Google Shape;1730;p36"/>
          <p:cNvSpPr/>
          <p:nvPr/>
        </p:nvSpPr>
        <p:spPr>
          <a:xfrm>
            <a:off x="240029" y="2352294"/>
            <a:ext cx="2091602" cy="140701"/>
          </a:xfrm>
          <a:prstGeom prst="rect">
            <a:avLst/>
          </a:prstGeom>
          <a:solidFill>
            <a:srgbClr val="FFFFFF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13" name="Google Shape;1731;p36"/>
          <p:cNvSpPr txBox="1"/>
          <p:nvPr/>
        </p:nvSpPr>
        <p:spPr>
          <a:xfrm>
            <a:off x="240030" y="2378194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11. Manager Academy, Leadership Capability &amp; Support Staffing</a:t>
            </a:r>
          </a:p>
        </p:txBody>
      </p:sp>
      <p:sp>
        <p:nvSpPr>
          <p:cNvPr id="1714" name="Google Shape;1732;p36"/>
          <p:cNvSpPr/>
          <p:nvPr/>
        </p:nvSpPr>
        <p:spPr>
          <a:xfrm>
            <a:off x="3066930" y="2383925"/>
            <a:ext cx="3777601" cy="77401"/>
          </a:xfrm>
          <a:prstGeom prst="roundRect">
            <a:avLst>
              <a:gd name="adj" fmla="val 26607"/>
            </a:avLst>
          </a:prstGeom>
          <a:solidFill>
            <a:srgbClr val="98B5FE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15" name="Google Shape;1733;p36"/>
          <p:cNvSpPr/>
          <p:nvPr/>
        </p:nvSpPr>
        <p:spPr>
          <a:xfrm>
            <a:off x="240029" y="2492882"/>
            <a:ext cx="2091602" cy="140701"/>
          </a:xfrm>
          <a:prstGeom prst="rect">
            <a:avLst/>
          </a:prstGeom>
          <a:solidFill>
            <a:srgbClr val="F5F6FA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16" name="Google Shape;1734;p36"/>
          <p:cNvSpPr txBox="1"/>
          <p:nvPr/>
        </p:nvSpPr>
        <p:spPr>
          <a:xfrm>
            <a:off x="240030" y="2518782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12. Onboarding Redesign: Role-Based Tracks &amp; Ramp Milestones</a:t>
            </a:r>
          </a:p>
        </p:txBody>
      </p:sp>
      <p:sp>
        <p:nvSpPr>
          <p:cNvPr id="1717" name="Google Shape;1735;p36"/>
          <p:cNvSpPr/>
          <p:nvPr/>
        </p:nvSpPr>
        <p:spPr>
          <a:xfrm>
            <a:off x="3699328" y="2524524"/>
            <a:ext cx="2512800" cy="77401"/>
          </a:xfrm>
          <a:prstGeom prst="roundRect">
            <a:avLst>
              <a:gd name="adj" fmla="val 26607"/>
            </a:avLst>
          </a:prstGeom>
          <a:solidFill>
            <a:srgbClr val="BDD3F3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18" name="Google Shape;1736;p36"/>
          <p:cNvSpPr/>
          <p:nvPr/>
        </p:nvSpPr>
        <p:spPr>
          <a:xfrm>
            <a:off x="240029" y="2633472"/>
            <a:ext cx="2091602" cy="140701"/>
          </a:xfrm>
          <a:prstGeom prst="rect">
            <a:avLst/>
          </a:prstGeom>
          <a:solidFill>
            <a:srgbClr val="FFFFFF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19" name="Google Shape;1737;p36"/>
          <p:cNvSpPr txBox="1"/>
          <p:nvPr/>
        </p:nvSpPr>
        <p:spPr>
          <a:xfrm>
            <a:off x="240030" y="2659372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13. Annual Enablement Calendar, Certifications &amp; Operating Model</a:t>
            </a:r>
          </a:p>
        </p:txBody>
      </p:sp>
      <p:sp>
        <p:nvSpPr>
          <p:cNvPr id="1720" name="Google Shape;1738;p36"/>
          <p:cNvSpPr/>
          <p:nvPr/>
        </p:nvSpPr>
        <p:spPr>
          <a:xfrm>
            <a:off x="3093522" y="2665099"/>
            <a:ext cx="2495401" cy="77401"/>
          </a:xfrm>
          <a:prstGeom prst="roundRect">
            <a:avLst>
              <a:gd name="adj" fmla="val 26607"/>
            </a:avLst>
          </a:prstGeom>
          <a:solidFill>
            <a:srgbClr val="B4C5DF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21" name="Google Shape;1739;p36"/>
          <p:cNvSpPr/>
          <p:nvPr/>
        </p:nvSpPr>
        <p:spPr>
          <a:xfrm>
            <a:off x="240029" y="2774060"/>
            <a:ext cx="2091602" cy="140701"/>
          </a:xfrm>
          <a:prstGeom prst="rect">
            <a:avLst/>
          </a:prstGeom>
          <a:solidFill>
            <a:srgbClr val="F5F6FA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22" name="Google Shape;1740;p36"/>
          <p:cNvSpPr txBox="1"/>
          <p:nvPr/>
        </p:nvSpPr>
        <p:spPr>
          <a:xfrm>
            <a:off x="240030" y="2799960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14. Enterprise Enablement: Coaching, Messaging, Complex Cycles &amp; ROI Content</a:t>
            </a:r>
          </a:p>
        </p:txBody>
      </p:sp>
      <p:sp>
        <p:nvSpPr>
          <p:cNvPr id="1723" name="Google Shape;1741;p36"/>
          <p:cNvSpPr/>
          <p:nvPr/>
        </p:nvSpPr>
        <p:spPr>
          <a:xfrm>
            <a:off x="3066924" y="2805700"/>
            <a:ext cx="3795001" cy="77401"/>
          </a:xfrm>
          <a:prstGeom prst="roundRect">
            <a:avLst>
              <a:gd name="adj" fmla="val 26607"/>
            </a:avLst>
          </a:prstGeom>
          <a:solidFill>
            <a:srgbClr val="B4C5DF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24" name="Google Shape;1742;p36"/>
          <p:cNvSpPr/>
          <p:nvPr/>
        </p:nvSpPr>
        <p:spPr>
          <a:xfrm>
            <a:off x="240029" y="2914650"/>
            <a:ext cx="2091602" cy="140700"/>
          </a:xfrm>
          <a:prstGeom prst="rect">
            <a:avLst/>
          </a:prstGeom>
          <a:solidFill>
            <a:srgbClr val="FFFFFF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25" name="Google Shape;1743;p36"/>
          <p:cNvSpPr txBox="1"/>
          <p:nvPr/>
        </p:nvSpPr>
        <p:spPr>
          <a:xfrm>
            <a:off x="240030" y="2940549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15. ABM, Events &amp; Partnership Pipeline Governance</a:t>
            </a:r>
          </a:p>
        </p:txBody>
      </p:sp>
      <p:sp>
        <p:nvSpPr>
          <p:cNvPr id="1726" name="Google Shape;1744;p36"/>
          <p:cNvSpPr/>
          <p:nvPr/>
        </p:nvSpPr>
        <p:spPr>
          <a:xfrm>
            <a:off x="4349115" y="2946282"/>
            <a:ext cx="2495401" cy="77401"/>
          </a:xfrm>
          <a:prstGeom prst="roundRect">
            <a:avLst>
              <a:gd name="adj" fmla="val 26607"/>
            </a:avLst>
          </a:prstGeom>
          <a:solidFill>
            <a:srgbClr val="B9CDD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27" name="Google Shape;1745;p36"/>
          <p:cNvSpPr/>
          <p:nvPr/>
        </p:nvSpPr>
        <p:spPr>
          <a:xfrm>
            <a:off x="240029" y="3055239"/>
            <a:ext cx="2091602" cy="140701"/>
          </a:xfrm>
          <a:prstGeom prst="rect">
            <a:avLst/>
          </a:prstGeom>
          <a:solidFill>
            <a:srgbClr val="F5F6FA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28" name="Google Shape;1746;p36"/>
          <p:cNvSpPr txBox="1"/>
          <p:nvPr/>
        </p:nvSpPr>
        <p:spPr>
          <a:xfrm>
            <a:off x="240030" y="3081139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16. CS Commercial Enablement &amp; CSM/AE Expansion Motion</a:t>
            </a:r>
          </a:p>
        </p:txBody>
      </p:sp>
      <p:sp>
        <p:nvSpPr>
          <p:cNvPr id="1729" name="Google Shape;1747;p36"/>
          <p:cNvSpPr/>
          <p:nvPr/>
        </p:nvSpPr>
        <p:spPr>
          <a:xfrm>
            <a:off x="4349129" y="3086874"/>
            <a:ext cx="3760501" cy="77401"/>
          </a:xfrm>
          <a:prstGeom prst="roundRect">
            <a:avLst>
              <a:gd name="adj" fmla="val 26607"/>
            </a:avLst>
          </a:prstGeom>
          <a:solidFill>
            <a:srgbClr val="C5C3DF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30" name="Google Shape;1748;p36"/>
          <p:cNvSpPr/>
          <p:nvPr/>
        </p:nvSpPr>
        <p:spPr>
          <a:xfrm>
            <a:off x="240029" y="3195827"/>
            <a:ext cx="2091602" cy="140701"/>
          </a:xfrm>
          <a:prstGeom prst="rect">
            <a:avLst/>
          </a:prstGeom>
          <a:solidFill>
            <a:srgbClr val="FFFFFF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31" name="Google Shape;1749;p36"/>
          <p:cNvSpPr txBox="1"/>
          <p:nvPr/>
        </p:nvSpPr>
        <p:spPr>
          <a:xfrm>
            <a:off x="240030" y="3221727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17. Customer Health, Churn Prevention &amp; Renewal Program</a:t>
            </a:r>
          </a:p>
        </p:txBody>
      </p:sp>
      <p:sp>
        <p:nvSpPr>
          <p:cNvPr id="1732" name="Google Shape;1750;p36"/>
          <p:cNvSpPr/>
          <p:nvPr/>
        </p:nvSpPr>
        <p:spPr>
          <a:xfrm>
            <a:off x="4331899" y="3227450"/>
            <a:ext cx="2495401" cy="77401"/>
          </a:xfrm>
          <a:prstGeom prst="roundRect">
            <a:avLst>
              <a:gd name="adj" fmla="val 26607"/>
            </a:avLst>
          </a:prstGeom>
          <a:solidFill>
            <a:srgbClr val="C5C3DF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33" name="Google Shape;1751;p36"/>
          <p:cNvSpPr/>
          <p:nvPr/>
        </p:nvSpPr>
        <p:spPr>
          <a:xfrm>
            <a:off x="240029" y="3336416"/>
            <a:ext cx="2091602" cy="140701"/>
          </a:xfrm>
          <a:prstGeom prst="rect">
            <a:avLst/>
          </a:prstGeom>
          <a:solidFill>
            <a:srgbClr val="F5F6FA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34" name="Google Shape;1752;p36"/>
          <p:cNvSpPr txBox="1"/>
          <p:nvPr/>
        </p:nvSpPr>
        <p:spPr>
          <a:xfrm>
            <a:off x="240030" y="3362316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18. Value-Based Selling &amp; Negotiation Certification</a:t>
            </a:r>
          </a:p>
        </p:txBody>
      </p:sp>
      <p:sp>
        <p:nvSpPr>
          <p:cNvPr id="1735" name="Google Shape;1753;p36"/>
          <p:cNvSpPr/>
          <p:nvPr/>
        </p:nvSpPr>
        <p:spPr>
          <a:xfrm>
            <a:off x="4331901" y="3368049"/>
            <a:ext cx="2495401" cy="77401"/>
          </a:xfrm>
          <a:prstGeom prst="roundRect">
            <a:avLst>
              <a:gd name="adj" fmla="val 26607"/>
            </a:avLst>
          </a:prstGeom>
          <a:solidFill>
            <a:srgbClr val="EBC5D0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36" name="Google Shape;1754;p36"/>
          <p:cNvSpPr/>
          <p:nvPr/>
        </p:nvSpPr>
        <p:spPr>
          <a:xfrm>
            <a:off x="240029" y="3477005"/>
            <a:ext cx="2091602" cy="140701"/>
          </a:xfrm>
          <a:prstGeom prst="rect">
            <a:avLst/>
          </a:prstGeom>
          <a:solidFill>
            <a:srgbClr val="FFFFFF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37" name="Google Shape;1755;p36"/>
          <p:cNvSpPr txBox="1"/>
          <p:nvPr/>
        </p:nvSpPr>
        <p:spPr>
          <a:xfrm>
            <a:off x="240030" y="3502905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19. RevOps Operating Model, Funnel Governance &amp; Target Differentiation</a:t>
            </a:r>
          </a:p>
        </p:txBody>
      </p:sp>
      <p:sp>
        <p:nvSpPr>
          <p:cNvPr id="1738" name="Google Shape;1756;p36"/>
          <p:cNvSpPr/>
          <p:nvPr/>
        </p:nvSpPr>
        <p:spPr>
          <a:xfrm>
            <a:off x="4349005" y="3508650"/>
            <a:ext cx="3760501" cy="77401"/>
          </a:xfrm>
          <a:prstGeom prst="roundRect">
            <a:avLst>
              <a:gd name="adj" fmla="val 26607"/>
            </a:avLst>
          </a:prstGeom>
          <a:solidFill>
            <a:srgbClr val="C8C5C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39" name="Google Shape;1757;p36"/>
          <p:cNvSpPr/>
          <p:nvPr/>
        </p:nvSpPr>
        <p:spPr>
          <a:xfrm>
            <a:off x="240029" y="3617595"/>
            <a:ext cx="2091602" cy="140701"/>
          </a:xfrm>
          <a:prstGeom prst="rect">
            <a:avLst/>
          </a:prstGeom>
          <a:solidFill>
            <a:srgbClr val="F5F6FA"/>
          </a:solidFill>
          <a:ln w="7150">
            <a:solidFill>
              <a:srgbClr val="EAECF0"/>
            </a:solidFill>
          </a:ln>
        </p:spPr>
        <p:txBody>
          <a:bodyPr lIns="0" tIns="0" rIns="0" bIns="0" anchor="ctr"/>
          <a:lstStyle/>
          <a:p>
            <a:pPr>
              <a:defRPr sz="400"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1740" name="Google Shape;1758;p36"/>
          <p:cNvSpPr txBox="1"/>
          <p:nvPr/>
        </p:nvSpPr>
        <p:spPr>
          <a:xfrm>
            <a:off x="240030" y="3643495"/>
            <a:ext cx="2033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">
                <a:solidFill>
                  <a:srgbClr val="1932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20. Enterprise Brand, DG Strategy &amp; Website Repositioning</a:t>
            </a:r>
          </a:p>
        </p:txBody>
      </p:sp>
      <p:sp>
        <p:nvSpPr>
          <p:cNvPr id="1741" name="Google Shape;1759;p36"/>
          <p:cNvSpPr/>
          <p:nvPr/>
        </p:nvSpPr>
        <p:spPr>
          <a:xfrm>
            <a:off x="4331904" y="3649224"/>
            <a:ext cx="3777602" cy="77401"/>
          </a:xfrm>
          <a:prstGeom prst="roundRect">
            <a:avLst>
              <a:gd name="adj" fmla="val 26607"/>
            </a:avLst>
          </a:prstGeom>
          <a:solidFill>
            <a:srgbClr val="B9CDD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42" name="Google Shape;1760;p36"/>
          <p:cNvSpPr/>
          <p:nvPr/>
        </p:nvSpPr>
        <p:spPr>
          <a:xfrm>
            <a:off x="2434589" y="3813047"/>
            <a:ext cx="1856102" cy="185101"/>
          </a:xfrm>
          <a:prstGeom prst="rect">
            <a:avLst/>
          </a:prstGeom>
          <a:solidFill>
            <a:srgbClr val="1800FF"/>
          </a:solidFill>
          <a:ln>
            <a:solidFill>
              <a:srgbClr val="18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43" name="Google Shape;1761;p36"/>
          <p:cNvSpPr txBox="1"/>
          <p:nvPr/>
        </p:nvSpPr>
        <p:spPr>
          <a:xfrm>
            <a:off x="2434589" y="3842097"/>
            <a:ext cx="18561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00">
                <a:solidFill>
                  <a:srgbClr val="FFFFFF"/>
                </a:solidFill>
              </a:defRPr>
            </a:lvl1pPr>
          </a:lstStyle>
          <a:p>
            <a:pPr/>
            <a:r>
              <a:t>Cycle 1: Months 1–3 | Fix Foundations</a:t>
            </a:r>
          </a:p>
        </p:txBody>
      </p:sp>
      <p:sp>
        <p:nvSpPr>
          <p:cNvPr id="1744" name="Google Shape;1762;p36"/>
          <p:cNvSpPr/>
          <p:nvPr/>
        </p:nvSpPr>
        <p:spPr>
          <a:xfrm>
            <a:off x="4331970" y="3813047"/>
            <a:ext cx="1856101" cy="185101"/>
          </a:xfrm>
          <a:prstGeom prst="rect">
            <a:avLst/>
          </a:prstGeom>
          <a:solidFill>
            <a:srgbClr val="2E46FA"/>
          </a:solidFill>
          <a:ln>
            <a:solidFill>
              <a:srgbClr val="2E46FA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45" name="Google Shape;1763;p36"/>
          <p:cNvSpPr txBox="1"/>
          <p:nvPr/>
        </p:nvSpPr>
        <p:spPr>
          <a:xfrm>
            <a:off x="4331970" y="3842097"/>
            <a:ext cx="18561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00">
                <a:solidFill>
                  <a:srgbClr val="FFFFFF"/>
                </a:solidFill>
              </a:defRPr>
            </a:lvl1pPr>
          </a:lstStyle>
          <a:p>
            <a:pPr/>
            <a:r>
              <a:t>Cycle 2: Months 4–6 | Establish Post-IPO Standards</a:t>
            </a:r>
          </a:p>
        </p:txBody>
      </p:sp>
      <p:sp>
        <p:nvSpPr>
          <p:cNvPr id="1746" name="Google Shape;1764;p36"/>
          <p:cNvSpPr/>
          <p:nvPr/>
        </p:nvSpPr>
        <p:spPr>
          <a:xfrm>
            <a:off x="6229349" y="3813047"/>
            <a:ext cx="1856102" cy="185101"/>
          </a:xfrm>
          <a:prstGeom prst="rect">
            <a:avLst/>
          </a:prstGeom>
          <a:solidFill>
            <a:srgbClr val="6B7EC9"/>
          </a:solidFill>
          <a:ln>
            <a:solidFill>
              <a:srgbClr val="6B7EC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47" name="Google Shape;1765;p36"/>
          <p:cNvSpPr txBox="1"/>
          <p:nvPr/>
        </p:nvSpPr>
        <p:spPr>
          <a:xfrm>
            <a:off x="6229349" y="3842097"/>
            <a:ext cx="18561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00">
                <a:solidFill>
                  <a:srgbClr val="FFFFFF"/>
                </a:solidFill>
              </a:defRPr>
            </a:lvl1pPr>
          </a:lstStyle>
          <a:p>
            <a:pPr/>
            <a:r>
              <a:t>Cycle 3: Months 7–9 | Scale</a:t>
            </a:r>
          </a:p>
        </p:txBody>
      </p:sp>
      <p:sp>
        <p:nvSpPr>
          <p:cNvPr id="1748" name="Google Shape;1766;p36"/>
          <p:cNvSpPr txBox="1"/>
          <p:nvPr/>
        </p:nvSpPr>
        <p:spPr>
          <a:xfrm>
            <a:off x="2468900" y="4245084"/>
            <a:ext cx="2674601" cy="142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>
              <a:defRPr b="1" sz="600">
                <a:solidFill>
                  <a:srgbClr val="19323F"/>
                </a:solidFill>
              </a:defRPr>
            </a:lvl1pPr>
          </a:lstStyle>
          <a:p>
            <a:pPr/>
            <a:r>
              <a:t>Building Blocks</a:t>
            </a:r>
          </a:p>
        </p:txBody>
      </p:sp>
      <p:sp>
        <p:nvSpPr>
          <p:cNvPr id="1749" name="Google Shape;1767;p36"/>
          <p:cNvSpPr/>
          <p:nvPr/>
        </p:nvSpPr>
        <p:spPr>
          <a:xfrm>
            <a:off x="2434600" y="4398388"/>
            <a:ext cx="973800" cy="150901"/>
          </a:xfrm>
          <a:prstGeom prst="rect">
            <a:avLst/>
          </a:prstGeom>
          <a:solidFill>
            <a:srgbClr val="BDD3F3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750" name="Google Shape;1768;p36"/>
          <p:cNvSpPr txBox="1"/>
          <p:nvPr/>
        </p:nvSpPr>
        <p:spPr>
          <a:xfrm>
            <a:off x="2434600" y="4410338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Sales Hiring &amp; Ramp-Up</a:t>
            </a:r>
          </a:p>
        </p:txBody>
      </p:sp>
      <p:sp>
        <p:nvSpPr>
          <p:cNvPr id="1751" name="Google Shape;1769;p36"/>
          <p:cNvSpPr/>
          <p:nvPr/>
        </p:nvSpPr>
        <p:spPr>
          <a:xfrm>
            <a:off x="3449584" y="4398388"/>
            <a:ext cx="973800" cy="150901"/>
          </a:xfrm>
          <a:prstGeom prst="rect">
            <a:avLst/>
          </a:prstGeom>
          <a:solidFill>
            <a:srgbClr val="B4C5DF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752" name="Google Shape;1770;p36"/>
          <p:cNvSpPr txBox="1"/>
          <p:nvPr/>
        </p:nvSpPr>
        <p:spPr>
          <a:xfrm>
            <a:off x="3449584" y="4410338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Sales Enablement</a:t>
            </a:r>
          </a:p>
        </p:txBody>
      </p:sp>
      <p:sp>
        <p:nvSpPr>
          <p:cNvPr id="1753" name="Google Shape;1771;p36"/>
          <p:cNvSpPr/>
          <p:nvPr/>
        </p:nvSpPr>
        <p:spPr>
          <a:xfrm>
            <a:off x="4464568" y="4398388"/>
            <a:ext cx="973800" cy="150901"/>
          </a:xfrm>
          <a:prstGeom prst="rect">
            <a:avLst/>
          </a:prstGeom>
          <a:solidFill>
            <a:srgbClr val="DBE3F0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754" name="Google Shape;1772;p36"/>
          <p:cNvSpPr txBox="1"/>
          <p:nvPr/>
        </p:nvSpPr>
        <p:spPr>
          <a:xfrm>
            <a:off x="4464568" y="4410338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Sales Perf Mgmt</a:t>
            </a:r>
          </a:p>
        </p:txBody>
      </p:sp>
      <p:sp>
        <p:nvSpPr>
          <p:cNvPr id="1755" name="Google Shape;1773;p36"/>
          <p:cNvSpPr/>
          <p:nvPr/>
        </p:nvSpPr>
        <p:spPr>
          <a:xfrm>
            <a:off x="5479551" y="4398388"/>
            <a:ext cx="973800" cy="150901"/>
          </a:xfrm>
          <a:prstGeom prst="rect">
            <a:avLst/>
          </a:prstGeom>
          <a:solidFill>
            <a:srgbClr val="98B5FE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756" name="Google Shape;1774;p36"/>
          <p:cNvSpPr txBox="1"/>
          <p:nvPr/>
        </p:nvSpPr>
        <p:spPr>
          <a:xfrm>
            <a:off x="5479551" y="4410338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Talent Management</a:t>
            </a:r>
          </a:p>
        </p:txBody>
      </p:sp>
      <p:sp>
        <p:nvSpPr>
          <p:cNvPr id="1757" name="Google Shape;1775;p36"/>
          <p:cNvSpPr/>
          <p:nvPr/>
        </p:nvSpPr>
        <p:spPr>
          <a:xfrm>
            <a:off x="2434600" y="4590412"/>
            <a:ext cx="973800" cy="150901"/>
          </a:xfrm>
          <a:prstGeom prst="rect">
            <a:avLst/>
          </a:prstGeom>
          <a:solidFill>
            <a:srgbClr val="B9CDD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758" name="Google Shape;1776;p36"/>
          <p:cNvSpPr txBox="1"/>
          <p:nvPr/>
        </p:nvSpPr>
        <p:spPr>
          <a:xfrm>
            <a:off x="2434600" y="4602362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Demand Gen</a:t>
            </a:r>
          </a:p>
        </p:txBody>
      </p:sp>
      <p:sp>
        <p:nvSpPr>
          <p:cNvPr id="1759" name="Google Shape;1777;p36"/>
          <p:cNvSpPr/>
          <p:nvPr/>
        </p:nvSpPr>
        <p:spPr>
          <a:xfrm>
            <a:off x="3449584" y="4590412"/>
            <a:ext cx="973800" cy="150901"/>
          </a:xfrm>
          <a:prstGeom prst="rect">
            <a:avLst/>
          </a:prstGeom>
          <a:solidFill>
            <a:srgbClr val="EBC5D0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760" name="Google Shape;1778;p36"/>
          <p:cNvSpPr txBox="1"/>
          <p:nvPr/>
        </p:nvSpPr>
        <p:spPr>
          <a:xfrm>
            <a:off x="3449584" y="4602362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Sales Execution</a:t>
            </a:r>
          </a:p>
        </p:txBody>
      </p:sp>
      <p:sp>
        <p:nvSpPr>
          <p:cNvPr id="1761" name="Google Shape;1779;p36"/>
          <p:cNvSpPr/>
          <p:nvPr/>
        </p:nvSpPr>
        <p:spPr>
          <a:xfrm>
            <a:off x="4464568" y="4590412"/>
            <a:ext cx="973800" cy="150901"/>
          </a:xfrm>
          <a:prstGeom prst="rect">
            <a:avLst/>
          </a:prstGeom>
          <a:solidFill>
            <a:srgbClr val="C5C3DF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762" name="Google Shape;1780;p36"/>
          <p:cNvSpPr txBox="1"/>
          <p:nvPr/>
        </p:nvSpPr>
        <p:spPr>
          <a:xfrm>
            <a:off x="4464568" y="4602362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Client Relationship</a:t>
            </a:r>
          </a:p>
        </p:txBody>
      </p:sp>
      <p:sp>
        <p:nvSpPr>
          <p:cNvPr id="1763" name="Google Shape;1781;p36"/>
          <p:cNvSpPr/>
          <p:nvPr/>
        </p:nvSpPr>
        <p:spPr>
          <a:xfrm>
            <a:off x="5479551" y="4590412"/>
            <a:ext cx="973800" cy="150901"/>
          </a:xfrm>
          <a:prstGeom prst="rect">
            <a:avLst/>
          </a:prstGeom>
          <a:solidFill>
            <a:srgbClr val="C8C5C5"/>
          </a:solidFill>
          <a:ln w="715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>
              <a:defRPr sz="1300"/>
            </a:pPr>
          </a:p>
        </p:txBody>
      </p:sp>
      <p:sp>
        <p:nvSpPr>
          <p:cNvPr id="1764" name="Google Shape;1782;p36"/>
          <p:cNvSpPr txBox="1"/>
          <p:nvPr/>
        </p:nvSpPr>
        <p:spPr>
          <a:xfrm>
            <a:off x="5479551" y="4602362"/>
            <a:ext cx="973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"/>
            </a:lvl1pPr>
          </a:lstStyle>
          <a:p>
            <a:pPr/>
            <a:r>
              <a:t>Rev Ops</a:t>
            </a:r>
          </a:p>
        </p:txBody>
      </p:sp>
      <p:pic>
        <p:nvPicPr>
          <p:cNvPr id="1765" name="Logo_atscale_sans texture.pngGoogle Shape;1783;p36" descr="Logo_atscale_sans texture.pngGoogle Shape;1783;p3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599" y="73862"/>
            <a:ext cx="636101" cy="1402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7" name="Logo_atscale_sans texture.pngGoogle Shape;1788;p37" descr="Logo_atscale_sans texture.pngGoogle Shape;1788;p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3687" y="2667024"/>
            <a:ext cx="3324352" cy="733102"/>
          </a:xfrm>
          <a:prstGeom prst="rect">
            <a:avLst/>
          </a:prstGeom>
          <a:ln w="12700">
            <a:miter lim="400000"/>
          </a:ln>
        </p:spPr>
      </p:pic>
      <p:sp>
        <p:nvSpPr>
          <p:cNvPr id="1768" name="Google Shape;1789;p37"/>
          <p:cNvSpPr txBox="1"/>
          <p:nvPr/>
        </p:nvSpPr>
        <p:spPr>
          <a:xfrm>
            <a:off x="809425" y="3772928"/>
            <a:ext cx="1890050" cy="231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25" tIns="45725" rIns="45725" bIns="45725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pPr>
            <a:r>
              <a:t>visit us: </a:t>
            </a:r>
            <a:r>
              <a:rPr u="sng">
                <a:solidFill>
                  <a:schemeClr val="accent5"/>
                </a:solidFill>
                <a:uFill>
                  <a:solidFill>
                    <a:schemeClr val="accent5"/>
                  </a:solidFill>
                </a:uFill>
                <a:latin typeface="Space Grotesk SemiBold"/>
                <a:ea typeface="Space Grotesk SemiBold"/>
                <a:cs typeface="Space Grotesk SemiBold"/>
                <a:sym typeface="Space Grotesk SemiBold"/>
                <a:hlinkClick r:id="rId4" invalidUrl="" action="" tgtFrame="" tooltip="" history="1" highlightClick="0" endSnd="0"/>
              </a:rPr>
              <a:t>at-scale.co</a:t>
            </a:r>
          </a:p>
        </p:txBody>
      </p:sp>
      <p:pic>
        <p:nvPicPr>
          <p:cNvPr id="1769" name="Google Shape;1790;p37" descr="Google Shape;1790;p37">
            <a:hlinkClick r:id="rId5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50350" y="4231275"/>
            <a:ext cx="232176" cy="2321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95;p38"/>
          <p:cNvSpPr/>
          <p:nvPr/>
        </p:nvSpPr>
        <p:spPr>
          <a:xfrm>
            <a:off x="963588" y="2911698"/>
            <a:ext cx="7295100" cy="1"/>
          </a:xfrm>
          <a:prstGeom prst="line">
            <a:avLst/>
          </a:prstGeom>
          <a:ln>
            <a:solidFill>
              <a:srgbClr val="2A41E5"/>
            </a:solidFill>
            <a:prstDash val="dot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772" name="Logo_atscale_sans texture.pngGoogle Shape;1796;p38" descr="Logo_atscale_sans texture.pngGoogle Shape;1796;p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1773" name="Google Shape;1797;p38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74" name="Google Shape;1798;p38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Recommendations &amp; Roadmap</a:t>
            </a:r>
          </a:p>
        </p:txBody>
      </p:sp>
      <p:sp>
        <p:nvSpPr>
          <p:cNvPr id="1775" name="Google Shape;1799;p38"/>
          <p:cNvSpPr txBox="1"/>
          <p:nvPr>
            <p:ph type="ctrTitle"/>
          </p:nvPr>
        </p:nvSpPr>
        <p:spPr>
          <a:xfrm>
            <a:off x="483602" y="638424"/>
            <a:ext cx="8257200" cy="56520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5 needed steps to successfully manage a program from end to end.</a:t>
            </a:r>
          </a:p>
        </p:txBody>
      </p:sp>
      <p:sp>
        <p:nvSpPr>
          <p:cNvPr id="1776" name="Google Shape;1800;p38"/>
          <p:cNvSpPr/>
          <p:nvPr/>
        </p:nvSpPr>
        <p:spPr>
          <a:xfrm flipH="1" flipV="1">
            <a:off x="2666949" y="1135144"/>
            <a:ext cx="1392601" cy="1"/>
          </a:xfrm>
          <a:prstGeom prst="line">
            <a:avLst/>
          </a:prstGeom>
          <a:ln>
            <a:solidFill>
              <a:srgbClr val="2A41E5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777" name="Polygon 3.pngGoogle Shape;1801;p38" descr="Polygon 3.pngGoogle Shape;1801;p3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74859" y="2700745"/>
            <a:ext cx="386076" cy="438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8" name="Polygon 3.pngGoogle Shape;1802;p38" descr="Polygon 3.pngGoogle Shape;1802;p3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576908" y="2700745"/>
            <a:ext cx="386076" cy="438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9" name="Polygon 3.pngGoogle Shape;1803;p38" descr="Polygon 3.pngGoogle Shape;1803;p3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78959" y="2700745"/>
            <a:ext cx="386076" cy="438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0" name="Polygon 3.pngGoogle Shape;1804;p38" descr="Polygon 3.pngGoogle Shape;1804;p3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81009" y="2700745"/>
            <a:ext cx="386076" cy="438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1" name="Polygon 3.pngGoogle Shape;1805;p38" descr="Polygon 3.pngGoogle Shape;1805;p3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983059" y="2700745"/>
            <a:ext cx="386076" cy="438856"/>
          </a:xfrm>
          <a:prstGeom prst="rect">
            <a:avLst/>
          </a:prstGeom>
          <a:ln w="12700">
            <a:miter lim="400000"/>
          </a:ln>
        </p:spPr>
      </p:pic>
      <p:sp>
        <p:nvSpPr>
          <p:cNvPr id="1782" name="Google Shape;1806;p38"/>
          <p:cNvSpPr txBox="1"/>
          <p:nvPr/>
        </p:nvSpPr>
        <p:spPr>
          <a:xfrm>
            <a:off x="888744" y="2734257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83" name="Google Shape;1807;p38"/>
          <p:cNvSpPr txBox="1"/>
          <p:nvPr/>
        </p:nvSpPr>
        <p:spPr>
          <a:xfrm>
            <a:off x="2666277" y="2734257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84" name="Google Shape;1808;p38"/>
          <p:cNvSpPr txBox="1"/>
          <p:nvPr/>
        </p:nvSpPr>
        <p:spPr>
          <a:xfrm>
            <a:off x="4466907" y="2734257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85" name="Google Shape;1809;p38"/>
          <p:cNvSpPr txBox="1"/>
          <p:nvPr/>
        </p:nvSpPr>
        <p:spPr>
          <a:xfrm>
            <a:off x="6259903" y="2734257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86" name="Google Shape;1810;p38"/>
          <p:cNvSpPr txBox="1"/>
          <p:nvPr/>
        </p:nvSpPr>
        <p:spPr>
          <a:xfrm>
            <a:off x="8072021" y="2734257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87" name="Google Shape;1811;p38"/>
          <p:cNvSpPr txBox="1"/>
          <p:nvPr/>
        </p:nvSpPr>
        <p:spPr>
          <a:xfrm>
            <a:off x="374657" y="3629261"/>
            <a:ext cx="1620302" cy="751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We assess what the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current internal practice</a:t>
            </a:r>
            <a:r>
              <a:t> is. </a:t>
            </a:r>
          </a:p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We look at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interdependencies</a:t>
            </a:r>
            <a:r>
              <a:t> with additional projects.</a:t>
            </a:r>
          </a:p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We list the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pros &amp; cons.</a:t>
            </a:r>
          </a:p>
        </p:txBody>
      </p:sp>
      <p:sp>
        <p:nvSpPr>
          <p:cNvPr id="1788" name="Google Shape;1812;p38"/>
          <p:cNvSpPr txBox="1"/>
          <p:nvPr/>
        </p:nvSpPr>
        <p:spPr>
          <a:xfrm>
            <a:off x="374650" y="3164250"/>
            <a:ext cx="1620302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2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More in depth audit observation</a:t>
            </a:r>
          </a:p>
        </p:txBody>
      </p:sp>
      <p:sp>
        <p:nvSpPr>
          <p:cNvPr id="1789" name="Google Shape;1813;p38"/>
          <p:cNvSpPr txBox="1"/>
          <p:nvPr/>
        </p:nvSpPr>
        <p:spPr>
          <a:xfrm>
            <a:off x="2176708" y="1551006"/>
            <a:ext cx="1620301" cy="1102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Based on the audit, we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submit a proposal</a:t>
            </a:r>
            <a:r>
              <a:t>, our common starting point</a:t>
            </a:r>
          </a:p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We come with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best practices</a:t>
            </a:r>
            <a:r>
              <a:t> that are already running in other businesses.</a:t>
            </a:r>
          </a:p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We share the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resources needed to execute</a:t>
            </a:r>
            <a:r>
              <a:t>.</a:t>
            </a:r>
          </a:p>
        </p:txBody>
      </p:sp>
      <p:sp>
        <p:nvSpPr>
          <p:cNvPr id="1790" name="Google Shape;1814;p38"/>
          <p:cNvSpPr txBox="1"/>
          <p:nvPr/>
        </p:nvSpPr>
        <p:spPr>
          <a:xfrm>
            <a:off x="2176700" y="1296300"/>
            <a:ext cx="1620301" cy="363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832104">
              <a:defRPr sz="1092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Atscale Production</a:t>
            </a:r>
          </a:p>
        </p:txBody>
      </p:sp>
      <p:sp>
        <p:nvSpPr>
          <p:cNvPr id="1791" name="Google Shape;1815;p38"/>
          <p:cNvSpPr txBox="1"/>
          <p:nvPr/>
        </p:nvSpPr>
        <p:spPr>
          <a:xfrm>
            <a:off x="3761840" y="3629261"/>
            <a:ext cx="1620301" cy="86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algn="ctr"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We integrate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[CLIENT] specificities.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The proposal could be improved through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iterations</a:t>
            </a:r>
            <a:r>
              <a:t>.</a:t>
            </a:r>
          </a:p>
          <a:p>
            <a:pPr algn="ctr"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We finally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validate</a:t>
            </a:r>
            <a:r>
              <a:t> the program structure.</a:t>
            </a:r>
          </a:p>
        </p:txBody>
      </p:sp>
      <p:sp>
        <p:nvSpPr>
          <p:cNvPr id="1792" name="Google Shape;1816;p38"/>
          <p:cNvSpPr txBox="1"/>
          <p:nvPr/>
        </p:nvSpPr>
        <p:spPr>
          <a:xfrm>
            <a:off x="3811189" y="3164242"/>
            <a:ext cx="1521601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algn="ctr">
              <a:defRPr sz="12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CLIENT Validation</a:t>
            </a:r>
          </a:p>
        </p:txBody>
      </p:sp>
      <p:sp>
        <p:nvSpPr>
          <p:cNvPr id="1793" name="Google Shape;1817;p38"/>
          <p:cNvSpPr txBox="1"/>
          <p:nvPr/>
        </p:nvSpPr>
        <p:spPr>
          <a:xfrm>
            <a:off x="5175367" y="1864961"/>
            <a:ext cx="1620301" cy="751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algn="r"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Program is rolled out.</a:t>
            </a:r>
          </a:p>
          <a:p>
            <a:pPr algn="r"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We make sure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teams are informed and receive all support</a:t>
            </a:r>
            <a:r>
              <a:t> needed to integrate it into their day to day work.</a:t>
            </a:r>
          </a:p>
        </p:txBody>
      </p:sp>
      <p:sp>
        <p:nvSpPr>
          <p:cNvPr id="1794" name="Google Shape;1818;p38"/>
          <p:cNvSpPr txBox="1"/>
          <p:nvPr/>
        </p:nvSpPr>
        <p:spPr>
          <a:xfrm>
            <a:off x="6977422" y="3629261"/>
            <a:ext cx="1620301" cy="634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algn="r"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Weekly meetings</a:t>
            </a:r>
            <a:r>
              <a:t> with different stakeholders.</a:t>
            </a:r>
          </a:p>
          <a:p>
            <a:pPr algn="r"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&gt; </a:t>
            </a:r>
            <a:r>
              <a:rPr b="1">
                <a:latin typeface="Poppins"/>
                <a:ea typeface="Poppins"/>
                <a:cs typeface="Poppins"/>
                <a:sym typeface="Poppins"/>
              </a:rPr>
              <a:t>Monitoring Performance</a:t>
            </a:r>
            <a:r>
              <a:t> &amp; KPI for each program.</a:t>
            </a:r>
          </a:p>
        </p:txBody>
      </p:sp>
      <p:sp>
        <p:nvSpPr>
          <p:cNvPr id="1795" name="Google Shape;1819;p38"/>
          <p:cNvSpPr txBox="1"/>
          <p:nvPr/>
        </p:nvSpPr>
        <p:spPr>
          <a:xfrm>
            <a:off x="5274066" y="1399944"/>
            <a:ext cx="1521601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algn="r">
              <a:defRPr sz="12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1796" name="Google Shape;1820;p38"/>
          <p:cNvSpPr txBox="1"/>
          <p:nvPr/>
        </p:nvSpPr>
        <p:spPr>
          <a:xfrm>
            <a:off x="7076123" y="3164242"/>
            <a:ext cx="1521601" cy="5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algn="r">
              <a:defRPr sz="12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Regular Check in &amp; KPI Impact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825;p39"/>
          <p:cNvSpPr/>
          <p:nvPr/>
        </p:nvSpPr>
        <p:spPr>
          <a:xfrm>
            <a:off x="791975" y="1602173"/>
            <a:ext cx="7295100" cy="1"/>
          </a:xfrm>
          <a:prstGeom prst="line">
            <a:avLst/>
          </a:prstGeom>
          <a:ln>
            <a:solidFill>
              <a:srgbClr val="2A41E5"/>
            </a:solidFill>
            <a:prstDash val="dot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799" name="Logo_atscale_sans texture.pngGoogle Shape;1826;p39" descr="Logo_atscale_sans texture.pngGoogle Shape;1826;p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3224" y="304024"/>
            <a:ext cx="636101" cy="140277"/>
          </a:xfrm>
          <a:prstGeom prst="rect">
            <a:avLst/>
          </a:prstGeom>
          <a:ln w="12700">
            <a:miter lim="400000"/>
          </a:ln>
        </p:spPr>
      </p:pic>
      <p:sp>
        <p:nvSpPr>
          <p:cNvPr id="1800" name="Google Shape;1827;p39"/>
          <p:cNvSpPr/>
          <p:nvPr/>
        </p:nvSpPr>
        <p:spPr>
          <a:xfrm>
            <a:off x="1105449" y="319825"/>
            <a:ext cx="1" cy="125100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01" name="Google Shape;1828;p39"/>
          <p:cNvSpPr txBox="1"/>
          <p:nvPr/>
        </p:nvSpPr>
        <p:spPr>
          <a:xfrm>
            <a:off x="1129799" y="219800"/>
            <a:ext cx="68265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Recommendations &amp; Roadmap</a:t>
            </a:r>
          </a:p>
        </p:txBody>
      </p:sp>
      <p:sp>
        <p:nvSpPr>
          <p:cNvPr id="1802" name="Google Shape;1829;p39"/>
          <p:cNvSpPr txBox="1"/>
          <p:nvPr>
            <p:ph type="ctrTitle"/>
          </p:nvPr>
        </p:nvSpPr>
        <p:spPr>
          <a:xfrm>
            <a:off x="483602" y="638424"/>
            <a:ext cx="8090700" cy="56520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How do we ensure stickiness and transfer of practices to [CLIENT]?</a:t>
            </a:r>
          </a:p>
        </p:txBody>
      </p:sp>
      <p:sp>
        <p:nvSpPr>
          <p:cNvPr id="1803" name="Google Shape;1830;p39"/>
          <p:cNvSpPr/>
          <p:nvPr/>
        </p:nvSpPr>
        <p:spPr>
          <a:xfrm flipH="1" flipV="1">
            <a:off x="2684075" y="1135144"/>
            <a:ext cx="2478301" cy="1"/>
          </a:xfrm>
          <a:prstGeom prst="line">
            <a:avLst/>
          </a:prstGeom>
          <a:ln>
            <a:solidFill>
              <a:srgbClr val="2A41E5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804" name="Polygon 3.pngGoogle Shape;1831;p39" descr="Polygon 3.pngGoogle Shape;1831;p3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3245" y="1391220"/>
            <a:ext cx="386076" cy="438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5" name="Polygon 3.pngGoogle Shape;1832;p39" descr="Polygon 3.pngGoogle Shape;1832;p3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05296" y="1391220"/>
            <a:ext cx="386076" cy="438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6" name="Polygon 3.pngGoogle Shape;1833;p39" descr="Polygon 3.pngGoogle Shape;1833;p3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07345" y="1391220"/>
            <a:ext cx="386076" cy="438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7" name="Polygon 3.pngGoogle Shape;1834;p39" descr="Polygon 3.pngGoogle Shape;1834;p3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09395" y="1391220"/>
            <a:ext cx="386076" cy="438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8" name="Polygon 3.pngGoogle Shape;1835;p39" descr="Polygon 3.pngGoogle Shape;1835;p3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11445" y="1391220"/>
            <a:ext cx="386076" cy="438856"/>
          </a:xfrm>
          <a:prstGeom prst="rect">
            <a:avLst/>
          </a:prstGeom>
          <a:ln w="12700">
            <a:miter lim="400000"/>
          </a:ln>
        </p:spPr>
      </p:pic>
      <p:sp>
        <p:nvSpPr>
          <p:cNvPr id="1809" name="Google Shape;1836;p39"/>
          <p:cNvSpPr txBox="1"/>
          <p:nvPr/>
        </p:nvSpPr>
        <p:spPr>
          <a:xfrm>
            <a:off x="717132" y="1424732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10" name="Google Shape;1837;p39"/>
          <p:cNvSpPr txBox="1"/>
          <p:nvPr/>
        </p:nvSpPr>
        <p:spPr>
          <a:xfrm>
            <a:off x="2494664" y="1424732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11" name="Google Shape;1838;p39"/>
          <p:cNvSpPr txBox="1"/>
          <p:nvPr/>
        </p:nvSpPr>
        <p:spPr>
          <a:xfrm>
            <a:off x="4295294" y="1424732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12" name="Google Shape;1839;p39"/>
          <p:cNvSpPr txBox="1"/>
          <p:nvPr/>
        </p:nvSpPr>
        <p:spPr>
          <a:xfrm>
            <a:off x="6088291" y="1424732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13" name="Google Shape;1840;p39"/>
          <p:cNvSpPr txBox="1"/>
          <p:nvPr/>
        </p:nvSpPr>
        <p:spPr>
          <a:xfrm>
            <a:off x="7900407" y="1424732"/>
            <a:ext cx="277801" cy="3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1750" tIns="51750" rIns="51750" bIns="51750" anchor="b">
            <a:normAutofit fontScale="100000" lnSpcReduction="0"/>
          </a:bodyPr>
          <a:lstStyle>
            <a:lvl1pPr>
              <a:def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814" name="Google Shape;1841;p39"/>
          <p:cNvSpPr txBox="1"/>
          <p:nvPr/>
        </p:nvSpPr>
        <p:spPr>
          <a:xfrm>
            <a:off x="384149" y="1799123"/>
            <a:ext cx="1521602" cy="92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0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Embed initiative into your company key processes</a:t>
            </a:r>
          </a:p>
        </p:txBody>
      </p:sp>
      <p:pic>
        <p:nvPicPr>
          <p:cNvPr id="1815" name="Group 14734.pngGoogle Shape;1842;p39" descr="Group 14734.pngGoogle Shape;1842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62054" y="2974139"/>
            <a:ext cx="125101" cy="125100"/>
          </a:xfrm>
          <a:prstGeom prst="rect">
            <a:avLst/>
          </a:prstGeom>
          <a:ln w="12700">
            <a:miter lim="400000"/>
          </a:ln>
        </p:spPr>
      </p:pic>
      <p:sp>
        <p:nvSpPr>
          <p:cNvPr id="1816" name="Google Shape;1843;p39"/>
          <p:cNvSpPr txBox="1"/>
          <p:nvPr/>
        </p:nvSpPr>
        <p:spPr>
          <a:xfrm>
            <a:off x="555236" y="2881589"/>
            <a:ext cx="1449301" cy="594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OKR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Company priorities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Performance Reviews</a:t>
            </a:r>
          </a:p>
        </p:txBody>
      </p:sp>
      <p:pic>
        <p:nvPicPr>
          <p:cNvPr id="1817" name="Group 14734.pngGoogle Shape;1844;p39" descr="Group 14734.pngGoogle Shape;1844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62054" y="3536472"/>
            <a:ext cx="125101" cy="125101"/>
          </a:xfrm>
          <a:prstGeom prst="rect">
            <a:avLst/>
          </a:prstGeom>
          <a:ln w="12700">
            <a:miter lim="400000"/>
          </a:ln>
        </p:spPr>
      </p:pic>
      <p:sp>
        <p:nvSpPr>
          <p:cNvPr id="1818" name="Google Shape;1845;p39"/>
          <p:cNvSpPr txBox="1"/>
          <p:nvPr/>
        </p:nvSpPr>
        <p:spPr>
          <a:xfrm>
            <a:off x="555236" y="3443923"/>
            <a:ext cx="1449301" cy="594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Compensation Plans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Hiring profile specificities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Internal Promotion cycles</a:t>
            </a:r>
          </a:p>
        </p:txBody>
      </p:sp>
      <p:sp>
        <p:nvSpPr>
          <p:cNvPr id="1819" name="Google Shape;1846;p39"/>
          <p:cNvSpPr txBox="1"/>
          <p:nvPr/>
        </p:nvSpPr>
        <p:spPr>
          <a:xfrm>
            <a:off x="2035674" y="1799123"/>
            <a:ext cx="1521601" cy="92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0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Identify key owners to hold the org. accountable for each initiative</a:t>
            </a:r>
          </a:p>
        </p:txBody>
      </p:sp>
      <p:pic>
        <p:nvPicPr>
          <p:cNvPr id="1820" name="Group 14734.pngGoogle Shape;1847;p39" descr="Group 14734.pngGoogle Shape;1847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113578" y="2974139"/>
            <a:ext cx="125101" cy="125100"/>
          </a:xfrm>
          <a:prstGeom prst="rect">
            <a:avLst/>
          </a:prstGeom>
          <a:ln w="12700">
            <a:miter lim="400000"/>
          </a:ln>
        </p:spPr>
      </p:pic>
      <p:sp>
        <p:nvSpPr>
          <p:cNvPr id="1821" name="Google Shape;1848;p39"/>
          <p:cNvSpPr txBox="1"/>
          <p:nvPr/>
        </p:nvSpPr>
        <p:spPr>
          <a:xfrm>
            <a:off x="2206762" y="2881589"/>
            <a:ext cx="1449301" cy="634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</a:lstStyle>
          <a:p>
            <a:pPr/>
            <a:r>
              <a:t>Identity a “Sponsor” (Sales Leader) who will be the public figure of the initiative: CRO, VP Sales</a:t>
            </a:r>
          </a:p>
        </p:txBody>
      </p:sp>
      <p:pic>
        <p:nvPicPr>
          <p:cNvPr id="1822" name="Group 14734.pngGoogle Shape;1849;p39" descr="Group 14734.pngGoogle Shape;1849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113578" y="3536472"/>
            <a:ext cx="125101" cy="125101"/>
          </a:xfrm>
          <a:prstGeom prst="rect">
            <a:avLst/>
          </a:prstGeom>
          <a:ln w="12700">
            <a:miter lim="400000"/>
          </a:ln>
        </p:spPr>
      </p:pic>
      <p:sp>
        <p:nvSpPr>
          <p:cNvPr id="1823" name="Google Shape;1850;p39"/>
          <p:cNvSpPr txBox="1"/>
          <p:nvPr/>
        </p:nvSpPr>
        <p:spPr>
          <a:xfrm>
            <a:off x="2206762" y="3443923"/>
            <a:ext cx="1449301" cy="634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</a:lstStyle>
          <a:p>
            <a:pPr/>
            <a:r>
              <a:t>The Sponsor will chose a Project Leader to run the initiative on a regular basis: Head of Sales</a:t>
            </a:r>
          </a:p>
        </p:txBody>
      </p:sp>
      <p:pic>
        <p:nvPicPr>
          <p:cNvPr id="1824" name="Group 14734.pngGoogle Shape;1851;p39" descr="Group 14734.pngGoogle Shape;1851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113578" y="4116039"/>
            <a:ext cx="125101" cy="125101"/>
          </a:xfrm>
          <a:prstGeom prst="rect">
            <a:avLst/>
          </a:prstGeom>
          <a:ln w="12700">
            <a:miter lim="400000"/>
          </a:ln>
        </p:spPr>
      </p:pic>
      <p:sp>
        <p:nvSpPr>
          <p:cNvPr id="1825" name="Google Shape;1852;p39"/>
          <p:cNvSpPr txBox="1"/>
          <p:nvPr/>
        </p:nvSpPr>
        <p:spPr>
          <a:xfrm>
            <a:off x="2206762" y="4023488"/>
            <a:ext cx="1449301" cy="634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</a:lstStyle>
          <a:p>
            <a:pPr/>
            <a:r>
              <a:t>The Project Leader will then build a team of “Ambassadors” that will cascade the initiative at the IC level: Top Performers ICs </a:t>
            </a:r>
          </a:p>
        </p:txBody>
      </p:sp>
      <p:sp>
        <p:nvSpPr>
          <p:cNvPr id="1826" name="Google Shape;1853;p39"/>
          <p:cNvSpPr txBox="1"/>
          <p:nvPr/>
        </p:nvSpPr>
        <p:spPr>
          <a:xfrm>
            <a:off x="3786025" y="1799070"/>
            <a:ext cx="1521601" cy="92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0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Set up rituals and routines to successfully run the initiative </a:t>
            </a:r>
          </a:p>
        </p:txBody>
      </p:sp>
      <p:pic>
        <p:nvPicPr>
          <p:cNvPr id="1827" name="Group 14734.pngGoogle Shape;1854;p39" descr="Group 14734.pngGoogle Shape;1854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863943" y="2974139"/>
            <a:ext cx="125101" cy="125100"/>
          </a:xfrm>
          <a:prstGeom prst="rect">
            <a:avLst/>
          </a:prstGeom>
          <a:ln w="12700">
            <a:miter lim="400000"/>
          </a:ln>
        </p:spPr>
      </p:pic>
      <p:sp>
        <p:nvSpPr>
          <p:cNvPr id="1828" name="Google Shape;1855;p39"/>
          <p:cNvSpPr txBox="1"/>
          <p:nvPr/>
        </p:nvSpPr>
        <p:spPr>
          <a:xfrm>
            <a:off x="3957127" y="2881589"/>
            <a:ext cx="1449301" cy="518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</a:lstStyle>
          <a:p>
            <a:pPr/>
            <a:r>
              <a:t>Weekly: Champion shares updates during team meeting with his peers.</a:t>
            </a:r>
          </a:p>
        </p:txBody>
      </p:sp>
      <p:pic>
        <p:nvPicPr>
          <p:cNvPr id="1829" name="Group 14734.pngGoogle Shape;1856;p39" descr="Group 14734.pngGoogle Shape;1856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863943" y="3460272"/>
            <a:ext cx="125101" cy="125101"/>
          </a:xfrm>
          <a:prstGeom prst="rect">
            <a:avLst/>
          </a:prstGeom>
          <a:ln w="12700">
            <a:miter lim="400000"/>
          </a:ln>
        </p:spPr>
      </p:pic>
      <p:sp>
        <p:nvSpPr>
          <p:cNvPr id="1830" name="Google Shape;1857;p39"/>
          <p:cNvSpPr txBox="1"/>
          <p:nvPr/>
        </p:nvSpPr>
        <p:spPr>
          <a:xfrm>
            <a:off x="3957127" y="3367723"/>
            <a:ext cx="1449301" cy="401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</a:lstStyle>
          <a:p>
            <a:pPr/>
            <a:r>
              <a:t>Weekly: meeting between Project Leader &amp; Champions</a:t>
            </a:r>
          </a:p>
        </p:txBody>
      </p:sp>
      <p:pic>
        <p:nvPicPr>
          <p:cNvPr id="1831" name="Group 14734.pngGoogle Shape;1858;p39" descr="Group 14734.pngGoogle Shape;1858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863943" y="3866844"/>
            <a:ext cx="125101" cy="125101"/>
          </a:xfrm>
          <a:prstGeom prst="rect">
            <a:avLst/>
          </a:prstGeom>
          <a:ln w="12700">
            <a:miter lim="400000"/>
          </a:ln>
        </p:spPr>
      </p:pic>
      <p:sp>
        <p:nvSpPr>
          <p:cNvPr id="1832" name="Google Shape;1859;p39"/>
          <p:cNvSpPr txBox="1"/>
          <p:nvPr/>
        </p:nvSpPr>
        <p:spPr>
          <a:xfrm>
            <a:off x="3957127" y="3774294"/>
            <a:ext cx="1449301" cy="518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</a:lstStyle>
          <a:p>
            <a:pPr/>
            <a:r>
              <a:t>Quarterly: Sponsor shares progress, success &amp; major updates</a:t>
            </a:r>
          </a:p>
        </p:txBody>
      </p:sp>
      <p:sp>
        <p:nvSpPr>
          <p:cNvPr id="1833" name="Google Shape;1860;p39"/>
          <p:cNvSpPr txBox="1"/>
          <p:nvPr/>
        </p:nvSpPr>
        <p:spPr>
          <a:xfrm>
            <a:off x="5502543" y="1799070"/>
            <a:ext cx="1521602" cy="92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0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Measure execution with an effective tracking &amp; monitoring. All KPIs have to serve MRR. </a:t>
            </a:r>
          </a:p>
        </p:txBody>
      </p:sp>
      <p:pic>
        <p:nvPicPr>
          <p:cNvPr id="1834" name="Group 14734.pngGoogle Shape;1861;p39" descr="Group 14734.pngGoogle Shape;1861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580462" y="2974139"/>
            <a:ext cx="125101" cy="125100"/>
          </a:xfrm>
          <a:prstGeom prst="rect">
            <a:avLst/>
          </a:prstGeom>
          <a:ln w="12700">
            <a:miter lim="400000"/>
          </a:ln>
        </p:spPr>
      </p:pic>
      <p:sp>
        <p:nvSpPr>
          <p:cNvPr id="1835" name="Google Shape;1862;p39"/>
          <p:cNvSpPr txBox="1"/>
          <p:nvPr/>
        </p:nvSpPr>
        <p:spPr>
          <a:xfrm>
            <a:off x="5673645" y="2881589"/>
            <a:ext cx="1449301" cy="71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Set up the right KPIs to monitor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Build reports &amp; dashboards to manage performance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Set up goals for each KPIs</a:t>
            </a:r>
          </a:p>
        </p:txBody>
      </p:sp>
      <p:pic>
        <p:nvPicPr>
          <p:cNvPr id="1836" name="Group 14734.pngGoogle Shape;1863;p39" descr="Group 14734.pngGoogle Shape;1863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580462" y="3887439"/>
            <a:ext cx="125101" cy="125101"/>
          </a:xfrm>
          <a:prstGeom prst="rect">
            <a:avLst/>
          </a:prstGeom>
          <a:ln w="12700">
            <a:miter lim="400000"/>
          </a:ln>
        </p:spPr>
      </p:pic>
      <p:sp>
        <p:nvSpPr>
          <p:cNvPr id="1837" name="Google Shape;1864;p39"/>
          <p:cNvSpPr txBox="1"/>
          <p:nvPr/>
        </p:nvSpPr>
        <p:spPr>
          <a:xfrm>
            <a:off x="5673645" y="3794888"/>
            <a:ext cx="1449301" cy="789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Share performance on a weekly basis during company rituals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Weekly meeting with RevOps to assess performance using the RAG method</a:t>
            </a:r>
          </a:p>
        </p:txBody>
      </p:sp>
      <p:sp>
        <p:nvSpPr>
          <p:cNvPr id="1838" name="Google Shape;1865;p39"/>
          <p:cNvSpPr txBox="1"/>
          <p:nvPr/>
        </p:nvSpPr>
        <p:spPr>
          <a:xfrm>
            <a:off x="7219074" y="1799070"/>
            <a:ext cx="1521601" cy="92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000">
                <a:solidFill>
                  <a:srgbClr val="19323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How to keep the team engaged on the long run &amp; how to celebrate success?</a:t>
            </a:r>
          </a:p>
        </p:txBody>
      </p:sp>
      <p:pic>
        <p:nvPicPr>
          <p:cNvPr id="1839" name="Group 14734.pngGoogle Shape;1866;p39" descr="Group 14734.pngGoogle Shape;1866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296994" y="2974139"/>
            <a:ext cx="125101" cy="125100"/>
          </a:xfrm>
          <a:prstGeom prst="rect">
            <a:avLst/>
          </a:prstGeom>
          <a:ln w="12700">
            <a:miter lim="400000"/>
          </a:ln>
        </p:spPr>
      </p:pic>
      <p:sp>
        <p:nvSpPr>
          <p:cNvPr id="1840" name="Google Shape;1867;p39"/>
          <p:cNvSpPr txBox="1"/>
          <p:nvPr/>
        </p:nvSpPr>
        <p:spPr>
          <a:xfrm>
            <a:off x="7390176" y="2881589"/>
            <a:ext cx="1449301" cy="94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Create a monthly/quarterly award for the top performer of this initiative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Set up Spiffs &amp; Blitz days.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Gather testimonials from early adopters</a:t>
            </a:r>
          </a:p>
        </p:txBody>
      </p:sp>
      <p:pic>
        <p:nvPicPr>
          <p:cNvPr id="1841" name="Group 14734.pngGoogle Shape;1868;p39" descr="Group 14734.pngGoogle Shape;1868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296994" y="3963639"/>
            <a:ext cx="125101" cy="125101"/>
          </a:xfrm>
          <a:prstGeom prst="rect">
            <a:avLst/>
          </a:prstGeom>
          <a:ln w="12700">
            <a:miter lim="400000"/>
          </a:ln>
        </p:spPr>
      </p:pic>
      <p:sp>
        <p:nvSpPr>
          <p:cNvPr id="1842" name="Google Shape;1869;p39"/>
          <p:cNvSpPr txBox="1"/>
          <p:nvPr/>
        </p:nvSpPr>
        <p:spPr>
          <a:xfrm>
            <a:off x="7390176" y="3871088"/>
            <a:ext cx="1449301" cy="906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Incentivize &amp; recognize Champions &amp; Project Leader for the effort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t>Offer visibility &amp; acknowledgement to any outstanding achievement</a:t>
            </a:r>
          </a:p>
        </p:txBody>
      </p:sp>
      <p:pic>
        <p:nvPicPr>
          <p:cNvPr id="1843" name="Group 14734.pngGoogle Shape;1870;p39" descr="Group 14734.pngGoogle Shape;1870;p3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863943" y="4324044"/>
            <a:ext cx="125101" cy="125101"/>
          </a:xfrm>
          <a:prstGeom prst="rect">
            <a:avLst/>
          </a:prstGeom>
          <a:ln w="12700">
            <a:miter lim="400000"/>
          </a:ln>
        </p:spPr>
      </p:pic>
      <p:sp>
        <p:nvSpPr>
          <p:cNvPr id="1844" name="Google Shape;1871;p39"/>
          <p:cNvSpPr txBox="1"/>
          <p:nvPr/>
        </p:nvSpPr>
        <p:spPr>
          <a:xfrm>
            <a:off x="3957127" y="4231494"/>
            <a:ext cx="1449301" cy="401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700">
                <a:solidFill>
                  <a:srgbClr val="1932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</a:lstStyle>
          <a:p>
            <a:pPr/>
            <a:r>
              <a:t>Bi-weekly meeting between Sponsor &amp; Project Leader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