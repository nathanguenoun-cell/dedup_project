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y="5143500" cx="9144000"/>
  <p:notesSz cx="6858000" cy="9144000"/>
  <p:embeddedFontLst>
    <p:embeddedFont>
      <p:font typeface="Inter SemiBold"/>
      <p:regular r:id="rId32"/>
      <p:bold r:id="rId33"/>
      <p:italic r:id="rId34"/>
      <p:boldItalic r:id="rId35"/>
    </p:embeddedFont>
    <p:embeddedFont>
      <p:font typeface="Poppins"/>
      <p:regular r:id="rId36"/>
      <p:bold r:id="rId37"/>
      <p:italic r:id="rId38"/>
      <p:boldItalic r:id="rId39"/>
    </p:embeddedFont>
    <p:embeddedFont>
      <p:font typeface="Poppins Light"/>
      <p:regular r:id="rId40"/>
      <p:bold r:id="rId41"/>
      <p:italic r:id="rId42"/>
      <p:boldItalic r:id="rId43"/>
    </p:embeddedFont>
    <p:embeddedFont>
      <p:font typeface="Poppins Medium"/>
      <p:regular r:id="rId44"/>
      <p:bold r:id="rId45"/>
      <p:italic r:id="rId46"/>
      <p:boldItalic r:id="rId47"/>
    </p:embeddedFont>
    <p:embeddedFont>
      <p:font typeface="Space Grotesk Light"/>
      <p:regular r:id="rId48"/>
      <p:bold r:id="rId49"/>
    </p:embeddedFont>
    <p:embeddedFont>
      <p:font typeface="Space Grotesk Medium"/>
      <p:regular r:id="rId50"/>
      <p:bold r:id="rId51"/>
    </p:embeddedFont>
    <p:embeddedFont>
      <p:font typeface="Space Grotesk SemiBold"/>
      <p:regular r:id="rId52"/>
      <p:bold r:id="rId53"/>
    </p:embeddedFont>
    <p:embeddedFont>
      <p:font typeface="Space Grotesk"/>
      <p:regular r:id="rId54"/>
      <p:bold r:id="rId5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37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37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font" Target="fonts/InterSemiBold-regular.fntdata"/><Relationship Id="rId33" Type="http://schemas.openxmlformats.org/officeDocument/2006/relationships/font" Target="fonts/InterSemiBold-bold.fntdata"/><Relationship Id="rId34" Type="http://schemas.openxmlformats.org/officeDocument/2006/relationships/font" Target="fonts/InterSemiBold-italic.fntdata"/><Relationship Id="rId35" Type="http://schemas.openxmlformats.org/officeDocument/2006/relationships/font" Target="fonts/InterSemiBold-boldItalic.fntdata"/><Relationship Id="rId36" Type="http://schemas.openxmlformats.org/officeDocument/2006/relationships/font" Target="fonts/Poppins-regular.fntdata"/><Relationship Id="rId37" Type="http://schemas.openxmlformats.org/officeDocument/2006/relationships/font" Target="fonts/Poppins-bold.fntdata"/><Relationship Id="rId38" Type="http://schemas.openxmlformats.org/officeDocument/2006/relationships/font" Target="fonts/Poppins-italic.fntdata"/><Relationship Id="rId39" Type="http://schemas.openxmlformats.org/officeDocument/2006/relationships/font" Target="fonts/Poppins-boldItalic.fntdata"/><Relationship Id="rId40" Type="http://schemas.openxmlformats.org/officeDocument/2006/relationships/font" Target="fonts/PoppinsLight-regular.fntdata"/><Relationship Id="rId41" Type="http://schemas.openxmlformats.org/officeDocument/2006/relationships/font" Target="fonts/PoppinsLight-bold.fntdata"/><Relationship Id="rId42" Type="http://schemas.openxmlformats.org/officeDocument/2006/relationships/font" Target="fonts/PoppinsLight-italic.fntdata"/><Relationship Id="rId43" Type="http://schemas.openxmlformats.org/officeDocument/2006/relationships/font" Target="fonts/PoppinsLight-boldItalic.fntdata"/><Relationship Id="rId44" Type="http://schemas.openxmlformats.org/officeDocument/2006/relationships/font" Target="fonts/PoppinsMedium-regular.fntdata"/><Relationship Id="rId45" Type="http://schemas.openxmlformats.org/officeDocument/2006/relationships/font" Target="fonts/PoppinsMedium-bold.fntdata"/><Relationship Id="rId46" Type="http://schemas.openxmlformats.org/officeDocument/2006/relationships/font" Target="fonts/PoppinsMedium-italic.fntdata"/><Relationship Id="rId47" Type="http://schemas.openxmlformats.org/officeDocument/2006/relationships/font" Target="fonts/PoppinsMedium-boldItalic.fntdata"/><Relationship Id="rId48" Type="http://schemas.openxmlformats.org/officeDocument/2006/relationships/font" Target="fonts/SpaceGroteskLight-regular.fntdata"/><Relationship Id="rId49" Type="http://schemas.openxmlformats.org/officeDocument/2006/relationships/font" Target="fonts/SpaceGroteskLight-bold.fntdata"/><Relationship Id="rId50" Type="http://schemas.openxmlformats.org/officeDocument/2006/relationships/font" Target="fonts/SpaceGroteskMedium-regular.fntdata"/><Relationship Id="rId51" Type="http://schemas.openxmlformats.org/officeDocument/2006/relationships/font" Target="fonts/SpaceGroteskMedium-bold.fntdata"/><Relationship Id="rId52" Type="http://schemas.openxmlformats.org/officeDocument/2006/relationships/font" Target="fonts/SpaceGroteskSemiBold-regular.fntdata"/><Relationship Id="rId53" Type="http://schemas.openxmlformats.org/officeDocument/2006/relationships/font" Target="fonts/SpaceGroteskSemiBold-bold.fntdata"/><Relationship Id="rId54" Type="http://schemas.openxmlformats.org/officeDocument/2006/relationships/font" Target="fonts/SpaceGrotesk-regular.fntdata"/><Relationship Id="rId55" Type="http://schemas.openxmlformats.org/officeDocument/2006/relationships/font" Target="fonts/SpaceGrotesk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878c9bf3f9_0_40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878c9bf3f9_0_40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877dcf67af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877dcf67af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878c9bf3f9_0_42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878c9bf3f9_0_4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878c9bf3f9_0_4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878c9bf3f9_0_4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878c9bf3f9_0_4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878c9bf3f9_0_4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878c9bf3f9_0_42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878c9bf3f9_0_4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878c9bf3f9_0_43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878c9bf3f9_0_43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9abb88a80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9abb88a80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878c9bf3f9_0_45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878c9bf3f9_0_45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9f21271be3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39f21271be3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39f21271be3_0_2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39f21271be3_0_2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39f21271be3_0_1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39f21271be3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39f21271be3_0_4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39f21271be3_0_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4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39f21271be3_0_6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6" name="Google Shape;916;g39f21271be3_0_6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4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g3e1768d47d4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6" name="Google Shape;1046;g3e1768d47d4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9f21271be3_0_9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9f21271be3_0_9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5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Google Shape;1306;g3878c9bf3f9_0_46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7" name="Google Shape;1307;g3878c9bf3f9_0_46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7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g39abb88a80d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9" name="Google Shape;1329;g39abb88a80d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6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Google Shape;1347;g3851d82aa2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8" name="Google Shape;1348;g3851d82aa2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3878c9bf3f9_0_49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3878c9bf3f9_0_49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6" name="Shape 1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39abb88a80d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39abb88a80d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5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39abb88a80d_0_284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7" name="Google Shape;1507;g39abb88a80d_0_284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8" name="Google Shape;1508;g39abb88a80d_0_284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0" name="Shape 1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1" name="Google Shape;1661;g39abb88a80d_0_3001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2" name="Google Shape;1662;g39abb88a80d_0_3001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3" name="Google Shape;1663;g39abb88a80d_0_3001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4" name="Shape 1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5" name="Google Shape;1785;g3877dcf67af_1_5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6" name="Google Shape;1786;g3877dcf67af_1_5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g39abb88a80d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3" name="Google Shape;1793;g39abb88a80d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1" name="Shape 1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" name="Google Shape;1822;g39abb88a80d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" name="Google Shape;1823;g39abb88a80d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3.png"/><Relationship Id="rId6" Type="http://schemas.openxmlformats.org/officeDocument/2006/relationships/image" Target="../media/image2.png"/><Relationship Id="rId7" Type="http://schemas.openxmlformats.org/officeDocument/2006/relationships/image" Target="../media/image9.png"/><Relationship Id="rId8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28.jp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15.png"/><Relationship Id="rId7" Type="http://schemas.openxmlformats.org/officeDocument/2006/relationships/image" Target="../media/image13.png"/><Relationship Id="rId8" Type="http://schemas.openxmlformats.org/officeDocument/2006/relationships/image" Target="../media/image16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32.png"/><Relationship Id="rId12" Type="http://schemas.openxmlformats.org/officeDocument/2006/relationships/image" Target="../media/image20.png"/><Relationship Id="rId13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33.jpg"/><Relationship Id="rId5" Type="http://schemas.openxmlformats.org/officeDocument/2006/relationships/image" Target="../media/image2.png"/><Relationship Id="rId6" Type="http://schemas.openxmlformats.org/officeDocument/2006/relationships/image" Target="../media/image3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Relationship Id="rId4" Type="http://schemas.openxmlformats.org/officeDocument/2006/relationships/image" Target="../media/image2.png"/><Relationship Id="rId5" Type="http://schemas.openxmlformats.org/officeDocument/2006/relationships/hyperlink" Target="https://at-scale.co/" TargetMode="External"/><Relationship Id="rId6" Type="http://schemas.openxmlformats.org/officeDocument/2006/relationships/hyperlink" Target="https://www.linkedin.com/company/atscalepartners/" TargetMode="External"/><Relationship Id="rId7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700450" y="2785346"/>
            <a:ext cx="6928200" cy="1602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2400">
                <a:solidFill>
                  <a:schemeClr val="lt1"/>
                </a:solidFill>
                <a:latin typeface="Space Grotesk Light"/>
                <a:ea typeface="Space Grotesk Light"/>
                <a:cs typeface="Space Grotesk Light"/>
                <a:sym typeface="Space Grotesk Light"/>
              </a:rPr>
              <a:t>Revenue Audit, [CLIENT] [SEGMENT] </a:t>
            </a:r>
            <a:endParaRPr sz="2400">
              <a:solidFill>
                <a:schemeClr val="lt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00">
                <a:solidFill>
                  <a:schemeClr val="lt1"/>
                </a:solidFill>
                <a:latin typeface="Space Grotesk Light"/>
                <a:ea typeface="Space Grotesk Light"/>
                <a:cs typeface="Space Grotesk Light"/>
                <a:sym typeface="Space Grotesk Light"/>
              </a:rPr>
              <a:t>[DATE]</a:t>
            </a:r>
            <a:endParaRPr sz="900">
              <a:solidFill>
                <a:schemeClr val="lt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pic>
        <p:nvPicPr>
          <p:cNvPr id="56" name="Google Shape;56;p14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3699" y="819750"/>
            <a:ext cx="1714576" cy="37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p15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" name="Google Shape;63;p15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Agenda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4" name="Google Shape;64;p15"/>
          <p:cNvSpPr/>
          <p:nvPr/>
        </p:nvSpPr>
        <p:spPr>
          <a:xfrm>
            <a:off x="1064393" y="1574302"/>
            <a:ext cx="2388900" cy="3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1" lang="fr" sz="1447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Introduction</a:t>
            </a:r>
            <a:endParaRPr b="1" i="0" sz="1447" u="none" cap="none" strike="noStrike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65" name="Google Shape;65;p15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225376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>
            <p:ph type="ctrTitle"/>
          </p:nvPr>
        </p:nvSpPr>
        <p:spPr>
          <a:xfrm>
            <a:off x="621585" y="225892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7" name="Google Shape;67;p15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0181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>
            <p:ph type="ctrTitle"/>
          </p:nvPr>
        </p:nvSpPr>
        <p:spPr>
          <a:xfrm>
            <a:off x="621585" y="30232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9" name="Google Shape;69;p15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778691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>
            <p:ph type="ctrTitle"/>
          </p:nvPr>
        </p:nvSpPr>
        <p:spPr>
          <a:xfrm>
            <a:off x="609374" y="3783852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064400" y="2310901"/>
            <a:ext cx="23889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Audit findings 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064400" y="3014550"/>
            <a:ext cx="34245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Competency-Gap Analysis per Building Block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064400" y="3827950"/>
            <a:ext cx="32055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6-month Roadmap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74" name="Google Shape;74;p15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14894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5"/>
          <p:cNvSpPr txBox="1"/>
          <p:nvPr>
            <p:ph type="ctrTitle"/>
          </p:nvPr>
        </p:nvSpPr>
        <p:spPr>
          <a:xfrm>
            <a:off x="639903" y="14945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6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1" name="Google Shape;81;p16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" name="Google Shape;82;p16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- Executive Summary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198450" y="642950"/>
            <a:ext cx="8766900" cy="4290000"/>
          </a:xfrm>
          <a:prstGeom prst="roundRect">
            <a:avLst>
              <a:gd fmla="val 200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180000" lIns="180000" spcFirstLastPara="1" rIns="180000" wrap="square" tIns="1800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 is a success story in the making — a company on its way to €1 billion in revenue, with real product and technology strength, and a global footprint that few European SaaS companies achieve. The ambition is there. The market is there. The question is whether the Enterprise organization is built to match it.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Today, it is not.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Enterprise is a new motion for [CLIENT] — and the gap between what it requires and what currently exists is significant. The performance culture, the Revenue Operations and the Enablement infrastructure: none of these are calibrated for Enterprise. [CLIENT] built a world-class SMB / Lower Mid-Market engine. Upper Mid-Market / Enterprise is a different motion, with specific needs to deliver revenue.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900"/>
              <a:buFont typeface="Space Grotesk"/>
              <a:buAutoNum type="arabicPeriod"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lack of a clear definition of success and common KPIs to hold responsible parties accountable, and drumbeat the Enterprise organization, is creating smoke on the road. The Enterprise team must level-up in hiring processes, monitoring of ramp-up performance, upper-funnel activities and mastery of Enterprise sales skill set, and should start building granular close-the-gap plans at individual levels.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900"/>
              <a:buFont typeface="Space Grotesk"/>
              <a:buAutoNum type="arabicPeriod"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Enterprise teams require more support headcounts per sales head to operate than SMB teams: Sales Engineers to support complex cycles, Sales Enablement to arm reps with the right tools, Revenue Operations to drive pipeline visibility and forecast accuracy. [CLIENT] Enterprise is currently understaffed in every one of these functions, and the team does not possess yet the hard skills to perform with 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scarce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resources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Until this changes, quota attainment will remain structurally capped. 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If [CLIENT] Enterprise wants to compete in the A-League, it must start acting like an A-League franchise.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With these changes and investments, we will then be a position to build a team of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A-players.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 6 to 9-month transformation will be needed to take [CLIENT] Enterprise team to high performance levels.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 title="Fond vert foncé.png"/>
          <p:cNvPicPr preferRelativeResize="0"/>
          <p:nvPr/>
        </p:nvPicPr>
        <p:blipFill rotWithShape="1">
          <a:blip r:embed="rId4">
            <a:alphaModFix/>
          </a:blip>
          <a:srcRect b="71127" l="10035" r="60116" t="0"/>
          <a:stretch/>
        </p:blipFill>
        <p:spPr>
          <a:xfrm>
            <a:off x="3536618" y="1690681"/>
            <a:ext cx="2013000" cy="1080900"/>
          </a:xfrm>
          <a:prstGeom prst="roundRect">
            <a:avLst>
              <a:gd fmla="val 7991" name="adj"/>
            </a:avLst>
          </a:prstGeom>
          <a:noFill/>
          <a:ln>
            <a:noFill/>
          </a:ln>
        </p:spPr>
      </p:pic>
      <p:pic>
        <p:nvPicPr>
          <p:cNvPr id="89" name="Google Shape;89;p17" title="Fond vert foncé.png"/>
          <p:cNvPicPr preferRelativeResize="0"/>
          <p:nvPr/>
        </p:nvPicPr>
        <p:blipFill rotWithShape="1">
          <a:blip r:embed="rId4">
            <a:alphaModFix/>
          </a:blip>
          <a:srcRect b="71127" l="10035" r="60116" t="0"/>
          <a:stretch/>
        </p:blipFill>
        <p:spPr>
          <a:xfrm>
            <a:off x="5624648" y="1690681"/>
            <a:ext cx="2013000" cy="1080900"/>
          </a:xfrm>
          <a:prstGeom prst="roundRect">
            <a:avLst>
              <a:gd fmla="val 7991" name="adj"/>
            </a:avLst>
          </a:prstGeom>
          <a:noFill/>
          <a:ln>
            <a:noFill/>
          </a:ln>
        </p:spPr>
      </p:pic>
      <p:pic>
        <p:nvPicPr>
          <p:cNvPr id="90" name="Google Shape;90;p17" title="Fond vert foncé.png"/>
          <p:cNvPicPr preferRelativeResize="0"/>
          <p:nvPr/>
        </p:nvPicPr>
        <p:blipFill rotWithShape="1">
          <a:blip r:embed="rId4">
            <a:alphaModFix/>
          </a:blip>
          <a:srcRect b="71127" l="10035" r="60116" t="0"/>
          <a:stretch/>
        </p:blipFill>
        <p:spPr>
          <a:xfrm>
            <a:off x="1448587" y="1690681"/>
            <a:ext cx="2013000" cy="1080900"/>
          </a:xfrm>
          <a:prstGeom prst="roundRect">
            <a:avLst>
              <a:gd fmla="val 7991" name="adj"/>
            </a:avLst>
          </a:prstGeom>
          <a:noFill/>
          <a:ln>
            <a:noFill/>
          </a:ln>
        </p:spPr>
      </p:pic>
      <p:pic>
        <p:nvPicPr>
          <p:cNvPr id="91" name="Google Shape;91;p17" title="presention-chart (1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3063" y="2069125"/>
            <a:ext cx="324000" cy="3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7" title="Logo_atscale_sans texture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7"/>
          <p:cNvSpPr txBox="1"/>
          <p:nvPr>
            <p:ph type="ctrTitle"/>
          </p:nvPr>
        </p:nvSpPr>
        <p:spPr>
          <a:xfrm>
            <a:off x="483590" y="638416"/>
            <a:ext cx="69282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 specific Diagnosis methodology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1448588" y="3414875"/>
            <a:ext cx="2013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We collected company data and analyze data </a:t>
            </a:r>
            <a:r>
              <a:rPr b="1" lang="fr" sz="800">
                <a:solidFill>
                  <a:srgbClr val="2A41E5"/>
                </a:solidFill>
                <a:latin typeface="Poppins"/>
                <a:ea typeface="Poppins"/>
                <a:cs typeface="Poppins"/>
                <a:sym typeface="Poppins"/>
              </a:rPr>
              <a:t>20+ documents</a:t>
            </a: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, at both macro and micro-level.</a:t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" name="Google Shape;95;p17"/>
          <p:cNvSpPr txBox="1"/>
          <p:nvPr>
            <p:ph type="ctrTitle"/>
          </p:nvPr>
        </p:nvSpPr>
        <p:spPr>
          <a:xfrm>
            <a:off x="1448462" y="2749850"/>
            <a:ext cx="20130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Analysis</a:t>
            </a:r>
            <a:endParaRPr sz="1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3536612" y="3414875"/>
            <a:ext cx="2013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We sent a 160 questions assessment to a selected group of </a:t>
            </a:r>
            <a:r>
              <a:rPr b="1" lang="fr" sz="800">
                <a:solidFill>
                  <a:srgbClr val="2A41E5"/>
                </a:solidFill>
                <a:latin typeface="Poppins"/>
                <a:ea typeface="Poppins"/>
                <a:cs typeface="Poppins"/>
                <a:sym typeface="Poppins"/>
              </a:rPr>
              <a:t>3 respondents</a:t>
            </a: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, all executives. </a:t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" name="Google Shape;97;p17"/>
          <p:cNvSpPr txBox="1"/>
          <p:nvPr>
            <p:ph type="ctrTitle"/>
          </p:nvPr>
        </p:nvSpPr>
        <p:spPr>
          <a:xfrm>
            <a:off x="3536613" y="2749850"/>
            <a:ext cx="19971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Self-assessment</a:t>
            </a:r>
            <a:endParaRPr sz="1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5624637" y="3414875"/>
            <a:ext cx="20130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We performed </a:t>
            </a:r>
            <a:r>
              <a:rPr b="1" lang="fr" sz="800">
                <a:solidFill>
                  <a:srgbClr val="2A41E5"/>
                </a:solidFill>
                <a:latin typeface="Poppins"/>
                <a:ea typeface="Poppins"/>
                <a:cs typeface="Poppins"/>
                <a:sym typeface="Poppins"/>
              </a:rPr>
              <a:t>25 individual interviews </a:t>
            </a: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with pre-selected employees working at [CLIENT], from C-Suite members to Sales People.</a:t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" name="Google Shape;99;p17"/>
          <p:cNvSpPr txBox="1"/>
          <p:nvPr>
            <p:ph type="ctrTitle"/>
          </p:nvPr>
        </p:nvSpPr>
        <p:spPr>
          <a:xfrm>
            <a:off x="5624638" y="2749850"/>
            <a:ext cx="20130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1:1 Interviews</a:t>
            </a:r>
            <a:endParaRPr sz="1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00" name="Google Shape;100;p17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" name="Google Shape;101;p17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Restitution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02" name="Google Shape;102;p17" title="setting-5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flipH="1">
            <a:off x="4381118" y="2069125"/>
            <a:ext cx="324000" cy="3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7" title="messages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69148" y="2069125"/>
            <a:ext cx="324000" cy="32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08;p18"/>
          <p:cNvGrpSpPr/>
          <p:nvPr/>
        </p:nvGrpSpPr>
        <p:grpSpPr>
          <a:xfrm>
            <a:off x="5963617" y="1492030"/>
            <a:ext cx="2668288" cy="833707"/>
            <a:chOff x="4457700" y="866775"/>
            <a:chExt cx="4257000" cy="1223700"/>
          </a:xfrm>
        </p:grpSpPr>
        <p:sp>
          <p:nvSpPr>
            <p:cNvPr id="109" name="Google Shape;109;p18"/>
            <p:cNvSpPr/>
            <p:nvPr/>
          </p:nvSpPr>
          <p:spPr>
            <a:xfrm>
              <a:off x="4457700" y="866775"/>
              <a:ext cx="4257000" cy="1223700"/>
            </a:xfrm>
            <a:prstGeom prst="roundRect">
              <a:avLst>
                <a:gd fmla="val 9341" name="adj"/>
              </a:avLst>
            </a:prstGeom>
            <a:solidFill>
              <a:srgbClr val="BDD3F3"/>
            </a:solidFill>
            <a:ln>
              <a:noFill/>
            </a:ln>
          </p:spPr>
          <p:txBody>
            <a:bodyPr anchorCtr="0" anchor="ctr" bIns="62275" lIns="62275" spcFirstLastPara="1" rIns="62275" wrap="square" tIns="622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54"/>
            </a:p>
          </p:txBody>
        </p:sp>
        <p:pic>
          <p:nvPicPr>
            <p:cNvPr id="110" name="Google Shape;110;p18" title="ac9193246d14421299f6e236baa4d3d92ef4787c.png"/>
            <p:cNvPicPr preferRelativeResize="0"/>
            <p:nvPr/>
          </p:nvPicPr>
          <p:blipFill rotWithShape="1">
            <a:blip r:embed="rId4">
              <a:alphaModFix amt="4000"/>
            </a:blip>
            <a:srcRect b="71254" l="0" r="0" t="0"/>
            <a:stretch/>
          </p:blipFill>
          <p:spPr>
            <a:xfrm>
              <a:off x="4457700" y="866775"/>
              <a:ext cx="4257000" cy="1223700"/>
            </a:xfrm>
            <a:prstGeom prst="roundRect">
              <a:avLst>
                <a:gd fmla="val 9874" name="adj"/>
              </a:avLst>
            </a:prstGeom>
            <a:noFill/>
            <a:ln>
              <a:noFill/>
            </a:ln>
          </p:spPr>
        </p:pic>
      </p:grpSp>
      <p:grpSp>
        <p:nvGrpSpPr>
          <p:cNvPr id="111" name="Google Shape;111;p18"/>
          <p:cNvGrpSpPr/>
          <p:nvPr/>
        </p:nvGrpSpPr>
        <p:grpSpPr>
          <a:xfrm>
            <a:off x="3192117" y="1492030"/>
            <a:ext cx="2668288" cy="833707"/>
            <a:chOff x="4457700" y="866775"/>
            <a:chExt cx="4257000" cy="1223700"/>
          </a:xfrm>
        </p:grpSpPr>
        <p:sp>
          <p:nvSpPr>
            <p:cNvPr id="112" name="Google Shape;112;p18"/>
            <p:cNvSpPr/>
            <p:nvPr/>
          </p:nvSpPr>
          <p:spPr>
            <a:xfrm>
              <a:off x="4457700" y="866775"/>
              <a:ext cx="4257000" cy="1223700"/>
            </a:xfrm>
            <a:prstGeom prst="roundRect">
              <a:avLst>
                <a:gd fmla="val 9341" name="adj"/>
              </a:avLst>
            </a:prstGeom>
            <a:solidFill>
              <a:srgbClr val="BDD3F3"/>
            </a:solidFill>
            <a:ln>
              <a:noFill/>
            </a:ln>
          </p:spPr>
          <p:txBody>
            <a:bodyPr anchorCtr="0" anchor="ctr" bIns="62275" lIns="62275" spcFirstLastPara="1" rIns="62275" wrap="square" tIns="622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54"/>
            </a:p>
          </p:txBody>
        </p:sp>
        <p:pic>
          <p:nvPicPr>
            <p:cNvPr id="113" name="Google Shape;113;p18" title="ac9193246d14421299f6e236baa4d3d92ef4787c.png"/>
            <p:cNvPicPr preferRelativeResize="0"/>
            <p:nvPr/>
          </p:nvPicPr>
          <p:blipFill rotWithShape="1">
            <a:blip r:embed="rId4">
              <a:alphaModFix amt="4000"/>
            </a:blip>
            <a:srcRect b="71254" l="0" r="0" t="0"/>
            <a:stretch/>
          </p:blipFill>
          <p:spPr>
            <a:xfrm>
              <a:off x="4457700" y="866775"/>
              <a:ext cx="4257000" cy="1223700"/>
            </a:xfrm>
            <a:prstGeom prst="roundRect">
              <a:avLst>
                <a:gd fmla="val 9874" name="adj"/>
              </a:avLst>
            </a:prstGeom>
            <a:noFill/>
            <a:ln>
              <a:noFill/>
            </a:ln>
          </p:spPr>
        </p:pic>
      </p:grpSp>
      <p:grpSp>
        <p:nvGrpSpPr>
          <p:cNvPr id="114" name="Google Shape;114;p18"/>
          <p:cNvGrpSpPr/>
          <p:nvPr/>
        </p:nvGrpSpPr>
        <p:grpSpPr>
          <a:xfrm>
            <a:off x="428642" y="1492030"/>
            <a:ext cx="2668288" cy="833707"/>
            <a:chOff x="4457700" y="866775"/>
            <a:chExt cx="4257000" cy="1223700"/>
          </a:xfrm>
        </p:grpSpPr>
        <p:sp>
          <p:nvSpPr>
            <p:cNvPr id="115" name="Google Shape;115;p18"/>
            <p:cNvSpPr/>
            <p:nvPr/>
          </p:nvSpPr>
          <p:spPr>
            <a:xfrm>
              <a:off x="4457700" y="866775"/>
              <a:ext cx="4257000" cy="1223700"/>
            </a:xfrm>
            <a:prstGeom prst="roundRect">
              <a:avLst>
                <a:gd fmla="val 9341" name="adj"/>
              </a:avLst>
            </a:prstGeom>
            <a:solidFill>
              <a:srgbClr val="BDD3F3"/>
            </a:solidFill>
            <a:ln>
              <a:noFill/>
            </a:ln>
          </p:spPr>
          <p:txBody>
            <a:bodyPr anchorCtr="0" anchor="ctr" bIns="62275" lIns="62275" spcFirstLastPara="1" rIns="62275" wrap="square" tIns="622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54"/>
            </a:p>
          </p:txBody>
        </p:sp>
        <p:pic>
          <p:nvPicPr>
            <p:cNvPr id="116" name="Google Shape;116;p18" title="ac9193246d14421299f6e236baa4d3d92ef4787c.png"/>
            <p:cNvPicPr preferRelativeResize="0"/>
            <p:nvPr/>
          </p:nvPicPr>
          <p:blipFill rotWithShape="1">
            <a:blip r:embed="rId4">
              <a:alphaModFix amt="4000"/>
            </a:blip>
            <a:srcRect b="71254" l="0" r="0" t="0"/>
            <a:stretch/>
          </p:blipFill>
          <p:spPr>
            <a:xfrm>
              <a:off x="4457700" y="866775"/>
              <a:ext cx="4257000" cy="1223700"/>
            </a:xfrm>
            <a:prstGeom prst="roundRect">
              <a:avLst>
                <a:gd fmla="val 9874" name="adj"/>
              </a:avLst>
            </a:prstGeom>
            <a:noFill/>
            <a:ln>
              <a:noFill/>
            </a:ln>
          </p:spPr>
        </p:pic>
      </p:grpSp>
      <p:pic>
        <p:nvPicPr>
          <p:cNvPr id="117" name="Google Shape;117;p18" title="Logo_atscale_sans textur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18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" name="Google Shape;119;p18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Restitution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0" name="Google Shape;120;p18"/>
          <p:cNvSpPr txBox="1"/>
          <p:nvPr>
            <p:ph type="ctrTitle"/>
          </p:nvPr>
        </p:nvSpPr>
        <p:spPr>
          <a:xfrm>
            <a:off x="483590" y="638416"/>
            <a:ext cx="69282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Strong foundations for success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1" name="Google Shape;121;p18"/>
          <p:cNvSpPr txBox="1"/>
          <p:nvPr/>
        </p:nvSpPr>
        <p:spPr>
          <a:xfrm>
            <a:off x="432825" y="2325727"/>
            <a:ext cx="2668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[CLIENT]'s international presence and recent acquisitions serves as a step for Enterprise motion to enter new markets.</a:t>
            </a:r>
            <a:endParaRPr sz="6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" name="Google Shape;122;p18"/>
          <p:cNvSpPr txBox="1"/>
          <p:nvPr>
            <p:ph type="ctrTitle"/>
          </p:nvPr>
        </p:nvSpPr>
        <p:spPr>
          <a:xfrm>
            <a:off x="428530" y="1760532"/>
            <a:ext cx="15216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1919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Footprint </a:t>
            </a:r>
            <a:endParaRPr sz="1200">
              <a:solidFill>
                <a:srgbClr val="191919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3" name="Google Shape;123;p18"/>
          <p:cNvSpPr txBox="1"/>
          <p:nvPr/>
        </p:nvSpPr>
        <p:spPr>
          <a:xfrm>
            <a:off x="3203144" y="2325727"/>
            <a:ext cx="2668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Partnerships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 / Indirect Sales channel is 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barely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 launched - large companies in this space usually have roughly 50% of their revenue coming from indirect sales motions. </a:t>
            </a:r>
            <a:endParaRPr sz="6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" name="Google Shape;124;p18"/>
          <p:cNvSpPr txBox="1"/>
          <p:nvPr>
            <p:ph type="ctrTitle"/>
          </p:nvPr>
        </p:nvSpPr>
        <p:spPr>
          <a:xfrm>
            <a:off x="3196167" y="1760525"/>
            <a:ext cx="26682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1919"/>
                </a:solidFill>
                <a:latin typeface="Space Grotesk"/>
                <a:ea typeface="Space Grotesk"/>
                <a:cs typeface="Space Grotesk"/>
                <a:sym typeface="Space Grotesk"/>
              </a:rPr>
              <a:t>Untapped</a:t>
            </a:r>
            <a:r>
              <a:rPr lang="fr" sz="1200">
                <a:solidFill>
                  <a:srgbClr val="191919"/>
                </a:solidFill>
                <a:latin typeface="Space Grotesk"/>
                <a:ea typeface="Space Grotesk"/>
                <a:cs typeface="Space Grotesk"/>
                <a:sym typeface="Space Grotesk"/>
              </a:rPr>
              <a:t> opportunity</a:t>
            </a:r>
            <a:endParaRPr sz="1200">
              <a:solidFill>
                <a:srgbClr val="191919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5" name="Google Shape;125;p18"/>
          <p:cNvSpPr txBox="1"/>
          <p:nvPr/>
        </p:nvSpPr>
        <p:spPr>
          <a:xfrm>
            <a:off x="5961569" y="2325727"/>
            <a:ext cx="2668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[CLIENT] can address multiple needs, allowing reps to always find a way-in 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corporates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, a critical enabler for land-and-expand strategies, which is the playbook of enterprise sales motions.</a:t>
            </a:r>
            <a:endParaRPr sz="6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" name="Google Shape;126;p18"/>
          <p:cNvSpPr txBox="1"/>
          <p:nvPr>
            <p:ph type="ctrTitle"/>
          </p:nvPr>
        </p:nvSpPr>
        <p:spPr>
          <a:xfrm>
            <a:off x="5955591" y="1760525"/>
            <a:ext cx="26682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1919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Product Suite</a:t>
            </a:r>
            <a:endParaRPr sz="1200">
              <a:solidFill>
                <a:srgbClr val="191919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27" name="Google Shape;127;p18" title="Fond vert foncé.png"/>
          <p:cNvPicPr preferRelativeResize="0"/>
          <p:nvPr/>
        </p:nvPicPr>
        <p:blipFill rotWithShape="1">
          <a:blip r:embed="rId6">
            <a:alphaModFix/>
          </a:blip>
          <a:srcRect b="71127" l="10035" r="60116" t="0"/>
          <a:stretch/>
        </p:blipFill>
        <p:spPr>
          <a:xfrm>
            <a:off x="1643175" y="3049900"/>
            <a:ext cx="2668200" cy="833700"/>
          </a:xfrm>
          <a:prstGeom prst="roundRect">
            <a:avLst>
              <a:gd fmla="val 7991" name="adj"/>
            </a:avLst>
          </a:prstGeom>
          <a:noFill/>
          <a:ln>
            <a:noFill/>
          </a:ln>
        </p:spPr>
      </p:pic>
      <p:pic>
        <p:nvPicPr>
          <p:cNvPr id="128" name="Google Shape;128;p18" title="Fond vert foncé.png"/>
          <p:cNvPicPr preferRelativeResize="0"/>
          <p:nvPr/>
        </p:nvPicPr>
        <p:blipFill rotWithShape="1">
          <a:blip r:embed="rId6">
            <a:alphaModFix/>
          </a:blip>
          <a:srcRect b="71127" l="10035" r="60116" t="0"/>
          <a:stretch/>
        </p:blipFill>
        <p:spPr>
          <a:xfrm>
            <a:off x="4410825" y="3049900"/>
            <a:ext cx="2668200" cy="833700"/>
          </a:xfrm>
          <a:prstGeom prst="roundRect">
            <a:avLst>
              <a:gd fmla="val 7991" name="adj"/>
            </a:avLst>
          </a:prstGeom>
          <a:noFill/>
          <a:ln>
            <a:noFill/>
          </a:ln>
        </p:spPr>
      </p:pic>
      <p:sp>
        <p:nvSpPr>
          <p:cNvPr id="129" name="Google Shape;129;p18"/>
          <p:cNvSpPr txBox="1"/>
          <p:nvPr/>
        </p:nvSpPr>
        <p:spPr>
          <a:xfrm>
            <a:off x="1644194" y="3883606"/>
            <a:ext cx="2668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Reps at [CLIENT] want to 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perform, they are willing to grow and want to drive change</a:t>
            </a:r>
            <a:endParaRPr sz="6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0" name="Google Shape;130;p18"/>
          <p:cNvSpPr txBox="1"/>
          <p:nvPr>
            <p:ph type="ctrTitle"/>
          </p:nvPr>
        </p:nvSpPr>
        <p:spPr>
          <a:xfrm>
            <a:off x="1644175" y="3514300"/>
            <a:ext cx="2668200" cy="3693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Team Engagement &amp; commitment</a:t>
            </a:r>
            <a:endParaRPr sz="1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" name="Google Shape;131;p18"/>
          <p:cNvSpPr txBox="1"/>
          <p:nvPr/>
        </p:nvSpPr>
        <p:spPr>
          <a:xfrm>
            <a:off x="4402619" y="3883606"/>
            <a:ext cx="2668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The new leadership has already initiated the right actions: driving change management, and pushing for accountability. </a:t>
            </a:r>
            <a:endParaRPr sz="6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2" name="Google Shape;132;p18"/>
          <p:cNvSpPr txBox="1"/>
          <p:nvPr>
            <p:ph type="ctrTitle"/>
          </p:nvPr>
        </p:nvSpPr>
        <p:spPr>
          <a:xfrm>
            <a:off x="4402600" y="3490625"/>
            <a:ext cx="2668200" cy="3930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Senior Management</a:t>
            </a:r>
            <a:endParaRPr sz="1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type="ctrTitle"/>
          </p:nvPr>
        </p:nvSpPr>
        <p:spPr>
          <a:xfrm>
            <a:off x="483602" y="638425"/>
            <a:ext cx="82725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8 Building Blocks have to be mastered to achieve profitable growth 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8" name="Google Shape;138;p19"/>
          <p:cNvSpPr/>
          <p:nvPr/>
        </p:nvSpPr>
        <p:spPr>
          <a:xfrm>
            <a:off x="861200" y="1700703"/>
            <a:ext cx="9366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Reps Excellence</a:t>
            </a:r>
            <a:endParaRPr i="0" sz="900" u="none" cap="none" strike="noStrike">
              <a:solidFill>
                <a:srgbClr val="000000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39" name="Google Shape;139;p19"/>
          <p:cNvSpPr/>
          <p:nvPr/>
        </p:nvSpPr>
        <p:spPr>
          <a:xfrm>
            <a:off x="861200" y="3227729"/>
            <a:ext cx="9366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engine</a:t>
            </a:r>
            <a:endParaRPr i="0" sz="900" u="none" cap="none" strike="noStrike">
              <a:solidFill>
                <a:srgbClr val="000000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" name="Google Shape;140;p19"/>
          <p:cNvSpPr/>
          <p:nvPr/>
        </p:nvSpPr>
        <p:spPr>
          <a:xfrm>
            <a:off x="2321161" y="1668727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1" name="Google Shape;141;p19"/>
          <p:cNvSpPr/>
          <p:nvPr/>
        </p:nvSpPr>
        <p:spPr>
          <a:xfrm>
            <a:off x="3580381" y="1668727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" name="Google Shape;142;p19"/>
          <p:cNvSpPr/>
          <p:nvPr/>
        </p:nvSpPr>
        <p:spPr>
          <a:xfrm>
            <a:off x="4854015" y="1678346"/>
            <a:ext cx="1010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management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" name="Google Shape;143;p19"/>
          <p:cNvSpPr/>
          <p:nvPr/>
        </p:nvSpPr>
        <p:spPr>
          <a:xfrm>
            <a:off x="3164440" y="2320500"/>
            <a:ext cx="16047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" name="Google Shape;144;p19"/>
          <p:cNvSpPr/>
          <p:nvPr/>
        </p:nvSpPr>
        <p:spPr>
          <a:xfrm>
            <a:off x="2316864" y="3243002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3576085" y="3243002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" name="Google Shape;146;p19"/>
          <p:cNvSpPr/>
          <p:nvPr/>
        </p:nvSpPr>
        <p:spPr>
          <a:xfrm>
            <a:off x="4849719" y="3252621"/>
            <a:ext cx="1010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7" name="Google Shape;147;p19"/>
          <p:cNvSpPr/>
          <p:nvPr/>
        </p:nvSpPr>
        <p:spPr>
          <a:xfrm>
            <a:off x="3160143" y="3894775"/>
            <a:ext cx="16047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48" name="Google Shape;148;p19" title="ATSCALE IBIZA382.jpg"/>
          <p:cNvPicPr preferRelativeResize="0"/>
          <p:nvPr/>
        </p:nvPicPr>
        <p:blipFill rotWithShape="1">
          <a:blip r:embed="rId4">
            <a:alphaModFix/>
          </a:blip>
          <a:srcRect b="0" l="41672" r="12883" t="0"/>
          <a:stretch/>
        </p:blipFill>
        <p:spPr>
          <a:xfrm>
            <a:off x="6413875" y="1299150"/>
            <a:ext cx="2342100" cy="3437700"/>
          </a:xfrm>
          <a:prstGeom prst="roundRect">
            <a:avLst>
              <a:gd fmla="val 1989" name="adj"/>
            </a:avLst>
          </a:prstGeom>
          <a:noFill/>
          <a:ln>
            <a:noFill/>
          </a:ln>
        </p:spPr>
      </p:pic>
      <p:sp>
        <p:nvSpPr>
          <p:cNvPr id="149" name="Google Shape;149;p19"/>
          <p:cNvSpPr/>
          <p:nvPr/>
        </p:nvSpPr>
        <p:spPr>
          <a:xfrm rot="10800000">
            <a:off x="398150" y="3041000"/>
            <a:ext cx="5931300" cy="1706400"/>
          </a:xfrm>
          <a:prstGeom prst="round2SameRect">
            <a:avLst>
              <a:gd fmla="val 2276" name="adj1"/>
              <a:gd fmla="val 0" name="adj2"/>
            </a:avLst>
          </a:prstGeom>
          <a:solidFill>
            <a:srgbClr val="EEEEEE">
              <a:alpha val="5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0" name="Google Shape;150;p19" title="Logo_atscale_sans textur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1" name="Google Shape;151;p19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2" name="Google Shape;152;p19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Restitution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0"/>
          <p:cNvSpPr txBox="1"/>
          <p:nvPr>
            <p:ph type="ctrTitle"/>
          </p:nvPr>
        </p:nvSpPr>
        <p:spPr>
          <a:xfrm>
            <a:off x="483602" y="638425"/>
            <a:ext cx="82725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Our model captures the quintessence of top-tier performance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58" name="Google Shape;158;p20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0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0" name="Google Shape;160;p20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Restitution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61" name="Google Shape;161;p20"/>
          <p:cNvSpPr/>
          <p:nvPr/>
        </p:nvSpPr>
        <p:spPr>
          <a:xfrm>
            <a:off x="483600" y="13860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Reps Excellence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pic>
        <p:nvPicPr>
          <p:cNvPr id="162" name="Google Shape;162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11199" y="1979440"/>
            <a:ext cx="2082300" cy="27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11149" y="1682496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64499" y="1682496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0"/>
          <p:cNvSpPr txBox="1"/>
          <p:nvPr/>
        </p:nvSpPr>
        <p:spPr>
          <a:xfrm>
            <a:off x="6411199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Routine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66" name="Google Shape;166;p20"/>
          <p:cNvSpPr txBox="1"/>
          <p:nvPr/>
        </p:nvSpPr>
        <p:spPr>
          <a:xfrm>
            <a:off x="7464549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Floor Animation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67" name="Google Shape;167;p20"/>
          <p:cNvSpPr txBox="1"/>
          <p:nvPr/>
        </p:nvSpPr>
        <p:spPr>
          <a:xfrm>
            <a:off x="6411149" y="1979440"/>
            <a:ext cx="2082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Under &amp; Top Performance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68" name="Google Shape;168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48500" y="1682491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01850" y="1682491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48475" y="1979331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01825" y="1979331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0"/>
          <p:cNvSpPr txBox="1"/>
          <p:nvPr/>
        </p:nvSpPr>
        <p:spPr>
          <a:xfrm>
            <a:off x="1648525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Acquisition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73" name="Google Shape;173;p20"/>
          <p:cNvSpPr txBox="1"/>
          <p:nvPr/>
        </p:nvSpPr>
        <p:spPr>
          <a:xfrm>
            <a:off x="2701875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Hiring process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74" name="Google Shape;174;p20"/>
          <p:cNvSpPr txBox="1"/>
          <p:nvPr/>
        </p:nvSpPr>
        <p:spPr>
          <a:xfrm>
            <a:off x="1648500" y="1979045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onboarding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75" name="Google Shape;175;p20"/>
          <p:cNvSpPr txBox="1"/>
          <p:nvPr/>
        </p:nvSpPr>
        <p:spPr>
          <a:xfrm>
            <a:off x="2701850" y="1979045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ramp-up</a:t>
            </a:r>
            <a:endParaRPr sz="600">
              <a:solidFill>
                <a:schemeClr val="dk1"/>
              </a:solidFill>
            </a:endParaRPr>
          </a:p>
        </p:txBody>
      </p:sp>
      <p:pic>
        <p:nvPicPr>
          <p:cNvPr id="176" name="Google Shape;176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083187" y="1682491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083212" y="1979428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029837" y="1979428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0"/>
          <p:cNvSpPr txBox="1"/>
          <p:nvPr/>
        </p:nvSpPr>
        <p:spPr>
          <a:xfrm>
            <a:off x="5083200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Collaterals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80" name="Google Shape;180;p20"/>
          <p:cNvSpPr txBox="1"/>
          <p:nvPr/>
        </p:nvSpPr>
        <p:spPr>
          <a:xfrm>
            <a:off x="4029825" y="1979045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Playbook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81" name="Google Shape;181;p20"/>
          <p:cNvSpPr txBox="1"/>
          <p:nvPr/>
        </p:nvSpPr>
        <p:spPr>
          <a:xfrm>
            <a:off x="5083175" y="1979045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Training</a:t>
            </a:r>
            <a:endParaRPr sz="600">
              <a:solidFill>
                <a:schemeClr val="dk1"/>
              </a:solidFill>
            </a:endParaRPr>
          </a:p>
        </p:txBody>
      </p:sp>
      <p:pic>
        <p:nvPicPr>
          <p:cNvPr id="182" name="Google Shape;182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029912" y="1682487"/>
            <a:ext cx="1028900" cy="271101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0"/>
          <p:cNvSpPr txBox="1"/>
          <p:nvPr/>
        </p:nvSpPr>
        <p:spPr>
          <a:xfrm>
            <a:off x="4029850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Methodology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84" name="Google Shape;184;p20"/>
          <p:cNvSpPr/>
          <p:nvPr/>
        </p:nvSpPr>
        <p:spPr>
          <a:xfrm>
            <a:off x="1648525" y="13860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</a:t>
            </a:r>
            <a:endParaRPr/>
          </a:p>
        </p:txBody>
      </p:sp>
      <p:sp>
        <p:nvSpPr>
          <p:cNvPr id="185" name="Google Shape;185;p20"/>
          <p:cNvSpPr/>
          <p:nvPr/>
        </p:nvSpPr>
        <p:spPr>
          <a:xfrm>
            <a:off x="4029849" y="13860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endParaRPr/>
          </a:p>
        </p:txBody>
      </p:sp>
      <p:sp>
        <p:nvSpPr>
          <p:cNvPr id="186" name="Google Shape;186;p20"/>
          <p:cNvSpPr/>
          <p:nvPr/>
        </p:nvSpPr>
        <p:spPr>
          <a:xfrm>
            <a:off x="6411199" y="13860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Management</a:t>
            </a:r>
            <a:endParaRPr/>
          </a:p>
        </p:txBody>
      </p:sp>
      <p:sp>
        <p:nvSpPr>
          <p:cNvPr id="187" name="Google Shape;187;p20"/>
          <p:cNvSpPr/>
          <p:nvPr/>
        </p:nvSpPr>
        <p:spPr>
          <a:xfrm>
            <a:off x="1648525" y="2375781"/>
            <a:ext cx="6879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endParaRPr/>
          </a:p>
        </p:txBody>
      </p:sp>
      <p:pic>
        <p:nvPicPr>
          <p:cNvPr id="188" name="Google Shape;188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648525" y="2680000"/>
            <a:ext cx="1688206" cy="27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382810" y="2680000"/>
            <a:ext cx="1688206" cy="27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105537" y="2680000"/>
            <a:ext cx="1688206" cy="27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839619" y="2680000"/>
            <a:ext cx="1688206" cy="27202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0"/>
          <p:cNvSpPr txBox="1"/>
          <p:nvPr/>
        </p:nvSpPr>
        <p:spPr>
          <a:xfrm>
            <a:off x="1648525" y="2680000"/>
            <a:ext cx="16881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Org Structure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93" name="Google Shape;193;p20"/>
          <p:cNvSpPr txBox="1"/>
          <p:nvPr/>
        </p:nvSpPr>
        <p:spPr>
          <a:xfrm>
            <a:off x="3382879" y="2680000"/>
            <a:ext cx="16881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Career Path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5105572" y="2680000"/>
            <a:ext cx="16881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Coaching of First Line Sales Managers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6839647" y="2680000"/>
            <a:ext cx="16881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Manager Academy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96" name="Google Shape;196;p20"/>
          <p:cNvSpPr/>
          <p:nvPr/>
        </p:nvSpPr>
        <p:spPr>
          <a:xfrm>
            <a:off x="483588" y="32052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Engine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pic>
        <p:nvPicPr>
          <p:cNvPr id="197" name="Google Shape;197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11187" y="3798640"/>
            <a:ext cx="2082300" cy="27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11137" y="3501696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64487" y="3501696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0"/>
          <p:cNvSpPr txBox="1"/>
          <p:nvPr/>
        </p:nvSpPr>
        <p:spPr>
          <a:xfrm>
            <a:off x="6411187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Territory Planning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1" name="Google Shape;201;p20"/>
          <p:cNvSpPr txBox="1"/>
          <p:nvPr/>
        </p:nvSpPr>
        <p:spPr>
          <a:xfrm>
            <a:off x="7464537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Outreach Strategy, SLAs &amp; Quotas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6411137" y="3798640"/>
            <a:ext cx="2082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Portfolio Growth &amp; Churn Prevention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03" name="Google Shape;203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48487" y="3501691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01837" y="3501691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0"/>
          <p:cNvSpPr txBox="1"/>
          <p:nvPr/>
        </p:nvSpPr>
        <p:spPr>
          <a:xfrm>
            <a:off x="1648512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 Strategy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206" name="Google Shape;206;p20"/>
          <p:cNvSpPr txBox="1"/>
          <p:nvPr/>
        </p:nvSpPr>
        <p:spPr>
          <a:xfrm>
            <a:off x="2701862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Team Structure &amp; Ownership</a:t>
            </a:r>
            <a:endParaRPr sz="600">
              <a:solidFill>
                <a:schemeClr val="dk1"/>
              </a:solidFill>
            </a:endParaRPr>
          </a:p>
        </p:txBody>
      </p:sp>
      <p:pic>
        <p:nvPicPr>
          <p:cNvPr id="207" name="Google Shape;207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083175" y="3501691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0"/>
          <p:cNvSpPr txBox="1"/>
          <p:nvPr/>
        </p:nvSpPr>
        <p:spPr>
          <a:xfrm>
            <a:off x="5083187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Discovery &amp; Qualification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09" name="Google Shape;209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029900" y="3501687"/>
            <a:ext cx="1028900" cy="271101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4029837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Prospection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211" name="Google Shape;211;p20"/>
          <p:cNvSpPr/>
          <p:nvPr/>
        </p:nvSpPr>
        <p:spPr>
          <a:xfrm>
            <a:off x="1648512" y="32052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</a:t>
            </a:r>
            <a:endParaRPr/>
          </a:p>
        </p:txBody>
      </p:sp>
      <p:sp>
        <p:nvSpPr>
          <p:cNvPr id="212" name="Google Shape;212;p20"/>
          <p:cNvSpPr/>
          <p:nvPr/>
        </p:nvSpPr>
        <p:spPr>
          <a:xfrm>
            <a:off x="4029837" y="32052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endParaRPr/>
          </a:p>
        </p:txBody>
      </p:sp>
      <p:sp>
        <p:nvSpPr>
          <p:cNvPr id="213" name="Google Shape;213;p20"/>
          <p:cNvSpPr/>
          <p:nvPr/>
        </p:nvSpPr>
        <p:spPr>
          <a:xfrm>
            <a:off x="6411187" y="32052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</a:t>
            </a:r>
            <a:endParaRPr/>
          </a:p>
        </p:txBody>
      </p:sp>
      <p:sp>
        <p:nvSpPr>
          <p:cNvPr id="214" name="Google Shape;214;p20"/>
          <p:cNvSpPr/>
          <p:nvPr/>
        </p:nvSpPr>
        <p:spPr>
          <a:xfrm>
            <a:off x="1648512" y="4194981"/>
            <a:ext cx="6879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endParaRPr/>
          </a:p>
        </p:txBody>
      </p:sp>
      <p:pic>
        <p:nvPicPr>
          <p:cNvPr id="215" name="Google Shape;215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648525" y="3798525"/>
            <a:ext cx="681267" cy="26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349036" y="3798525"/>
            <a:ext cx="681267" cy="26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049558" y="3798525"/>
            <a:ext cx="681267" cy="268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0"/>
          <p:cNvSpPr txBox="1"/>
          <p:nvPr/>
        </p:nvSpPr>
        <p:spPr>
          <a:xfrm>
            <a:off x="1648475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Alignment with Sales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219" name="Google Shape;219;p20"/>
          <p:cNvSpPr txBox="1"/>
          <p:nvPr/>
        </p:nvSpPr>
        <p:spPr>
          <a:xfrm>
            <a:off x="2349025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Campaign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20" name="Google Shape;220;p20"/>
          <p:cNvSpPr txBox="1"/>
          <p:nvPr/>
        </p:nvSpPr>
        <p:spPr>
          <a:xfrm>
            <a:off x="3049550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Full funnel data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21" name="Google Shape;221;p2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647438" y="4499200"/>
            <a:ext cx="2277474" cy="27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3948351" y="4499200"/>
            <a:ext cx="2277474" cy="27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249264" y="4499200"/>
            <a:ext cx="2277474" cy="27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0"/>
          <p:cNvSpPr txBox="1"/>
          <p:nvPr/>
        </p:nvSpPr>
        <p:spPr>
          <a:xfrm>
            <a:off x="3949465" y="4499200"/>
            <a:ext cx="2277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Target-Setting, Compensation Plans, Forecasts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25" name="Google Shape;225;p20"/>
          <p:cNvSpPr txBox="1"/>
          <p:nvPr/>
        </p:nvSpPr>
        <p:spPr>
          <a:xfrm>
            <a:off x="6251309" y="4499125"/>
            <a:ext cx="22776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Toolstack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26" name="Google Shape;226;p20"/>
          <p:cNvSpPr txBox="1"/>
          <p:nvPr/>
        </p:nvSpPr>
        <p:spPr>
          <a:xfrm>
            <a:off x="1647483" y="4499125"/>
            <a:ext cx="2277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Go-to market &amp; process</a:t>
            </a:r>
            <a:endParaRPr sz="600">
              <a:solidFill>
                <a:schemeClr val="dk1"/>
              </a:solidFill>
            </a:endParaRPr>
          </a:p>
        </p:txBody>
      </p:sp>
      <p:pic>
        <p:nvPicPr>
          <p:cNvPr id="227" name="Google Shape;227;p2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4029850" y="3789216"/>
            <a:ext cx="681275" cy="28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4730338" y="3798516"/>
            <a:ext cx="681275" cy="28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430838" y="3798516"/>
            <a:ext cx="681275" cy="287109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0"/>
          <p:cNvSpPr txBox="1"/>
          <p:nvPr/>
        </p:nvSpPr>
        <p:spPr>
          <a:xfrm>
            <a:off x="4029825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Demo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231" name="Google Shape;231;p20"/>
          <p:cNvSpPr txBox="1"/>
          <p:nvPr/>
        </p:nvSpPr>
        <p:spPr>
          <a:xfrm>
            <a:off x="4730375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Proposal &amp; negotiation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32" name="Google Shape;232;p20"/>
          <p:cNvSpPr txBox="1"/>
          <p:nvPr/>
        </p:nvSpPr>
        <p:spPr>
          <a:xfrm>
            <a:off x="5430900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33" name="Google Shape;233;p20" title="hexagon arrow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787253" y="1739955"/>
            <a:ext cx="174650" cy="17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0" title="hexagon arrow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174340" y="1739955"/>
            <a:ext cx="174650" cy="17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0" title="hexagon arrow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787253" y="3557163"/>
            <a:ext cx="174650" cy="17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0" title="hexagon arrow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174340" y="3557163"/>
            <a:ext cx="174650" cy="17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1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2" name="Google Shape;242;p21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3" name="Google Shape;243;p21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Agenda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1064393" y="1574302"/>
            <a:ext cx="2388900" cy="3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Introduction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45" name="Google Shape;245;p2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225376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1"/>
          <p:cNvSpPr txBox="1"/>
          <p:nvPr>
            <p:ph type="ctrTitle"/>
          </p:nvPr>
        </p:nvSpPr>
        <p:spPr>
          <a:xfrm>
            <a:off x="621585" y="225892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47" name="Google Shape;247;p2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0181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1"/>
          <p:cNvSpPr txBox="1"/>
          <p:nvPr>
            <p:ph type="ctrTitle"/>
          </p:nvPr>
        </p:nvSpPr>
        <p:spPr>
          <a:xfrm>
            <a:off x="621585" y="30232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49" name="Google Shape;249;p2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778691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1"/>
          <p:cNvSpPr txBox="1"/>
          <p:nvPr>
            <p:ph type="ctrTitle"/>
          </p:nvPr>
        </p:nvSpPr>
        <p:spPr>
          <a:xfrm>
            <a:off x="609374" y="3783852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1064400" y="2310901"/>
            <a:ext cx="23889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1" lang="fr" sz="1447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Audit findings </a:t>
            </a:r>
            <a:endParaRPr b="1" i="0" sz="1447" u="none" cap="none" strike="noStrike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1064400" y="3014550"/>
            <a:ext cx="34245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Competency-Gap Analysis per Building Block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1064400" y="3827950"/>
            <a:ext cx="32055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6-month Roadmap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54" name="Google Shape;254;p2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14894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1"/>
          <p:cNvSpPr txBox="1"/>
          <p:nvPr>
            <p:ph type="ctrTitle"/>
          </p:nvPr>
        </p:nvSpPr>
        <p:spPr>
          <a:xfrm>
            <a:off x="639903" y="14945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2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2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2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63" name="Google Shape;263;p22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65" name="Google Shape;265;p22"/>
          <p:cNvSpPr txBox="1"/>
          <p:nvPr>
            <p:ph type="ctrTitle"/>
          </p:nvPr>
        </p:nvSpPr>
        <p:spPr>
          <a:xfrm>
            <a:off x="483600" y="750300"/>
            <a:ext cx="30498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 :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66" name="Google Shape;266;p22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7" name="Google Shape;267;p22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8" name="Google Shape;268;p22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69" name="Google Shape;269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2"/>
          <p:cNvSpPr txBox="1"/>
          <p:nvPr/>
        </p:nvSpPr>
        <p:spPr>
          <a:xfrm>
            <a:off x="7862725" y="823491"/>
            <a:ext cx="90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Grade :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483600" y="1545564"/>
            <a:ext cx="1095300" cy="351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Acquisition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72" name="Google Shape;272;p22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Process for headcount planning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3" name="Google Shape;273;p22"/>
          <p:cNvSpPr txBox="1"/>
          <p:nvPr/>
        </p:nvSpPr>
        <p:spPr>
          <a:xfrm>
            <a:off x="1655100" y="17078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Pipeline management and use of data in Talent Acquisition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274" name="Google Shape;274;p22"/>
          <p:cNvCxnSpPr/>
          <p:nvPr/>
        </p:nvCxnSpPr>
        <p:spPr>
          <a:xfrm flipH="1" rot="10800000">
            <a:off x="499033" y="1933993"/>
            <a:ext cx="4434900" cy="126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5" name="Google Shape;275;p22"/>
          <p:cNvSpPr txBox="1"/>
          <p:nvPr/>
        </p:nvSpPr>
        <p:spPr>
          <a:xfrm>
            <a:off x="4911525" y="1880910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6" name="Google Shape;276;p22"/>
          <p:cNvSpPr txBox="1"/>
          <p:nvPr/>
        </p:nvSpPr>
        <p:spPr>
          <a:xfrm>
            <a:off x="6943375" y="1880913"/>
            <a:ext cx="19266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4325112" y="158019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4325112" y="158019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279" name="Google Shape;279;p22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0" name="Google Shape;280;p22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281" name="Google Shape;281;p22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282" name="Google Shape;282;p22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4325112" y="172977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491325" y="1996022"/>
            <a:ext cx="1095300" cy="11511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Hiring Process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85" name="Google Shape;285;p22"/>
          <p:cNvSpPr txBox="1"/>
          <p:nvPr/>
        </p:nvSpPr>
        <p:spPr>
          <a:xfrm>
            <a:off x="1655100" y="198370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Hiring process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6" name="Google Shape;286;p22"/>
          <p:cNvSpPr txBox="1"/>
          <p:nvPr/>
        </p:nvSpPr>
        <p:spPr>
          <a:xfrm>
            <a:off x="1655100" y="212648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Documentation of feedback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7" name="Google Shape;287;p22"/>
          <p:cNvSpPr txBox="1"/>
          <p:nvPr/>
        </p:nvSpPr>
        <p:spPr>
          <a:xfrm>
            <a:off x="1655100" y="2281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Assessment of candidates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8" name="Google Shape;288;p22"/>
          <p:cNvSpPr txBox="1"/>
          <p:nvPr/>
        </p:nvSpPr>
        <p:spPr>
          <a:xfrm>
            <a:off x="1655100" y="242446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Case studies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9" name="Google Shape;289;p22"/>
          <p:cNvSpPr txBox="1"/>
          <p:nvPr/>
        </p:nvSpPr>
        <p:spPr>
          <a:xfrm>
            <a:off x="1655100" y="257967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Evaluation of candidate fit with company values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0" name="Google Shape;290;p22"/>
          <p:cNvSpPr txBox="1"/>
          <p:nvPr/>
        </p:nvSpPr>
        <p:spPr>
          <a:xfrm>
            <a:off x="1655100" y="272245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Hiring committee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1" name="Google Shape;291;p22"/>
          <p:cNvSpPr txBox="1"/>
          <p:nvPr/>
        </p:nvSpPr>
        <p:spPr>
          <a:xfrm>
            <a:off x="1655100" y="28776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Acquisition of interviewing skills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2" name="Google Shape;292;p22"/>
          <p:cNvSpPr txBox="1"/>
          <p:nvPr/>
        </p:nvSpPr>
        <p:spPr>
          <a:xfrm>
            <a:off x="1655100" y="302044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Evaluation of candidates competencies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293" name="Google Shape;293;p22"/>
          <p:cNvCxnSpPr/>
          <p:nvPr/>
        </p:nvCxnSpPr>
        <p:spPr>
          <a:xfrm flipH="1" rot="10800000">
            <a:off x="499033" y="3195350"/>
            <a:ext cx="4443300" cy="12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4" name="Google Shape;294;p22"/>
          <p:cNvSpPr/>
          <p:nvPr/>
        </p:nvSpPr>
        <p:spPr>
          <a:xfrm>
            <a:off x="499025" y="3245979"/>
            <a:ext cx="1095300" cy="4590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Onboarding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95" name="Google Shape;295;p22"/>
          <p:cNvSpPr txBox="1"/>
          <p:nvPr/>
        </p:nvSpPr>
        <p:spPr>
          <a:xfrm>
            <a:off x="1662813" y="326711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onboarding program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6" name="Google Shape;296;p22"/>
          <p:cNvSpPr txBox="1"/>
          <p:nvPr/>
        </p:nvSpPr>
        <p:spPr>
          <a:xfrm>
            <a:off x="1662813" y="340989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Accountability and ownership for decreasing ramp-up time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7" name="Google Shape;297;p22"/>
          <p:cNvSpPr txBox="1"/>
          <p:nvPr/>
        </p:nvSpPr>
        <p:spPr>
          <a:xfrm>
            <a:off x="1662813" y="356509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Presence and check-in of direct line manager during first weeks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298" name="Google Shape;298;p22"/>
          <p:cNvCxnSpPr/>
          <p:nvPr/>
        </p:nvCxnSpPr>
        <p:spPr>
          <a:xfrm flipH="1" rot="10800000">
            <a:off x="499033" y="3752608"/>
            <a:ext cx="4426200" cy="18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9" name="Google Shape;299;p22"/>
          <p:cNvSpPr/>
          <p:nvPr/>
        </p:nvSpPr>
        <p:spPr>
          <a:xfrm>
            <a:off x="483600" y="3803837"/>
            <a:ext cx="1095300" cy="10620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Ramp Up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00" name="Google Shape;300;p22"/>
          <p:cNvSpPr txBox="1"/>
          <p:nvPr/>
        </p:nvSpPr>
        <p:spPr>
          <a:xfrm>
            <a:off x="1662813" y="380885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Peer-to-peer knowledge sharing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1" name="Google Shape;301;p22"/>
          <p:cNvSpPr txBox="1"/>
          <p:nvPr/>
        </p:nvSpPr>
        <p:spPr>
          <a:xfrm>
            <a:off x="1662813" y="395162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Prospect list received day 1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2" name="Google Shape;302;p22"/>
          <p:cNvSpPr txBox="1"/>
          <p:nvPr/>
        </p:nvSpPr>
        <p:spPr>
          <a:xfrm>
            <a:off x="1662813" y="410683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Bank of pitches and demos at disposal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3" name="Google Shape;303;p22"/>
          <p:cNvSpPr txBox="1"/>
          <p:nvPr/>
        </p:nvSpPr>
        <p:spPr>
          <a:xfrm>
            <a:off x="1662813" y="424961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Mock calls and demos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4" name="Google Shape;304;p22"/>
          <p:cNvSpPr txBox="1"/>
          <p:nvPr/>
        </p:nvSpPr>
        <p:spPr>
          <a:xfrm>
            <a:off x="1662813" y="440482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Velocity to acquire confidence in pitching our product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5" name="Google Shape;305;p22"/>
          <p:cNvSpPr txBox="1"/>
          <p:nvPr/>
        </p:nvSpPr>
        <p:spPr>
          <a:xfrm>
            <a:off x="1662813" y="455603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Assessment of the product knowledge of new hires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6" name="Google Shape;306;p22"/>
          <p:cNvSpPr txBox="1"/>
          <p:nvPr/>
        </p:nvSpPr>
        <p:spPr>
          <a:xfrm>
            <a:off x="4911525" y="2728075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7" name="Google Shape;307;p22"/>
          <p:cNvSpPr txBox="1"/>
          <p:nvPr/>
        </p:nvSpPr>
        <p:spPr>
          <a:xfrm>
            <a:off x="4911525" y="3575241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8" name="Google Shape;308;p22"/>
          <p:cNvSpPr txBox="1"/>
          <p:nvPr/>
        </p:nvSpPr>
        <p:spPr>
          <a:xfrm>
            <a:off x="4911525" y="4140017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9" name="Google Shape;309;p22"/>
          <p:cNvSpPr txBox="1"/>
          <p:nvPr/>
        </p:nvSpPr>
        <p:spPr>
          <a:xfrm>
            <a:off x="6943375" y="2728075"/>
            <a:ext cx="19266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0" name="Google Shape;310;p22"/>
          <p:cNvSpPr txBox="1"/>
          <p:nvPr/>
        </p:nvSpPr>
        <p:spPr>
          <a:xfrm>
            <a:off x="6943375" y="3575238"/>
            <a:ext cx="19266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1" name="Google Shape;311;p22"/>
          <p:cNvSpPr txBox="1"/>
          <p:nvPr/>
        </p:nvSpPr>
        <p:spPr>
          <a:xfrm>
            <a:off x="6943375" y="4140013"/>
            <a:ext cx="19266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2" name="Google Shape;312;p22"/>
          <p:cNvSpPr txBox="1"/>
          <p:nvPr/>
        </p:nvSpPr>
        <p:spPr>
          <a:xfrm>
            <a:off x="4911525" y="4422406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3" name="Google Shape;313;p22"/>
          <p:cNvSpPr txBox="1"/>
          <p:nvPr/>
        </p:nvSpPr>
        <p:spPr>
          <a:xfrm>
            <a:off x="4911525" y="3292852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4" name="Google Shape;314;p22"/>
          <p:cNvSpPr txBox="1"/>
          <p:nvPr/>
        </p:nvSpPr>
        <p:spPr>
          <a:xfrm>
            <a:off x="4911525" y="3857629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5" name="Google Shape;315;p22"/>
          <p:cNvSpPr txBox="1"/>
          <p:nvPr/>
        </p:nvSpPr>
        <p:spPr>
          <a:xfrm>
            <a:off x="6943375" y="4422401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6" name="Google Shape;316;p22"/>
          <p:cNvSpPr txBox="1"/>
          <p:nvPr/>
        </p:nvSpPr>
        <p:spPr>
          <a:xfrm>
            <a:off x="6943375" y="3292851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7" name="Google Shape;317;p22"/>
          <p:cNvSpPr txBox="1"/>
          <p:nvPr/>
        </p:nvSpPr>
        <p:spPr>
          <a:xfrm>
            <a:off x="6943375" y="3857626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8" name="Google Shape;318;p22"/>
          <p:cNvSpPr txBox="1"/>
          <p:nvPr/>
        </p:nvSpPr>
        <p:spPr>
          <a:xfrm>
            <a:off x="4911525" y="2445687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9" name="Google Shape;319;p22"/>
          <p:cNvSpPr txBox="1"/>
          <p:nvPr/>
        </p:nvSpPr>
        <p:spPr>
          <a:xfrm>
            <a:off x="6943375" y="2445688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0" name="Google Shape;320;p22"/>
          <p:cNvSpPr txBox="1"/>
          <p:nvPr/>
        </p:nvSpPr>
        <p:spPr>
          <a:xfrm>
            <a:off x="1655213" y="470983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Immediate course-correction of knowledge gaps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1" name="Google Shape;321;p22"/>
          <p:cNvSpPr/>
          <p:nvPr/>
        </p:nvSpPr>
        <p:spPr>
          <a:xfrm>
            <a:off x="4325112" y="172978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2" name="Google Shape;322;p22"/>
          <p:cNvSpPr/>
          <p:nvPr/>
        </p:nvSpPr>
        <p:spPr>
          <a:xfrm>
            <a:off x="4325112" y="200939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3" name="Google Shape;323;p22"/>
          <p:cNvSpPr/>
          <p:nvPr/>
        </p:nvSpPr>
        <p:spPr>
          <a:xfrm>
            <a:off x="4325112" y="214873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4" name="Google Shape;324;p22"/>
          <p:cNvSpPr/>
          <p:nvPr/>
        </p:nvSpPr>
        <p:spPr>
          <a:xfrm>
            <a:off x="4325112" y="230675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5" name="Google Shape;325;p22"/>
          <p:cNvSpPr/>
          <p:nvPr/>
        </p:nvSpPr>
        <p:spPr>
          <a:xfrm>
            <a:off x="4325112" y="245328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6" name="Google Shape;326;p22"/>
          <p:cNvSpPr/>
          <p:nvPr/>
        </p:nvSpPr>
        <p:spPr>
          <a:xfrm>
            <a:off x="4325112" y="259701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7" name="Google Shape;327;p22"/>
          <p:cNvSpPr/>
          <p:nvPr/>
        </p:nvSpPr>
        <p:spPr>
          <a:xfrm>
            <a:off x="4325112" y="273734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8" name="Google Shape;328;p22"/>
          <p:cNvSpPr/>
          <p:nvPr/>
        </p:nvSpPr>
        <p:spPr>
          <a:xfrm>
            <a:off x="4325112" y="289500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9" name="Google Shape;329;p22"/>
          <p:cNvSpPr/>
          <p:nvPr/>
        </p:nvSpPr>
        <p:spPr>
          <a:xfrm>
            <a:off x="4325112" y="304722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0" name="Google Shape;330;p22"/>
          <p:cNvSpPr/>
          <p:nvPr/>
        </p:nvSpPr>
        <p:spPr>
          <a:xfrm>
            <a:off x="4325112" y="329273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1" name="Google Shape;331;p22"/>
          <p:cNvSpPr/>
          <p:nvPr/>
        </p:nvSpPr>
        <p:spPr>
          <a:xfrm>
            <a:off x="4325112" y="343295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2" name="Google Shape;332;p22"/>
          <p:cNvSpPr/>
          <p:nvPr/>
        </p:nvSpPr>
        <p:spPr>
          <a:xfrm>
            <a:off x="4325112" y="359227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3" name="Google Shape;333;p22"/>
          <p:cNvSpPr/>
          <p:nvPr/>
        </p:nvSpPr>
        <p:spPr>
          <a:xfrm>
            <a:off x="4325112" y="383930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4" name="Google Shape;334;p22"/>
          <p:cNvSpPr/>
          <p:nvPr/>
        </p:nvSpPr>
        <p:spPr>
          <a:xfrm>
            <a:off x="4325112" y="397979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5" name="Google Shape;335;p22"/>
          <p:cNvSpPr/>
          <p:nvPr/>
        </p:nvSpPr>
        <p:spPr>
          <a:xfrm>
            <a:off x="4325112" y="412417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6" name="Google Shape;336;p22"/>
          <p:cNvSpPr/>
          <p:nvPr/>
        </p:nvSpPr>
        <p:spPr>
          <a:xfrm>
            <a:off x="4325112" y="426450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7" name="Google Shape;337;p22"/>
          <p:cNvSpPr/>
          <p:nvPr/>
        </p:nvSpPr>
        <p:spPr>
          <a:xfrm>
            <a:off x="4325112" y="443309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8" name="Google Shape;338;p22"/>
          <p:cNvSpPr/>
          <p:nvPr/>
        </p:nvSpPr>
        <p:spPr>
          <a:xfrm>
            <a:off x="4325112" y="457882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9" name="Google Shape;339;p22"/>
          <p:cNvSpPr/>
          <p:nvPr/>
        </p:nvSpPr>
        <p:spPr>
          <a:xfrm>
            <a:off x="4325112" y="473949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0" name="Google Shape;340;p22"/>
          <p:cNvSpPr/>
          <p:nvPr/>
        </p:nvSpPr>
        <p:spPr>
          <a:xfrm>
            <a:off x="4325112" y="200940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1" name="Google Shape;341;p22"/>
          <p:cNvSpPr/>
          <p:nvPr/>
        </p:nvSpPr>
        <p:spPr>
          <a:xfrm>
            <a:off x="4325112" y="230676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2" name="Google Shape;342;p22"/>
          <p:cNvSpPr/>
          <p:nvPr/>
        </p:nvSpPr>
        <p:spPr>
          <a:xfrm>
            <a:off x="4325112" y="245329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3" name="Google Shape;343;p22"/>
          <p:cNvSpPr/>
          <p:nvPr/>
        </p:nvSpPr>
        <p:spPr>
          <a:xfrm>
            <a:off x="4325112" y="259702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4" name="Google Shape;344;p22"/>
          <p:cNvSpPr/>
          <p:nvPr/>
        </p:nvSpPr>
        <p:spPr>
          <a:xfrm>
            <a:off x="4325112" y="273734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5" name="Google Shape;345;p22"/>
          <p:cNvSpPr/>
          <p:nvPr/>
        </p:nvSpPr>
        <p:spPr>
          <a:xfrm>
            <a:off x="4325112" y="289501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6" name="Google Shape;346;p22"/>
          <p:cNvSpPr/>
          <p:nvPr/>
        </p:nvSpPr>
        <p:spPr>
          <a:xfrm>
            <a:off x="4325112" y="304723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7" name="Google Shape;347;p22"/>
          <p:cNvSpPr/>
          <p:nvPr/>
        </p:nvSpPr>
        <p:spPr>
          <a:xfrm>
            <a:off x="4325112" y="329619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8" name="Google Shape;348;p22"/>
          <p:cNvSpPr/>
          <p:nvPr/>
        </p:nvSpPr>
        <p:spPr>
          <a:xfrm>
            <a:off x="4325112" y="343194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9" name="Google Shape;349;p22"/>
          <p:cNvSpPr/>
          <p:nvPr/>
        </p:nvSpPr>
        <p:spPr>
          <a:xfrm>
            <a:off x="4325112" y="359228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0" name="Google Shape;350;p22"/>
          <p:cNvSpPr/>
          <p:nvPr/>
        </p:nvSpPr>
        <p:spPr>
          <a:xfrm>
            <a:off x="4325112" y="383931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1" name="Google Shape;351;p22"/>
          <p:cNvSpPr/>
          <p:nvPr/>
        </p:nvSpPr>
        <p:spPr>
          <a:xfrm>
            <a:off x="4325112" y="397980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2" name="Google Shape;352;p22"/>
          <p:cNvSpPr/>
          <p:nvPr/>
        </p:nvSpPr>
        <p:spPr>
          <a:xfrm>
            <a:off x="4325112" y="412623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3" name="Google Shape;353;p22"/>
          <p:cNvSpPr/>
          <p:nvPr/>
        </p:nvSpPr>
        <p:spPr>
          <a:xfrm>
            <a:off x="4325112" y="426195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4" name="Google Shape;354;p22"/>
          <p:cNvSpPr/>
          <p:nvPr/>
        </p:nvSpPr>
        <p:spPr>
          <a:xfrm>
            <a:off x="4325112" y="443115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5" name="Google Shape;355;p22"/>
          <p:cNvSpPr/>
          <p:nvPr/>
        </p:nvSpPr>
        <p:spPr>
          <a:xfrm>
            <a:off x="4325112" y="458088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6" name="Google Shape;356;p22"/>
          <p:cNvSpPr/>
          <p:nvPr/>
        </p:nvSpPr>
        <p:spPr>
          <a:xfrm>
            <a:off x="4325112" y="473950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7" name="Google Shape;357;p22"/>
          <p:cNvSpPr txBox="1"/>
          <p:nvPr>
            <p:ph type="ctrTitle"/>
          </p:nvPr>
        </p:nvSpPr>
        <p:spPr>
          <a:xfrm>
            <a:off x="3246094" y="7410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58" name="Google Shape;358;p22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59" name="Google Shape;359;p22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0" name="Google Shape;360;p22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1" name="Google Shape;361;p22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2" name="Google Shape;362;p22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3" name="Google Shape;363;p22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4" name="Google Shape;364;p22"/>
          <p:cNvSpPr txBox="1"/>
          <p:nvPr/>
        </p:nvSpPr>
        <p:spPr>
          <a:xfrm>
            <a:off x="4911525" y="3010464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5" name="Google Shape;365;p22"/>
          <p:cNvSpPr txBox="1"/>
          <p:nvPr/>
        </p:nvSpPr>
        <p:spPr>
          <a:xfrm>
            <a:off x="4911525" y="1598522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6" name="Google Shape;366;p22"/>
          <p:cNvSpPr txBox="1"/>
          <p:nvPr/>
        </p:nvSpPr>
        <p:spPr>
          <a:xfrm>
            <a:off x="4911525" y="2163299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7" name="Google Shape;367;p22"/>
          <p:cNvSpPr txBox="1"/>
          <p:nvPr/>
        </p:nvSpPr>
        <p:spPr>
          <a:xfrm>
            <a:off x="6943375" y="3010463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8" name="Google Shape;368;p22"/>
          <p:cNvSpPr txBox="1"/>
          <p:nvPr/>
        </p:nvSpPr>
        <p:spPr>
          <a:xfrm>
            <a:off x="6943375" y="1598525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9" name="Google Shape;369;p22"/>
          <p:cNvSpPr txBox="1"/>
          <p:nvPr/>
        </p:nvSpPr>
        <p:spPr>
          <a:xfrm>
            <a:off x="6943375" y="2163300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370" name="Google Shape;370;p22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371" name="Google Shape;371;p22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72" name="Google Shape;372;p22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73" name="Google Shape;373;p22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74" name="Google Shape;374;p22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375" name="Google Shape;375;p22"/>
          <p:cNvSpPr/>
          <p:nvPr/>
        </p:nvSpPr>
        <p:spPr>
          <a:xfrm>
            <a:off x="4959425" y="3581100"/>
            <a:ext cx="3910500" cy="30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376" name="Google Shape;376;p22"/>
          <p:cNvSpPr/>
          <p:nvPr/>
        </p:nvSpPr>
        <p:spPr>
          <a:xfrm>
            <a:off x="4959425" y="4439925"/>
            <a:ext cx="3910500" cy="30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377" name="Google Shape;377;p22"/>
          <p:cNvSpPr/>
          <p:nvPr/>
        </p:nvSpPr>
        <p:spPr>
          <a:xfrm>
            <a:off x="4959425" y="2451250"/>
            <a:ext cx="39105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378" name="Google Shape;378;p22"/>
          <p:cNvSpPr/>
          <p:nvPr/>
        </p:nvSpPr>
        <p:spPr>
          <a:xfrm>
            <a:off x="4959425" y="1891975"/>
            <a:ext cx="39105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379" name="Google Shape;379;p22"/>
          <p:cNvSpPr/>
          <p:nvPr/>
        </p:nvSpPr>
        <p:spPr>
          <a:xfrm>
            <a:off x="4959425" y="2765200"/>
            <a:ext cx="3910500" cy="30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pic>
        <p:nvPicPr>
          <p:cNvPr id="380" name="Google Shape;380;p22"/>
          <p:cNvPicPr preferRelativeResize="0"/>
          <p:nvPr/>
        </p:nvPicPr>
        <p:blipFill rotWithShape="1">
          <a:blip r:embed="rId6">
            <a:alphaModFix/>
          </a:blip>
          <a:srcRect b="30840" l="8005" r="13668" t="11300"/>
          <a:stretch/>
        </p:blipFill>
        <p:spPr>
          <a:xfrm>
            <a:off x="264304" y="686268"/>
            <a:ext cx="219300" cy="24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3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3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3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88" name="Google Shape;388;p23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89" name="Google Shape;389;p23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90" name="Google Shape;390;p23"/>
          <p:cNvSpPr txBox="1"/>
          <p:nvPr>
            <p:ph type="ctrTitle"/>
          </p:nvPr>
        </p:nvSpPr>
        <p:spPr>
          <a:xfrm>
            <a:off x="483600" y="750300"/>
            <a:ext cx="2418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391" name="Google Shape;391;p23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92" name="Google Shape;392;p23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93" name="Google Shape;393;p23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394" name="Google Shape;394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23"/>
          <p:cNvSpPr txBox="1"/>
          <p:nvPr/>
        </p:nvSpPr>
        <p:spPr>
          <a:xfrm>
            <a:off x="7862731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Grade 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96" name="Google Shape;396;p23"/>
          <p:cNvSpPr/>
          <p:nvPr/>
        </p:nvSpPr>
        <p:spPr>
          <a:xfrm>
            <a:off x="483600" y="1545599"/>
            <a:ext cx="1095300" cy="8280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Knowledge Management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97" name="Google Shape;397;p23"/>
          <p:cNvSpPr txBox="1"/>
          <p:nvPr/>
        </p:nvSpPr>
        <p:spPr>
          <a:xfrm>
            <a:off x="1655100" y="153926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Documentation culture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8" name="Google Shape;398;p23"/>
          <p:cNvSpPr txBox="1"/>
          <p:nvPr/>
        </p:nvSpPr>
        <p:spPr>
          <a:xfrm>
            <a:off x="1655100" y="168103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Capture and Organize Knowledge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399" name="Google Shape;399;p23"/>
          <p:cNvCxnSpPr/>
          <p:nvPr/>
        </p:nvCxnSpPr>
        <p:spPr>
          <a:xfrm flipH="1" rot="10800000">
            <a:off x="499033" y="2396593"/>
            <a:ext cx="4434900" cy="66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0" name="Google Shape;400;p23"/>
          <p:cNvSpPr txBox="1"/>
          <p:nvPr/>
        </p:nvSpPr>
        <p:spPr>
          <a:xfrm>
            <a:off x="4950393" y="3565700"/>
            <a:ext cx="19029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1" name="Google Shape;401;p23"/>
          <p:cNvSpPr txBox="1"/>
          <p:nvPr/>
        </p:nvSpPr>
        <p:spPr>
          <a:xfrm>
            <a:off x="6943375" y="3538501"/>
            <a:ext cx="19512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2" name="Google Shape;402;p23"/>
          <p:cNvSpPr/>
          <p:nvPr/>
        </p:nvSpPr>
        <p:spPr>
          <a:xfrm>
            <a:off x="4325112" y="156676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3" name="Google Shape;403;p23"/>
          <p:cNvSpPr/>
          <p:nvPr/>
        </p:nvSpPr>
        <p:spPr>
          <a:xfrm>
            <a:off x="4325112" y="156676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404" name="Google Shape;404;p23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5" name="Google Shape;405;p23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406" name="Google Shape;406;p23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407" name="Google Shape;407;p23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408" name="Google Shape;408;p23"/>
          <p:cNvSpPr/>
          <p:nvPr/>
        </p:nvSpPr>
        <p:spPr>
          <a:xfrm>
            <a:off x="4325112" y="170963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9" name="Google Shape;409;p23"/>
          <p:cNvSpPr/>
          <p:nvPr/>
        </p:nvSpPr>
        <p:spPr>
          <a:xfrm>
            <a:off x="491325" y="2436800"/>
            <a:ext cx="1095300" cy="517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Collaterals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10" name="Google Shape;410;p23"/>
          <p:cNvSpPr txBox="1"/>
          <p:nvPr/>
        </p:nvSpPr>
        <p:spPr>
          <a:xfrm>
            <a:off x="1655100" y="182254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Knowledge Sharing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1" name="Google Shape;411;p23"/>
          <p:cNvSpPr txBox="1"/>
          <p:nvPr/>
        </p:nvSpPr>
        <p:spPr>
          <a:xfrm>
            <a:off x="1655100" y="19586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Training and Onboarding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2" name="Google Shape;412;p23"/>
          <p:cNvSpPr txBox="1"/>
          <p:nvPr/>
        </p:nvSpPr>
        <p:spPr>
          <a:xfrm>
            <a:off x="1655100" y="2093676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Continuous Learning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3" name="Google Shape;413;p23"/>
          <p:cNvSpPr txBox="1"/>
          <p:nvPr/>
        </p:nvSpPr>
        <p:spPr>
          <a:xfrm>
            <a:off x="1655100" y="223645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Feedback and Improvement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4" name="Google Shape;414;p23"/>
          <p:cNvSpPr txBox="1"/>
          <p:nvPr/>
        </p:nvSpPr>
        <p:spPr>
          <a:xfrm>
            <a:off x="1655100" y="243195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Importance of sales enablement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23"/>
          <p:cNvSpPr txBox="1"/>
          <p:nvPr/>
        </p:nvSpPr>
        <p:spPr>
          <a:xfrm>
            <a:off x="1655100" y="255458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enablement platform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6" name="Google Shape;416;p23"/>
          <p:cNvSpPr txBox="1"/>
          <p:nvPr/>
        </p:nvSpPr>
        <p:spPr>
          <a:xfrm>
            <a:off x="1655100" y="267621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enablement materials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7" name="Google Shape;417;p23"/>
          <p:cNvSpPr txBox="1"/>
          <p:nvPr/>
        </p:nvSpPr>
        <p:spPr>
          <a:xfrm>
            <a:off x="1655100" y="279885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Monitoring of results of sales enablement actions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418" name="Google Shape;418;p23"/>
          <p:cNvCxnSpPr/>
          <p:nvPr/>
        </p:nvCxnSpPr>
        <p:spPr>
          <a:xfrm flipH="1" rot="10800000">
            <a:off x="499033" y="2988208"/>
            <a:ext cx="4434900" cy="69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19" name="Google Shape;419;p23"/>
          <p:cNvSpPr/>
          <p:nvPr/>
        </p:nvSpPr>
        <p:spPr>
          <a:xfrm>
            <a:off x="499025" y="3031099"/>
            <a:ext cx="1095300" cy="517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Playbooks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1662813" y="301866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Playbook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1662813" y="314130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Accuracy of Playbook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1662813" y="326965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Leveraging top performers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423" name="Google Shape;423;p23"/>
          <p:cNvCxnSpPr/>
          <p:nvPr/>
        </p:nvCxnSpPr>
        <p:spPr>
          <a:xfrm flipH="1" rot="10800000">
            <a:off x="499033" y="3575308"/>
            <a:ext cx="4430400" cy="45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4" name="Google Shape;424;p23"/>
          <p:cNvSpPr/>
          <p:nvPr/>
        </p:nvSpPr>
        <p:spPr>
          <a:xfrm>
            <a:off x="483600" y="3611300"/>
            <a:ext cx="1095300" cy="12546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Training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1662813" y="385585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trainer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1662813" y="399191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 the trainer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1662813" y="413369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Curriculum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1662813" y="427647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Training quality measurement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1662813" y="441825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Training ROI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1662813" y="4562746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Manager's involvement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4950393" y="400826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4950393" y="1761876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3" name="Google Shape;433;p23"/>
          <p:cNvSpPr txBox="1"/>
          <p:nvPr/>
        </p:nvSpPr>
        <p:spPr>
          <a:xfrm>
            <a:off x="6943375" y="4066379"/>
            <a:ext cx="19512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4" name="Google Shape;434;p23"/>
          <p:cNvSpPr txBox="1"/>
          <p:nvPr/>
        </p:nvSpPr>
        <p:spPr>
          <a:xfrm>
            <a:off x="6943375" y="1762275"/>
            <a:ext cx="17985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5" name="Google Shape;435;p23"/>
          <p:cNvSpPr txBox="1"/>
          <p:nvPr/>
        </p:nvSpPr>
        <p:spPr>
          <a:xfrm>
            <a:off x="4950393" y="3069708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6" name="Google Shape;436;p23"/>
          <p:cNvSpPr txBox="1"/>
          <p:nvPr/>
        </p:nvSpPr>
        <p:spPr>
          <a:xfrm>
            <a:off x="4950393" y="3287635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7" name="Google Shape;437;p23"/>
          <p:cNvSpPr txBox="1"/>
          <p:nvPr/>
        </p:nvSpPr>
        <p:spPr>
          <a:xfrm>
            <a:off x="4950393" y="2420997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8" name="Google Shape;438;p23"/>
          <p:cNvSpPr txBox="1"/>
          <p:nvPr/>
        </p:nvSpPr>
        <p:spPr>
          <a:xfrm>
            <a:off x="6943375" y="3063551"/>
            <a:ext cx="1937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9" name="Google Shape;439;p23"/>
          <p:cNvSpPr txBox="1"/>
          <p:nvPr/>
        </p:nvSpPr>
        <p:spPr>
          <a:xfrm>
            <a:off x="6943375" y="3283701"/>
            <a:ext cx="1937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0" name="Google Shape;440;p23"/>
          <p:cNvSpPr txBox="1"/>
          <p:nvPr/>
        </p:nvSpPr>
        <p:spPr>
          <a:xfrm>
            <a:off x="6943375" y="2388175"/>
            <a:ext cx="19371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1" name="Google Shape;441;p23"/>
          <p:cNvSpPr txBox="1"/>
          <p:nvPr/>
        </p:nvSpPr>
        <p:spPr>
          <a:xfrm>
            <a:off x="4950393" y="3771725"/>
            <a:ext cx="1942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2" name="Google Shape;442;p23"/>
          <p:cNvSpPr txBox="1"/>
          <p:nvPr/>
        </p:nvSpPr>
        <p:spPr>
          <a:xfrm>
            <a:off x="6943375" y="3783351"/>
            <a:ext cx="1937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3" name="Google Shape;443;p23"/>
          <p:cNvSpPr txBox="1"/>
          <p:nvPr/>
        </p:nvSpPr>
        <p:spPr>
          <a:xfrm>
            <a:off x="1655213" y="471654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4" name="Google Shape;444;p23"/>
          <p:cNvSpPr/>
          <p:nvPr/>
        </p:nvSpPr>
        <p:spPr>
          <a:xfrm>
            <a:off x="4325112" y="170964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5" name="Google Shape;445;p23"/>
          <p:cNvSpPr/>
          <p:nvPr/>
        </p:nvSpPr>
        <p:spPr>
          <a:xfrm>
            <a:off x="4325112" y="184824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6" name="Google Shape;446;p23"/>
          <p:cNvSpPr/>
          <p:nvPr/>
        </p:nvSpPr>
        <p:spPr>
          <a:xfrm>
            <a:off x="4325112" y="198086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7" name="Google Shape;447;p23"/>
          <p:cNvSpPr/>
          <p:nvPr/>
        </p:nvSpPr>
        <p:spPr>
          <a:xfrm>
            <a:off x="4325112" y="211873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8" name="Google Shape;448;p23"/>
          <p:cNvSpPr/>
          <p:nvPr/>
        </p:nvSpPr>
        <p:spPr>
          <a:xfrm>
            <a:off x="4325112" y="226527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9" name="Google Shape;449;p23"/>
          <p:cNvSpPr/>
          <p:nvPr/>
        </p:nvSpPr>
        <p:spPr>
          <a:xfrm>
            <a:off x="4325112" y="246272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0" name="Google Shape;450;p23"/>
          <p:cNvSpPr/>
          <p:nvPr/>
        </p:nvSpPr>
        <p:spPr>
          <a:xfrm>
            <a:off x="4325112" y="258290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4325112" y="270027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4325112" y="281892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3" name="Google Shape;453;p23"/>
          <p:cNvSpPr/>
          <p:nvPr/>
        </p:nvSpPr>
        <p:spPr>
          <a:xfrm>
            <a:off x="4325112" y="304428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4" name="Google Shape;454;p23"/>
          <p:cNvSpPr/>
          <p:nvPr/>
        </p:nvSpPr>
        <p:spPr>
          <a:xfrm>
            <a:off x="4325112" y="316436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5" name="Google Shape;455;p23"/>
          <p:cNvSpPr/>
          <p:nvPr/>
        </p:nvSpPr>
        <p:spPr>
          <a:xfrm>
            <a:off x="4325112" y="329682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6" name="Google Shape;456;p23"/>
          <p:cNvSpPr/>
          <p:nvPr/>
        </p:nvSpPr>
        <p:spPr>
          <a:xfrm>
            <a:off x="4325112" y="342298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7" name="Google Shape;457;p23"/>
          <p:cNvSpPr/>
          <p:nvPr/>
        </p:nvSpPr>
        <p:spPr>
          <a:xfrm>
            <a:off x="4325112" y="361048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8" name="Google Shape;458;p23"/>
          <p:cNvSpPr/>
          <p:nvPr/>
        </p:nvSpPr>
        <p:spPr>
          <a:xfrm>
            <a:off x="4325112" y="374815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9" name="Google Shape;459;p23"/>
          <p:cNvSpPr/>
          <p:nvPr/>
        </p:nvSpPr>
        <p:spPr>
          <a:xfrm>
            <a:off x="4325112" y="387504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0" name="Google Shape;460;p23"/>
          <p:cNvSpPr/>
          <p:nvPr/>
        </p:nvSpPr>
        <p:spPr>
          <a:xfrm>
            <a:off x="4325112" y="401677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1" name="Google Shape;461;p23"/>
          <p:cNvSpPr/>
          <p:nvPr/>
        </p:nvSpPr>
        <p:spPr>
          <a:xfrm>
            <a:off x="4325112" y="415579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2" name="Google Shape;462;p23"/>
          <p:cNvSpPr/>
          <p:nvPr/>
        </p:nvSpPr>
        <p:spPr>
          <a:xfrm>
            <a:off x="4325112" y="42963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3" name="Google Shape;463;p23"/>
          <p:cNvSpPr/>
          <p:nvPr/>
        </p:nvSpPr>
        <p:spPr>
          <a:xfrm>
            <a:off x="4325112" y="184825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4" name="Google Shape;464;p23"/>
          <p:cNvSpPr/>
          <p:nvPr/>
        </p:nvSpPr>
        <p:spPr>
          <a:xfrm>
            <a:off x="4325112" y="198014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5" name="Google Shape;465;p23"/>
          <p:cNvSpPr/>
          <p:nvPr/>
        </p:nvSpPr>
        <p:spPr>
          <a:xfrm>
            <a:off x="4325112" y="212270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6" name="Google Shape;466;p23"/>
          <p:cNvSpPr/>
          <p:nvPr/>
        </p:nvSpPr>
        <p:spPr>
          <a:xfrm>
            <a:off x="4325112" y="226528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7" name="Google Shape;467;p23"/>
          <p:cNvSpPr/>
          <p:nvPr/>
        </p:nvSpPr>
        <p:spPr>
          <a:xfrm>
            <a:off x="4325112" y="246272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8" name="Google Shape;468;p23"/>
          <p:cNvSpPr/>
          <p:nvPr/>
        </p:nvSpPr>
        <p:spPr>
          <a:xfrm>
            <a:off x="4325112" y="258290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9" name="Google Shape;469;p23"/>
          <p:cNvSpPr/>
          <p:nvPr/>
        </p:nvSpPr>
        <p:spPr>
          <a:xfrm>
            <a:off x="4325112" y="270028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0" name="Google Shape;470;p23"/>
          <p:cNvSpPr/>
          <p:nvPr/>
        </p:nvSpPr>
        <p:spPr>
          <a:xfrm>
            <a:off x="4325112" y="284413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1" name="Google Shape;471;p23"/>
          <p:cNvSpPr/>
          <p:nvPr/>
        </p:nvSpPr>
        <p:spPr>
          <a:xfrm>
            <a:off x="4325112" y="304774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2" name="Google Shape;472;p23"/>
          <p:cNvSpPr/>
          <p:nvPr/>
        </p:nvSpPr>
        <p:spPr>
          <a:xfrm>
            <a:off x="4325112" y="31654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3" name="Google Shape;473;p23"/>
          <p:cNvSpPr/>
          <p:nvPr/>
        </p:nvSpPr>
        <p:spPr>
          <a:xfrm>
            <a:off x="4325112" y="329683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4" name="Google Shape;474;p23"/>
          <p:cNvSpPr/>
          <p:nvPr/>
        </p:nvSpPr>
        <p:spPr>
          <a:xfrm>
            <a:off x="4325112" y="342299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5" name="Google Shape;475;p23"/>
          <p:cNvSpPr/>
          <p:nvPr/>
        </p:nvSpPr>
        <p:spPr>
          <a:xfrm>
            <a:off x="4325112" y="361049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6" name="Google Shape;476;p23"/>
          <p:cNvSpPr/>
          <p:nvPr/>
        </p:nvSpPr>
        <p:spPr>
          <a:xfrm>
            <a:off x="4325112" y="375559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7" name="Google Shape;477;p23"/>
          <p:cNvSpPr/>
          <p:nvPr/>
        </p:nvSpPr>
        <p:spPr>
          <a:xfrm>
            <a:off x="4325112" y="388322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8" name="Google Shape;478;p23"/>
          <p:cNvSpPr/>
          <p:nvPr/>
        </p:nvSpPr>
        <p:spPr>
          <a:xfrm>
            <a:off x="4325112" y="401483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9" name="Google Shape;479;p23"/>
          <p:cNvSpPr txBox="1"/>
          <p:nvPr/>
        </p:nvSpPr>
        <p:spPr>
          <a:xfrm>
            <a:off x="1655225" y="3397400"/>
            <a:ext cx="19665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Ownership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0" name="Google Shape;480;p23"/>
          <p:cNvSpPr/>
          <p:nvPr/>
        </p:nvSpPr>
        <p:spPr>
          <a:xfrm>
            <a:off x="4325112" y="415785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1" name="Google Shape;481;p23"/>
          <p:cNvSpPr txBox="1"/>
          <p:nvPr/>
        </p:nvSpPr>
        <p:spPr>
          <a:xfrm>
            <a:off x="1663949" y="3721725"/>
            <a:ext cx="18645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Training calendar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2" name="Google Shape;482;p23"/>
          <p:cNvSpPr txBox="1"/>
          <p:nvPr/>
        </p:nvSpPr>
        <p:spPr>
          <a:xfrm>
            <a:off x="1663926" y="3583900"/>
            <a:ext cx="19029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On-boarding including sales training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3" name="Google Shape;483;p23"/>
          <p:cNvSpPr/>
          <p:nvPr/>
        </p:nvSpPr>
        <p:spPr>
          <a:xfrm>
            <a:off x="4325112" y="444315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4" name="Google Shape;484;p23"/>
          <p:cNvSpPr/>
          <p:nvPr/>
        </p:nvSpPr>
        <p:spPr>
          <a:xfrm>
            <a:off x="4325112" y="458655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5" name="Google Shape;485;p23"/>
          <p:cNvSpPr/>
          <p:nvPr/>
        </p:nvSpPr>
        <p:spPr>
          <a:xfrm>
            <a:off x="4325112" y="473615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6" name="Google Shape;486;p23"/>
          <p:cNvSpPr/>
          <p:nvPr/>
        </p:nvSpPr>
        <p:spPr>
          <a:xfrm>
            <a:off x="4325112" y="444196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7" name="Google Shape;487;p23"/>
          <p:cNvSpPr/>
          <p:nvPr/>
        </p:nvSpPr>
        <p:spPr>
          <a:xfrm>
            <a:off x="4325112" y="458423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8" name="Google Shape;488;p23"/>
          <p:cNvSpPr/>
          <p:nvPr/>
        </p:nvSpPr>
        <p:spPr>
          <a:xfrm>
            <a:off x="4325112" y="473735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9" name="Google Shape;489;p23"/>
          <p:cNvSpPr txBox="1"/>
          <p:nvPr>
            <p:ph type="ctrTitle"/>
          </p:nvPr>
        </p:nvSpPr>
        <p:spPr>
          <a:xfrm>
            <a:off x="2641766" y="7410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2.2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90" name="Google Shape;490;p23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91" name="Google Shape;491;p23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92" name="Google Shape;492;p23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93" name="Google Shape;493;p23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94" name="Google Shape;494;p23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95" name="Google Shape;495;p23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96" name="Google Shape;496;p23"/>
          <p:cNvSpPr txBox="1"/>
          <p:nvPr/>
        </p:nvSpPr>
        <p:spPr>
          <a:xfrm>
            <a:off x="4950393" y="2173849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rgbClr val="1F1F1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rgbClr val="1F1F1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97" name="Google Shape;497;p23"/>
          <p:cNvSpPr txBox="1"/>
          <p:nvPr/>
        </p:nvSpPr>
        <p:spPr>
          <a:xfrm>
            <a:off x="4950393" y="455454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98" name="Google Shape;498;p23"/>
          <p:cNvSpPr txBox="1"/>
          <p:nvPr/>
        </p:nvSpPr>
        <p:spPr>
          <a:xfrm>
            <a:off x="4950393" y="259525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99" name="Google Shape;499;p23"/>
          <p:cNvSpPr txBox="1"/>
          <p:nvPr/>
        </p:nvSpPr>
        <p:spPr>
          <a:xfrm>
            <a:off x="6943375" y="2145025"/>
            <a:ext cx="17856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rgbClr val="1F1F1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rgbClr val="1F1F1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0" name="Google Shape;500;p23"/>
          <p:cNvSpPr txBox="1"/>
          <p:nvPr/>
        </p:nvSpPr>
        <p:spPr>
          <a:xfrm>
            <a:off x="6943375" y="4551150"/>
            <a:ext cx="1942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1" name="Google Shape;501;p23"/>
          <p:cNvSpPr txBox="1"/>
          <p:nvPr/>
        </p:nvSpPr>
        <p:spPr>
          <a:xfrm>
            <a:off x="6943375" y="2583970"/>
            <a:ext cx="19371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2" name="Google Shape;502;p23"/>
          <p:cNvSpPr txBox="1"/>
          <p:nvPr/>
        </p:nvSpPr>
        <p:spPr>
          <a:xfrm>
            <a:off x="4950393" y="1565163"/>
            <a:ext cx="1902900" cy="19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rgbClr val="1F1F1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rgbClr val="1F1F1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3" name="Google Shape;503;p23"/>
          <p:cNvSpPr txBox="1"/>
          <p:nvPr/>
        </p:nvSpPr>
        <p:spPr>
          <a:xfrm>
            <a:off x="6943375" y="1532863"/>
            <a:ext cx="19665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rgbClr val="1F1F1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rgbClr val="1F1F1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4" name="Google Shape;504;p23"/>
          <p:cNvSpPr txBox="1"/>
          <p:nvPr/>
        </p:nvSpPr>
        <p:spPr>
          <a:xfrm>
            <a:off x="4950393" y="2856973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5" name="Google Shape;505;p23"/>
          <p:cNvSpPr txBox="1"/>
          <p:nvPr/>
        </p:nvSpPr>
        <p:spPr>
          <a:xfrm>
            <a:off x="6943375" y="2837792"/>
            <a:ext cx="19371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6" name="Google Shape;506;p23"/>
          <p:cNvSpPr txBox="1"/>
          <p:nvPr/>
        </p:nvSpPr>
        <p:spPr>
          <a:xfrm>
            <a:off x="4950393" y="1942113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7" name="Google Shape;507;p23"/>
          <p:cNvSpPr txBox="1"/>
          <p:nvPr/>
        </p:nvSpPr>
        <p:spPr>
          <a:xfrm>
            <a:off x="6943375" y="1968150"/>
            <a:ext cx="17856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8" name="Google Shape;508;p23"/>
          <p:cNvSpPr txBox="1"/>
          <p:nvPr/>
        </p:nvSpPr>
        <p:spPr>
          <a:xfrm>
            <a:off x="4950393" y="4282625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9" name="Google Shape;509;p23"/>
          <p:cNvSpPr txBox="1"/>
          <p:nvPr/>
        </p:nvSpPr>
        <p:spPr>
          <a:xfrm>
            <a:off x="6943375" y="4308650"/>
            <a:ext cx="1937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510" name="Google Shape;510;p23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511" name="Google Shape;511;p23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12" name="Google Shape;512;p23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13" name="Google Shape;513;p23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14" name="Google Shape;514;p23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515" name="Google Shape;515;p23"/>
          <p:cNvSpPr/>
          <p:nvPr/>
        </p:nvSpPr>
        <p:spPr>
          <a:xfrm>
            <a:off x="4325112" y="430013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16" name="Google Shape;516;p23"/>
          <p:cNvSpPr/>
          <p:nvPr/>
        </p:nvSpPr>
        <p:spPr>
          <a:xfrm>
            <a:off x="4978200" y="2207224"/>
            <a:ext cx="3910500" cy="194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517" name="Google Shape;517;p23"/>
          <p:cNvSpPr/>
          <p:nvPr/>
        </p:nvSpPr>
        <p:spPr>
          <a:xfrm>
            <a:off x="4971800" y="1548913"/>
            <a:ext cx="3910500" cy="206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518" name="Google Shape;518;p23"/>
          <p:cNvSpPr/>
          <p:nvPr/>
        </p:nvSpPr>
        <p:spPr>
          <a:xfrm>
            <a:off x="4978200" y="3303300"/>
            <a:ext cx="3910500" cy="206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519" name="Google Shape;519;p23"/>
          <p:cNvSpPr/>
          <p:nvPr/>
        </p:nvSpPr>
        <p:spPr>
          <a:xfrm>
            <a:off x="4978200" y="3559375"/>
            <a:ext cx="3910500" cy="206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520" name="Google Shape;520;p23"/>
          <p:cNvSpPr/>
          <p:nvPr/>
        </p:nvSpPr>
        <p:spPr>
          <a:xfrm>
            <a:off x="4978200" y="4062050"/>
            <a:ext cx="3910500" cy="206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521" name="Google Shape;521;p23"/>
          <p:cNvSpPr/>
          <p:nvPr/>
        </p:nvSpPr>
        <p:spPr>
          <a:xfrm>
            <a:off x="4978200" y="1976575"/>
            <a:ext cx="3910500" cy="206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pic>
        <p:nvPicPr>
          <p:cNvPr id="522" name="Google Shape;522;p23" title="1765246633891.jpe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4800" y="697825"/>
            <a:ext cx="238800" cy="2388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24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24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24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530" name="Google Shape;530;p24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531" name="Google Shape;531;p24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532" name="Google Shape;532;p24"/>
          <p:cNvSpPr txBox="1"/>
          <p:nvPr>
            <p:ph type="ctrTitle"/>
          </p:nvPr>
        </p:nvSpPr>
        <p:spPr>
          <a:xfrm>
            <a:off x="483600" y="750300"/>
            <a:ext cx="54615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Management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33" name="Google Shape;533;p24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34" name="Google Shape;534;p24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35" name="Google Shape;535;p24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36" name="Google Shape;536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24"/>
          <p:cNvSpPr txBox="1"/>
          <p:nvPr/>
        </p:nvSpPr>
        <p:spPr>
          <a:xfrm>
            <a:off x="7862732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Grade 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38" name="Google Shape;538;p24"/>
          <p:cNvSpPr/>
          <p:nvPr/>
        </p:nvSpPr>
        <p:spPr>
          <a:xfrm>
            <a:off x="499025" y="1563220"/>
            <a:ext cx="1095300" cy="1006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Routines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39" name="Google Shape;539;p24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Comprehensive measure of performance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40" name="Google Shape;540;p24"/>
          <p:cNvSpPr txBox="1"/>
          <p:nvPr/>
        </p:nvSpPr>
        <p:spPr>
          <a:xfrm>
            <a:off x="1655100" y="17078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One single source of truth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541" name="Google Shape;541;p24"/>
          <p:cNvCxnSpPr/>
          <p:nvPr/>
        </p:nvCxnSpPr>
        <p:spPr>
          <a:xfrm flipH="1" rot="10800000">
            <a:off x="499033" y="2629693"/>
            <a:ext cx="4434900" cy="18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2" name="Google Shape;542;p24"/>
          <p:cNvSpPr/>
          <p:nvPr/>
        </p:nvSpPr>
        <p:spPr>
          <a:xfrm>
            <a:off x="4325112" y="15784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43" name="Google Shape;543;p24"/>
          <p:cNvSpPr/>
          <p:nvPr/>
        </p:nvSpPr>
        <p:spPr>
          <a:xfrm>
            <a:off x="4325112" y="158225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544" name="Google Shape;544;p24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5" name="Google Shape;545;p24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546" name="Google Shape;546;p24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547" name="Google Shape;547;p24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548" name="Google Shape;548;p24"/>
          <p:cNvSpPr/>
          <p:nvPr/>
        </p:nvSpPr>
        <p:spPr>
          <a:xfrm>
            <a:off x="499025" y="3651275"/>
            <a:ext cx="1095300" cy="11868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Under &amp; Top Performance Management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49" name="Google Shape;549;p24"/>
          <p:cNvSpPr txBox="1"/>
          <p:nvPr/>
        </p:nvSpPr>
        <p:spPr>
          <a:xfrm>
            <a:off x="1655250" y="185973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Consistency of performance management across teams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0" name="Google Shape;550;p24"/>
          <p:cNvSpPr txBox="1"/>
          <p:nvPr/>
        </p:nvSpPr>
        <p:spPr>
          <a:xfrm>
            <a:off x="1655250" y="20025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Quality of pipeline reviews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1" name="Google Shape;551;p24"/>
          <p:cNvSpPr txBox="1"/>
          <p:nvPr/>
        </p:nvSpPr>
        <p:spPr>
          <a:xfrm>
            <a:off x="1655250" y="215772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Task prioritization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2" name="Google Shape;552;p24"/>
          <p:cNvSpPr txBox="1"/>
          <p:nvPr/>
        </p:nvSpPr>
        <p:spPr>
          <a:xfrm>
            <a:off x="1655100" y="229688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1:1 Structure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3" name="Google Shape;553;p24"/>
          <p:cNvSpPr txBox="1"/>
          <p:nvPr/>
        </p:nvSpPr>
        <p:spPr>
          <a:xfrm>
            <a:off x="1655100" y="245209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based coaching plans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4" name="Google Shape;554;p24"/>
          <p:cNvSpPr txBox="1"/>
          <p:nvPr/>
        </p:nvSpPr>
        <p:spPr>
          <a:xfrm>
            <a:off x="1655100" y="268888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Blitz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5" name="Google Shape;555;p24"/>
          <p:cNvSpPr txBox="1"/>
          <p:nvPr/>
        </p:nvSpPr>
        <p:spPr>
          <a:xfrm>
            <a:off x="1655100" y="283737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Gamification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6" name="Google Shape;556;p24"/>
          <p:cNvSpPr txBox="1"/>
          <p:nvPr/>
        </p:nvSpPr>
        <p:spPr>
          <a:xfrm>
            <a:off x="1655100" y="298015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SPIFF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557" name="Google Shape;557;p24"/>
          <p:cNvCxnSpPr/>
          <p:nvPr/>
        </p:nvCxnSpPr>
        <p:spPr>
          <a:xfrm flipH="1" rot="10800000">
            <a:off x="499033" y="3601473"/>
            <a:ext cx="4434900" cy="114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58" name="Google Shape;558;p24"/>
          <p:cNvSpPr/>
          <p:nvPr/>
        </p:nvSpPr>
        <p:spPr>
          <a:xfrm>
            <a:off x="499025" y="2689500"/>
            <a:ext cx="1095300" cy="8829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Floor animation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59" name="Google Shape;559;p24"/>
          <p:cNvSpPr txBox="1"/>
          <p:nvPr/>
        </p:nvSpPr>
        <p:spPr>
          <a:xfrm>
            <a:off x="1662813" y="313281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Floor Routines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0" name="Google Shape;560;p24"/>
          <p:cNvSpPr txBox="1"/>
          <p:nvPr/>
        </p:nvSpPr>
        <p:spPr>
          <a:xfrm>
            <a:off x="1662813" y="328231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Role play simulation between IC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1" name="Google Shape;561;p24"/>
          <p:cNvSpPr txBox="1"/>
          <p:nvPr/>
        </p:nvSpPr>
        <p:spPr>
          <a:xfrm>
            <a:off x="1662813" y="341737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Remote floor animation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2" name="Google Shape;562;p24"/>
          <p:cNvSpPr txBox="1"/>
          <p:nvPr/>
        </p:nvSpPr>
        <p:spPr>
          <a:xfrm>
            <a:off x="1655226" y="368456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Management of underperformance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3" name="Google Shape;563;p24"/>
          <p:cNvSpPr txBox="1"/>
          <p:nvPr/>
        </p:nvSpPr>
        <p:spPr>
          <a:xfrm>
            <a:off x="1662813" y="383747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Expectations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4" name="Google Shape;564;p24"/>
          <p:cNvSpPr txBox="1"/>
          <p:nvPr/>
        </p:nvSpPr>
        <p:spPr>
          <a:xfrm>
            <a:off x="1662813" y="399940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Feedback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5" name="Google Shape;565;p24"/>
          <p:cNvSpPr txBox="1"/>
          <p:nvPr/>
        </p:nvSpPr>
        <p:spPr>
          <a:xfrm>
            <a:off x="1662813" y="416903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Improvement Plans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6" name="Google Shape;566;p24"/>
          <p:cNvSpPr txBox="1"/>
          <p:nvPr/>
        </p:nvSpPr>
        <p:spPr>
          <a:xfrm>
            <a:off x="1662813" y="43309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Transparency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7" name="Google Shape;567;p24"/>
          <p:cNvSpPr txBox="1"/>
          <p:nvPr/>
        </p:nvSpPr>
        <p:spPr>
          <a:xfrm>
            <a:off x="1662813" y="44955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Training and Development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8" name="Google Shape;568;p24"/>
          <p:cNvSpPr txBox="1"/>
          <p:nvPr/>
        </p:nvSpPr>
        <p:spPr>
          <a:xfrm>
            <a:off x="1655213" y="466283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Top Performance Management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9" name="Google Shape;569;p24"/>
          <p:cNvSpPr/>
          <p:nvPr/>
        </p:nvSpPr>
        <p:spPr>
          <a:xfrm>
            <a:off x="4325112" y="17315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0" name="Google Shape;570;p24"/>
          <p:cNvSpPr/>
          <p:nvPr/>
        </p:nvSpPr>
        <p:spPr>
          <a:xfrm>
            <a:off x="4325112" y="172977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1" name="Google Shape;571;p24"/>
          <p:cNvSpPr/>
          <p:nvPr/>
        </p:nvSpPr>
        <p:spPr>
          <a:xfrm>
            <a:off x="4325112" y="188636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2" name="Google Shape;572;p24"/>
          <p:cNvSpPr/>
          <p:nvPr/>
        </p:nvSpPr>
        <p:spPr>
          <a:xfrm>
            <a:off x="4325112" y="188457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3" name="Google Shape;573;p24"/>
          <p:cNvSpPr/>
          <p:nvPr/>
        </p:nvSpPr>
        <p:spPr>
          <a:xfrm>
            <a:off x="4325112" y="203299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4" name="Google Shape;574;p24"/>
          <p:cNvSpPr/>
          <p:nvPr/>
        </p:nvSpPr>
        <p:spPr>
          <a:xfrm>
            <a:off x="4325112" y="203120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5" name="Google Shape;575;p24"/>
          <p:cNvSpPr/>
          <p:nvPr/>
        </p:nvSpPr>
        <p:spPr>
          <a:xfrm>
            <a:off x="4325112" y="218452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6" name="Google Shape;576;p24"/>
          <p:cNvSpPr/>
          <p:nvPr/>
        </p:nvSpPr>
        <p:spPr>
          <a:xfrm>
            <a:off x="4325112" y="218273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7" name="Google Shape;577;p24"/>
          <p:cNvSpPr/>
          <p:nvPr/>
        </p:nvSpPr>
        <p:spPr>
          <a:xfrm>
            <a:off x="4325112" y="232352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8" name="Google Shape;578;p24"/>
          <p:cNvSpPr/>
          <p:nvPr/>
        </p:nvSpPr>
        <p:spPr>
          <a:xfrm>
            <a:off x="4325112" y="232173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9" name="Google Shape;579;p24"/>
          <p:cNvSpPr/>
          <p:nvPr/>
        </p:nvSpPr>
        <p:spPr>
          <a:xfrm>
            <a:off x="4325112" y="248375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0" name="Google Shape;580;p24"/>
          <p:cNvSpPr/>
          <p:nvPr/>
        </p:nvSpPr>
        <p:spPr>
          <a:xfrm>
            <a:off x="4325112" y="248196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1" name="Google Shape;581;p24"/>
          <p:cNvSpPr/>
          <p:nvPr/>
        </p:nvSpPr>
        <p:spPr>
          <a:xfrm>
            <a:off x="4325112" y="271427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2" name="Google Shape;582;p24"/>
          <p:cNvSpPr/>
          <p:nvPr/>
        </p:nvSpPr>
        <p:spPr>
          <a:xfrm>
            <a:off x="4325112" y="271248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3" name="Google Shape;583;p24"/>
          <p:cNvSpPr/>
          <p:nvPr/>
        </p:nvSpPr>
        <p:spPr>
          <a:xfrm>
            <a:off x="4325112" y="286231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4" name="Google Shape;584;p24"/>
          <p:cNvSpPr/>
          <p:nvPr/>
        </p:nvSpPr>
        <p:spPr>
          <a:xfrm>
            <a:off x="4325112" y="286053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5" name="Google Shape;585;p24"/>
          <p:cNvSpPr/>
          <p:nvPr/>
        </p:nvSpPr>
        <p:spPr>
          <a:xfrm>
            <a:off x="4325112" y="300110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6" name="Google Shape;586;p24"/>
          <p:cNvSpPr/>
          <p:nvPr/>
        </p:nvSpPr>
        <p:spPr>
          <a:xfrm>
            <a:off x="4325112" y="299932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7" name="Google Shape;587;p24"/>
          <p:cNvSpPr/>
          <p:nvPr/>
        </p:nvSpPr>
        <p:spPr>
          <a:xfrm>
            <a:off x="4325112" y="315611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8" name="Google Shape;588;p24"/>
          <p:cNvSpPr/>
          <p:nvPr/>
        </p:nvSpPr>
        <p:spPr>
          <a:xfrm>
            <a:off x="4325112" y="315432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9" name="Google Shape;589;p24"/>
          <p:cNvSpPr/>
          <p:nvPr/>
        </p:nvSpPr>
        <p:spPr>
          <a:xfrm>
            <a:off x="4325112" y="33062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0" name="Google Shape;590;p24"/>
          <p:cNvSpPr/>
          <p:nvPr/>
        </p:nvSpPr>
        <p:spPr>
          <a:xfrm>
            <a:off x="4325112" y="330447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1" name="Google Shape;591;p24"/>
          <p:cNvSpPr/>
          <p:nvPr/>
        </p:nvSpPr>
        <p:spPr>
          <a:xfrm>
            <a:off x="4325112" y="344244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2" name="Google Shape;592;p24"/>
          <p:cNvSpPr/>
          <p:nvPr/>
        </p:nvSpPr>
        <p:spPr>
          <a:xfrm>
            <a:off x="4325112" y="344065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3" name="Google Shape;593;p24"/>
          <p:cNvSpPr/>
          <p:nvPr/>
        </p:nvSpPr>
        <p:spPr>
          <a:xfrm>
            <a:off x="4325112" y="371067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4" name="Google Shape;594;p24"/>
          <p:cNvSpPr/>
          <p:nvPr/>
        </p:nvSpPr>
        <p:spPr>
          <a:xfrm>
            <a:off x="4325112" y="371266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5" name="Google Shape;595;p24"/>
          <p:cNvSpPr/>
          <p:nvPr/>
        </p:nvSpPr>
        <p:spPr>
          <a:xfrm>
            <a:off x="4325112" y="38604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6" name="Google Shape;596;p24"/>
          <p:cNvSpPr/>
          <p:nvPr/>
        </p:nvSpPr>
        <p:spPr>
          <a:xfrm>
            <a:off x="4325112" y="385863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7" name="Google Shape;597;p24"/>
          <p:cNvSpPr/>
          <p:nvPr/>
        </p:nvSpPr>
        <p:spPr>
          <a:xfrm>
            <a:off x="4325112" y="402518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8" name="Google Shape;598;p24"/>
          <p:cNvSpPr/>
          <p:nvPr/>
        </p:nvSpPr>
        <p:spPr>
          <a:xfrm>
            <a:off x="4325112" y="402339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9" name="Google Shape;599;p24"/>
          <p:cNvSpPr/>
          <p:nvPr/>
        </p:nvSpPr>
        <p:spPr>
          <a:xfrm>
            <a:off x="4325112" y="419485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0" name="Google Shape;600;p24"/>
          <p:cNvSpPr/>
          <p:nvPr/>
        </p:nvSpPr>
        <p:spPr>
          <a:xfrm>
            <a:off x="4325112" y="418928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1" name="Google Shape;601;p24"/>
          <p:cNvSpPr/>
          <p:nvPr/>
        </p:nvSpPr>
        <p:spPr>
          <a:xfrm>
            <a:off x="4325112" y="43534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2" name="Google Shape;602;p24"/>
          <p:cNvSpPr/>
          <p:nvPr/>
        </p:nvSpPr>
        <p:spPr>
          <a:xfrm>
            <a:off x="4325112" y="43516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3" name="Google Shape;603;p24"/>
          <p:cNvSpPr/>
          <p:nvPr/>
        </p:nvSpPr>
        <p:spPr>
          <a:xfrm>
            <a:off x="4325112" y="452133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4" name="Google Shape;604;p24"/>
          <p:cNvSpPr/>
          <p:nvPr/>
        </p:nvSpPr>
        <p:spPr>
          <a:xfrm>
            <a:off x="4325112" y="451954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5" name="Google Shape;605;p24"/>
          <p:cNvSpPr/>
          <p:nvPr/>
        </p:nvSpPr>
        <p:spPr>
          <a:xfrm>
            <a:off x="4325112" y="46865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6" name="Google Shape;606;p24"/>
          <p:cNvSpPr/>
          <p:nvPr/>
        </p:nvSpPr>
        <p:spPr>
          <a:xfrm>
            <a:off x="4325112" y="468476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7" name="Google Shape;607;p24"/>
          <p:cNvSpPr txBox="1"/>
          <p:nvPr>
            <p:ph type="ctrTitle"/>
          </p:nvPr>
        </p:nvSpPr>
        <p:spPr>
          <a:xfrm>
            <a:off x="4260021" y="7410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08" name="Google Shape;608;p24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09" name="Google Shape;609;p24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10" name="Google Shape;610;p24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11" name="Google Shape;611;p24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12" name="Google Shape;612;p24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13" name="Google Shape;613;p24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14" name="Google Shape;614;p24"/>
          <p:cNvSpPr txBox="1"/>
          <p:nvPr/>
        </p:nvSpPr>
        <p:spPr>
          <a:xfrm>
            <a:off x="4911525" y="1503300"/>
            <a:ext cx="20910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5" name="Google Shape;615;p24"/>
          <p:cNvSpPr txBox="1"/>
          <p:nvPr/>
        </p:nvSpPr>
        <p:spPr>
          <a:xfrm>
            <a:off x="6943375" y="1503175"/>
            <a:ext cx="2025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6" name="Google Shape;616;p24"/>
          <p:cNvSpPr txBox="1"/>
          <p:nvPr/>
        </p:nvSpPr>
        <p:spPr>
          <a:xfrm>
            <a:off x="4911525" y="2239875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7" name="Google Shape;617;p24"/>
          <p:cNvSpPr txBox="1"/>
          <p:nvPr/>
        </p:nvSpPr>
        <p:spPr>
          <a:xfrm>
            <a:off x="4911525" y="243317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8" name="Google Shape;618;p24"/>
          <p:cNvSpPr txBox="1"/>
          <p:nvPr/>
        </p:nvSpPr>
        <p:spPr>
          <a:xfrm>
            <a:off x="6943375" y="2207550"/>
            <a:ext cx="2025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9" name="Google Shape;619;p24"/>
          <p:cNvSpPr txBox="1"/>
          <p:nvPr/>
        </p:nvSpPr>
        <p:spPr>
          <a:xfrm>
            <a:off x="6943375" y="2446175"/>
            <a:ext cx="2025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0" name="Google Shape;620;p24"/>
          <p:cNvSpPr txBox="1"/>
          <p:nvPr/>
        </p:nvSpPr>
        <p:spPr>
          <a:xfrm>
            <a:off x="4911525" y="295780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1" name="Google Shape;621;p24"/>
          <p:cNvSpPr txBox="1"/>
          <p:nvPr/>
        </p:nvSpPr>
        <p:spPr>
          <a:xfrm>
            <a:off x="4911525" y="3200383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2" name="Google Shape;622;p24"/>
          <p:cNvSpPr txBox="1"/>
          <p:nvPr/>
        </p:nvSpPr>
        <p:spPr>
          <a:xfrm>
            <a:off x="4911525" y="1996000"/>
            <a:ext cx="19029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3" name="Google Shape;623;p24"/>
          <p:cNvSpPr txBox="1"/>
          <p:nvPr/>
        </p:nvSpPr>
        <p:spPr>
          <a:xfrm>
            <a:off x="6943375" y="2938000"/>
            <a:ext cx="20112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4" name="Google Shape;624;p24"/>
          <p:cNvSpPr txBox="1"/>
          <p:nvPr/>
        </p:nvSpPr>
        <p:spPr>
          <a:xfrm>
            <a:off x="6943375" y="3233975"/>
            <a:ext cx="20112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5" name="Google Shape;625;p24"/>
          <p:cNvSpPr txBox="1"/>
          <p:nvPr/>
        </p:nvSpPr>
        <p:spPr>
          <a:xfrm>
            <a:off x="6943375" y="1991725"/>
            <a:ext cx="20112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6" name="Google Shape;626;p24"/>
          <p:cNvSpPr txBox="1"/>
          <p:nvPr/>
        </p:nvSpPr>
        <p:spPr>
          <a:xfrm>
            <a:off x="4911525" y="2679706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7" name="Google Shape;627;p24"/>
          <p:cNvSpPr txBox="1"/>
          <p:nvPr/>
        </p:nvSpPr>
        <p:spPr>
          <a:xfrm>
            <a:off x="6943375" y="2664024"/>
            <a:ext cx="2011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8" name="Google Shape;628;p24"/>
          <p:cNvSpPr txBox="1"/>
          <p:nvPr/>
        </p:nvSpPr>
        <p:spPr>
          <a:xfrm>
            <a:off x="4911525" y="3785173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9" name="Google Shape;629;p24"/>
          <p:cNvSpPr txBox="1"/>
          <p:nvPr/>
        </p:nvSpPr>
        <p:spPr>
          <a:xfrm>
            <a:off x="4911525" y="402773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0" name="Google Shape;630;p24"/>
          <p:cNvSpPr txBox="1"/>
          <p:nvPr/>
        </p:nvSpPr>
        <p:spPr>
          <a:xfrm>
            <a:off x="4911525" y="428375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1" name="Google Shape;631;p24"/>
          <p:cNvSpPr txBox="1"/>
          <p:nvPr/>
        </p:nvSpPr>
        <p:spPr>
          <a:xfrm>
            <a:off x="6943375" y="3752825"/>
            <a:ext cx="22023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2" name="Google Shape;632;p24"/>
          <p:cNvSpPr txBox="1"/>
          <p:nvPr/>
        </p:nvSpPr>
        <p:spPr>
          <a:xfrm>
            <a:off x="6943375" y="4051401"/>
            <a:ext cx="20112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3" name="Google Shape;633;p24"/>
          <p:cNvSpPr txBox="1"/>
          <p:nvPr/>
        </p:nvSpPr>
        <p:spPr>
          <a:xfrm>
            <a:off x="6943375" y="4299550"/>
            <a:ext cx="20112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4" name="Google Shape;634;p24"/>
          <p:cNvSpPr txBox="1"/>
          <p:nvPr/>
        </p:nvSpPr>
        <p:spPr>
          <a:xfrm>
            <a:off x="4911525" y="3492752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5" name="Google Shape;635;p24"/>
          <p:cNvSpPr txBox="1"/>
          <p:nvPr/>
        </p:nvSpPr>
        <p:spPr>
          <a:xfrm>
            <a:off x="6943375" y="3498600"/>
            <a:ext cx="20112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6" name="Google Shape;636;p24"/>
          <p:cNvSpPr txBox="1"/>
          <p:nvPr/>
        </p:nvSpPr>
        <p:spPr>
          <a:xfrm>
            <a:off x="4911525" y="1694224"/>
            <a:ext cx="1902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7" name="Google Shape;637;p24"/>
          <p:cNvSpPr txBox="1"/>
          <p:nvPr/>
        </p:nvSpPr>
        <p:spPr>
          <a:xfrm>
            <a:off x="6943375" y="1688710"/>
            <a:ext cx="2025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8" name="Google Shape;638;p24"/>
          <p:cNvSpPr txBox="1"/>
          <p:nvPr/>
        </p:nvSpPr>
        <p:spPr>
          <a:xfrm>
            <a:off x="4911525" y="455232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9" name="Google Shape;639;p24"/>
          <p:cNvSpPr txBox="1"/>
          <p:nvPr/>
        </p:nvSpPr>
        <p:spPr>
          <a:xfrm>
            <a:off x="6943375" y="4568100"/>
            <a:ext cx="2011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640" name="Google Shape;640;p24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641" name="Google Shape;641;p24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42" name="Google Shape;642;p24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43" name="Google Shape;643;p24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44" name="Google Shape;644;p24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645" name="Google Shape;645;p24"/>
          <p:cNvSpPr/>
          <p:nvPr/>
        </p:nvSpPr>
        <p:spPr>
          <a:xfrm>
            <a:off x="4978200" y="2194550"/>
            <a:ext cx="3950100" cy="485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646" name="Google Shape;646;p24"/>
          <p:cNvSpPr/>
          <p:nvPr/>
        </p:nvSpPr>
        <p:spPr>
          <a:xfrm>
            <a:off x="4971800" y="3758800"/>
            <a:ext cx="39501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647" name="Google Shape;647;p24"/>
          <p:cNvSpPr/>
          <p:nvPr/>
        </p:nvSpPr>
        <p:spPr>
          <a:xfrm>
            <a:off x="4978200" y="1709738"/>
            <a:ext cx="39501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648" name="Google Shape;648;p24"/>
          <p:cNvSpPr/>
          <p:nvPr/>
        </p:nvSpPr>
        <p:spPr>
          <a:xfrm>
            <a:off x="4978200" y="2949475"/>
            <a:ext cx="39501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pic>
        <p:nvPicPr>
          <p:cNvPr id="649" name="Google Shape;649;p24"/>
          <p:cNvPicPr preferRelativeResize="0"/>
          <p:nvPr/>
        </p:nvPicPr>
        <p:blipFill rotWithShape="1">
          <a:blip r:embed="rId6">
            <a:alphaModFix/>
          </a:blip>
          <a:srcRect b="30840" l="8005" r="13668" t="11300"/>
          <a:stretch/>
        </p:blipFill>
        <p:spPr>
          <a:xfrm>
            <a:off x="264304" y="686268"/>
            <a:ext cx="219300" cy="24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25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25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25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57" name="Google Shape;657;p25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58" name="Google Shape;658;p25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59" name="Google Shape;659;p25"/>
          <p:cNvSpPr txBox="1"/>
          <p:nvPr>
            <p:ph type="ctrTitle"/>
          </p:nvPr>
        </p:nvSpPr>
        <p:spPr>
          <a:xfrm>
            <a:off x="483600" y="750300"/>
            <a:ext cx="26064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 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660" name="Google Shape;660;p25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25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2" name="Google Shape;662;p25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663" name="Google Shape;663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664" name="Google Shape;664;p25"/>
          <p:cNvSpPr txBox="1"/>
          <p:nvPr/>
        </p:nvSpPr>
        <p:spPr>
          <a:xfrm>
            <a:off x="7862732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Grade 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65" name="Google Shape;665;p25"/>
          <p:cNvSpPr/>
          <p:nvPr/>
        </p:nvSpPr>
        <p:spPr>
          <a:xfrm>
            <a:off x="483600" y="1545600"/>
            <a:ext cx="1095300" cy="5733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Org Structure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66" name="Google Shape;666;p25"/>
          <p:cNvSpPr txBox="1"/>
          <p:nvPr/>
        </p:nvSpPr>
        <p:spPr>
          <a:xfrm>
            <a:off x="1655100" y="153926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Latest organizational update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7" name="Google Shape;667;p25"/>
          <p:cNvSpPr txBox="1"/>
          <p:nvPr/>
        </p:nvSpPr>
        <p:spPr>
          <a:xfrm>
            <a:off x="1655100" y="168103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Easiness of organizational change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68" name="Google Shape;668;p25"/>
          <p:cNvCxnSpPr/>
          <p:nvPr/>
        </p:nvCxnSpPr>
        <p:spPr>
          <a:xfrm>
            <a:off x="499029" y="2154750"/>
            <a:ext cx="44115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9" name="Google Shape;669;p25"/>
          <p:cNvSpPr/>
          <p:nvPr/>
        </p:nvSpPr>
        <p:spPr>
          <a:xfrm>
            <a:off x="4325112" y="156676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0" name="Google Shape;670;p25"/>
          <p:cNvSpPr/>
          <p:nvPr/>
        </p:nvSpPr>
        <p:spPr>
          <a:xfrm>
            <a:off x="4325112" y="156676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71" name="Google Shape;671;p25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72" name="Google Shape;672;p25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673" name="Google Shape;673;p25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674" name="Google Shape;674;p25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675" name="Google Shape;675;p25"/>
          <p:cNvSpPr/>
          <p:nvPr/>
        </p:nvSpPr>
        <p:spPr>
          <a:xfrm>
            <a:off x="4325112" y="170963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6" name="Google Shape;676;p25"/>
          <p:cNvSpPr/>
          <p:nvPr/>
        </p:nvSpPr>
        <p:spPr>
          <a:xfrm>
            <a:off x="499025" y="2190600"/>
            <a:ext cx="1095300" cy="487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Career Path and Competency Framework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77" name="Google Shape;677;p25"/>
          <p:cNvSpPr txBox="1"/>
          <p:nvPr/>
        </p:nvSpPr>
        <p:spPr>
          <a:xfrm>
            <a:off x="1655100" y="182254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Clarity of process of organizational change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8" name="Google Shape;678;p25"/>
          <p:cNvSpPr txBox="1"/>
          <p:nvPr/>
        </p:nvSpPr>
        <p:spPr>
          <a:xfrm>
            <a:off x="1655100" y="19586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Prescriptor for organizational change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9" name="Google Shape;679;p25"/>
          <p:cNvSpPr txBox="1"/>
          <p:nvPr/>
        </p:nvSpPr>
        <p:spPr>
          <a:xfrm>
            <a:off x="1655100" y="218768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Robustness of Career Path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0" name="Google Shape;680;p25"/>
          <p:cNvSpPr txBox="1"/>
          <p:nvPr/>
        </p:nvSpPr>
        <p:spPr>
          <a:xfrm>
            <a:off x="1655100" y="234389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Robustness of Competency framework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1" name="Google Shape;681;p25"/>
          <p:cNvSpPr txBox="1"/>
          <p:nvPr/>
        </p:nvSpPr>
        <p:spPr>
          <a:xfrm>
            <a:off x="1655100" y="250581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Applying Competency Framework to Performance reviews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2" name="Google Shape;682;p25"/>
          <p:cNvSpPr txBox="1"/>
          <p:nvPr/>
        </p:nvSpPr>
        <p:spPr>
          <a:xfrm>
            <a:off x="1655100" y="2782886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Perception of Performance Review Process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3" name="Google Shape;683;p25"/>
          <p:cNvSpPr txBox="1"/>
          <p:nvPr/>
        </p:nvSpPr>
        <p:spPr>
          <a:xfrm>
            <a:off x="1655100" y="295152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Homogeneity Performance Review Process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4" name="Google Shape;684;p25"/>
          <p:cNvSpPr txBox="1"/>
          <p:nvPr/>
        </p:nvSpPr>
        <p:spPr>
          <a:xfrm>
            <a:off x="1655100" y="3114446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Link between Performance Reviews &amp; Compensation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85" name="Google Shape;685;p25"/>
          <p:cNvCxnSpPr/>
          <p:nvPr/>
        </p:nvCxnSpPr>
        <p:spPr>
          <a:xfrm>
            <a:off x="514397" y="2726525"/>
            <a:ext cx="44115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6" name="Google Shape;686;p25"/>
          <p:cNvSpPr/>
          <p:nvPr/>
        </p:nvSpPr>
        <p:spPr>
          <a:xfrm>
            <a:off x="499025" y="2769176"/>
            <a:ext cx="1095300" cy="12591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Employee Engagement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87" name="Google Shape;687;p25"/>
          <p:cNvSpPr txBox="1"/>
          <p:nvPr/>
        </p:nvSpPr>
        <p:spPr>
          <a:xfrm>
            <a:off x="1662813" y="327382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 and Develop mindset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8" name="Google Shape;688;p25"/>
          <p:cNvSpPr txBox="1"/>
          <p:nvPr/>
        </p:nvSpPr>
        <p:spPr>
          <a:xfrm>
            <a:off x="1662813" y="342332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360 performance reviews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9" name="Google Shape;689;p25"/>
          <p:cNvSpPr txBox="1"/>
          <p:nvPr/>
        </p:nvSpPr>
        <p:spPr>
          <a:xfrm>
            <a:off x="1662813" y="356509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Individual Development Plans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90" name="Google Shape;690;p25"/>
          <p:cNvCxnSpPr/>
          <p:nvPr/>
        </p:nvCxnSpPr>
        <p:spPr>
          <a:xfrm>
            <a:off x="499029" y="4076700"/>
            <a:ext cx="44115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91" name="Google Shape;691;p25"/>
          <p:cNvSpPr/>
          <p:nvPr/>
        </p:nvSpPr>
        <p:spPr>
          <a:xfrm>
            <a:off x="483600" y="4124775"/>
            <a:ext cx="1095300" cy="7413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Manager Academy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92" name="Google Shape;692;p25"/>
          <p:cNvSpPr txBox="1"/>
          <p:nvPr/>
        </p:nvSpPr>
        <p:spPr>
          <a:xfrm>
            <a:off x="1662813" y="413369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Maturity in Management Trainings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3" name="Google Shape;693;p25"/>
          <p:cNvSpPr txBox="1"/>
          <p:nvPr/>
        </p:nvSpPr>
        <p:spPr>
          <a:xfrm>
            <a:off x="1662813" y="427647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Onboarding of First-Time Managers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4" name="Google Shape;694;p25"/>
          <p:cNvSpPr txBox="1"/>
          <p:nvPr/>
        </p:nvSpPr>
        <p:spPr>
          <a:xfrm>
            <a:off x="1662813" y="441825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Curriculum Design for Managers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5" name="Google Shape;695;p25"/>
          <p:cNvSpPr txBox="1"/>
          <p:nvPr/>
        </p:nvSpPr>
        <p:spPr>
          <a:xfrm>
            <a:off x="1662813" y="4562746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Curriculum per Management Level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6" name="Google Shape;696;p25"/>
          <p:cNvSpPr txBox="1"/>
          <p:nvPr/>
        </p:nvSpPr>
        <p:spPr>
          <a:xfrm>
            <a:off x="1655213" y="471654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Measurement of Impact of Management Trainings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7" name="Google Shape;697;p25"/>
          <p:cNvSpPr/>
          <p:nvPr/>
        </p:nvSpPr>
        <p:spPr>
          <a:xfrm>
            <a:off x="4325112" y="170964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8" name="Google Shape;698;p25"/>
          <p:cNvSpPr/>
          <p:nvPr/>
        </p:nvSpPr>
        <p:spPr>
          <a:xfrm>
            <a:off x="4325112" y="184824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9" name="Google Shape;699;p25"/>
          <p:cNvSpPr/>
          <p:nvPr/>
        </p:nvSpPr>
        <p:spPr>
          <a:xfrm>
            <a:off x="4325112" y="198086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0" name="Google Shape;700;p25"/>
          <p:cNvSpPr/>
          <p:nvPr/>
        </p:nvSpPr>
        <p:spPr>
          <a:xfrm>
            <a:off x="4325112" y="217245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1" name="Google Shape;701;p25"/>
          <p:cNvSpPr/>
          <p:nvPr/>
        </p:nvSpPr>
        <p:spPr>
          <a:xfrm>
            <a:off x="4325112" y="237271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2" name="Google Shape;702;p25"/>
          <p:cNvSpPr/>
          <p:nvPr/>
        </p:nvSpPr>
        <p:spPr>
          <a:xfrm>
            <a:off x="4325112" y="252986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3" name="Google Shape;703;p25"/>
          <p:cNvSpPr/>
          <p:nvPr/>
        </p:nvSpPr>
        <p:spPr>
          <a:xfrm>
            <a:off x="4325112" y="28122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4" name="Google Shape;704;p25"/>
          <p:cNvSpPr/>
          <p:nvPr/>
        </p:nvSpPr>
        <p:spPr>
          <a:xfrm>
            <a:off x="4325112" y="297042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5" name="Google Shape;705;p25"/>
          <p:cNvSpPr/>
          <p:nvPr/>
        </p:nvSpPr>
        <p:spPr>
          <a:xfrm>
            <a:off x="4325112" y="313750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6" name="Google Shape;706;p25"/>
          <p:cNvSpPr/>
          <p:nvPr/>
        </p:nvSpPr>
        <p:spPr>
          <a:xfrm>
            <a:off x="4325112" y="329682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7" name="Google Shape;707;p25"/>
          <p:cNvSpPr/>
          <p:nvPr/>
        </p:nvSpPr>
        <p:spPr>
          <a:xfrm>
            <a:off x="4325112" y="34498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8" name="Google Shape;708;p25"/>
          <p:cNvSpPr/>
          <p:nvPr/>
        </p:nvSpPr>
        <p:spPr>
          <a:xfrm>
            <a:off x="4325112" y="359034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9" name="Google Shape;709;p25"/>
          <p:cNvSpPr/>
          <p:nvPr/>
        </p:nvSpPr>
        <p:spPr>
          <a:xfrm>
            <a:off x="4325112" y="372800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0" name="Google Shape;710;p25"/>
          <p:cNvSpPr/>
          <p:nvPr/>
        </p:nvSpPr>
        <p:spPr>
          <a:xfrm>
            <a:off x="4325112" y="38817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1" name="Google Shape;711;p25"/>
          <p:cNvSpPr/>
          <p:nvPr/>
        </p:nvSpPr>
        <p:spPr>
          <a:xfrm>
            <a:off x="4325112" y="415579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2" name="Google Shape;712;p25"/>
          <p:cNvSpPr/>
          <p:nvPr/>
        </p:nvSpPr>
        <p:spPr>
          <a:xfrm>
            <a:off x="4325112" y="42963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3" name="Google Shape;713;p25"/>
          <p:cNvSpPr/>
          <p:nvPr/>
        </p:nvSpPr>
        <p:spPr>
          <a:xfrm>
            <a:off x="4325112" y="184825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4" name="Google Shape;714;p25"/>
          <p:cNvSpPr/>
          <p:nvPr/>
        </p:nvSpPr>
        <p:spPr>
          <a:xfrm>
            <a:off x="4325112" y="217246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5" name="Google Shape;715;p25"/>
          <p:cNvSpPr/>
          <p:nvPr/>
        </p:nvSpPr>
        <p:spPr>
          <a:xfrm>
            <a:off x="4325112" y="237271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6" name="Google Shape;716;p25"/>
          <p:cNvSpPr/>
          <p:nvPr/>
        </p:nvSpPr>
        <p:spPr>
          <a:xfrm>
            <a:off x="4325112" y="252987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7" name="Google Shape;717;p25"/>
          <p:cNvSpPr/>
          <p:nvPr/>
        </p:nvSpPr>
        <p:spPr>
          <a:xfrm>
            <a:off x="4325112" y="283476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8" name="Google Shape;718;p25"/>
          <p:cNvSpPr/>
          <p:nvPr/>
        </p:nvSpPr>
        <p:spPr>
          <a:xfrm>
            <a:off x="4325112" y="297388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9" name="Google Shape;719;p25"/>
          <p:cNvSpPr/>
          <p:nvPr/>
        </p:nvSpPr>
        <p:spPr>
          <a:xfrm>
            <a:off x="4325112" y="313363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0" name="Google Shape;720;p25"/>
          <p:cNvSpPr/>
          <p:nvPr/>
        </p:nvSpPr>
        <p:spPr>
          <a:xfrm>
            <a:off x="4325112" y="329683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1" name="Google Shape;721;p25"/>
          <p:cNvSpPr/>
          <p:nvPr/>
        </p:nvSpPr>
        <p:spPr>
          <a:xfrm>
            <a:off x="4325112" y="344985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2" name="Google Shape;722;p25"/>
          <p:cNvSpPr/>
          <p:nvPr/>
        </p:nvSpPr>
        <p:spPr>
          <a:xfrm>
            <a:off x="4325112" y="359035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3" name="Google Shape;723;p25"/>
          <p:cNvSpPr/>
          <p:nvPr/>
        </p:nvSpPr>
        <p:spPr>
          <a:xfrm>
            <a:off x="4325112" y="375886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4" name="Google Shape;724;p25"/>
          <p:cNvSpPr/>
          <p:nvPr/>
        </p:nvSpPr>
        <p:spPr>
          <a:xfrm>
            <a:off x="4325112" y="388322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5" name="Google Shape;725;p25"/>
          <p:cNvSpPr txBox="1"/>
          <p:nvPr/>
        </p:nvSpPr>
        <p:spPr>
          <a:xfrm>
            <a:off x="1655225" y="3706279"/>
            <a:ext cx="19665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Measure of Employees' Engagement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6" name="Google Shape;726;p25"/>
          <p:cNvSpPr/>
          <p:nvPr/>
        </p:nvSpPr>
        <p:spPr>
          <a:xfrm>
            <a:off x="4325112" y="41325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7" name="Google Shape;727;p25"/>
          <p:cNvSpPr/>
          <p:nvPr/>
        </p:nvSpPr>
        <p:spPr>
          <a:xfrm>
            <a:off x="4325112" y="429635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8" name="Google Shape;728;p25"/>
          <p:cNvSpPr txBox="1"/>
          <p:nvPr/>
        </p:nvSpPr>
        <p:spPr>
          <a:xfrm>
            <a:off x="1656613" y="3860444"/>
            <a:ext cx="19029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Maturity in Future of work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9" name="Google Shape;729;p25"/>
          <p:cNvSpPr/>
          <p:nvPr/>
        </p:nvSpPr>
        <p:spPr>
          <a:xfrm>
            <a:off x="4325112" y="444315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0" name="Google Shape;730;p25"/>
          <p:cNvSpPr/>
          <p:nvPr/>
        </p:nvSpPr>
        <p:spPr>
          <a:xfrm>
            <a:off x="4325112" y="458655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1" name="Google Shape;731;p25"/>
          <p:cNvSpPr/>
          <p:nvPr/>
        </p:nvSpPr>
        <p:spPr>
          <a:xfrm>
            <a:off x="4325112" y="473615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2" name="Google Shape;732;p25"/>
          <p:cNvSpPr/>
          <p:nvPr/>
        </p:nvSpPr>
        <p:spPr>
          <a:xfrm>
            <a:off x="4325112" y="458882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3" name="Google Shape;733;p25"/>
          <p:cNvSpPr/>
          <p:nvPr/>
        </p:nvSpPr>
        <p:spPr>
          <a:xfrm>
            <a:off x="4325112" y="473735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4" name="Google Shape;734;p25"/>
          <p:cNvSpPr/>
          <p:nvPr/>
        </p:nvSpPr>
        <p:spPr>
          <a:xfrm>
            <a:off x="4325112" y="444028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5" name="Google Shape;735;p25"/>
          <p:cNvSpPr txBox="1"/>
          <p:nvPr>
            <p:ph type="ctrTitle"/>
          </p:nvPr>
        </p:nvSpPr>
        <p:spPr>
          <a:xfrm>
            <a:off x="2876782" y="7410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rgbClr val="FF9900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rgbClr val="FF9900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36" name="Google Shape;736;p25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37" name="Google Shape;737;p25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38" name="Google Shape;738;p25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39" name="Google Shape;739;p25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40" name="Google Shape;740;p25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41" name="Google Shape;741;p25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42" name="Google Shape;742;p25"/>
          <p:cNvSpPr txBox="1"/>
          <p:nvPr/>
        </p:nvSpPr>
        <p:spPr>
          <a:xfrm>
            <a:off x="4911525" y="1503300"/>
            <a:ext cx="2031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3" name="Google Shape;743;p25"/>
          <p:cNvSpPr txBox="1"/>
          <p:nvPr/>
        </p:nvSpPr>
        <p:spPr>
          <a:xfrm>
            <a:off x="6943375" y="1503175"/>
            <a:ext cx="1985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p25"/>
          <p:cNvSpPr txBox="1"/>
          <p:nvPr/>
        </p:nvSpPr>
        <p:spPr>
          <a:xfrm>
            <a:off x="4911525" y="1956950"/>
            <a:ext cx="20319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p25"/>
          <p:cNvSpPr txBox="1"/>
          <p:nvPr/>
        </p:nvSpPr>
        <p:spPr>
          <a:xfrm>
            <a:off x="4911525" y="2180642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6" name="Google Shape;746;p25"/>
          <p:cNvSpPr txBox="1"/>
          <p:nvPr/>
        </p:nvSpPr>
        <p:spPr>
          <a:xfrm>
            <a:off x="6943375" y="1937056"/>
            <a:ext cx="19851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7" name="Google Shape;747;p25"/>
          <p:cNvSpPr txBox="1"/>
          <p:nvPr/>
        </p:nvSpPr>
        <p:spPr>
          <a:xfrm>
            <a:off x="6943375" y="2180546"/>
            <a:ext cx="19851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8" name="Google Shape;748;p25"/>
          <p:cNvSpPr txBox="1"/>
          <p:nvPr/>
        </p:nvSpPr>
        <p:spPr>
          <a:xfrm>
            <a:off x="4911525" y="2667604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9" name="Google Shape;749;p25"/>
          <p:cNvSpPr txBox="1"/>
          <p:nvPr/>
        </p:nvSpPr>
        <p:spPr>
          <a:xfrm>
            <a:off x="4911525" y="2911085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0" name="Google Shape;750;p25"/>
          <p:cNvSpPr txBox="1"/>
          <p:nvPr/>
        </p:nvSpPr>
        <p:spPr>
          <a:xfrm>
            <a:off x="4911525" y="3154565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1" name="Google Shape;751;p25"/>
          <p:cNvSpPr txBox="1"/>
          <p:nvPr/>
        </p:nvSpPr>
        <p:spPr>
          <a:xfrm>
            <a:off x="6943375" y="2667527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2" name="Google Shape;752;p25"/>
          <p:cNvSpPr txBox="1"/>
          <p:nvPr/>
        </p:nvSpPr>
        <p:spPr>
          <a:xfrm>
            <a:off x="6943375" y="2911024"/>
            <a:ext cx="19710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3" name="Google Shape;753;p25"/>
          <p:cNvSpPr txBox="1"/>
          <p:nvPr/>
        </p:nvSpPr>
        <p:spPr>
          <a:xfrm>
            <a:off x="6943375" y="3154508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4" name="Google Shape;754;p25"/>
          <p:cNvSpPr txBox="1"/>
          <p:nvPr/>
        </p:nvSpPr>
        <p:spPr>
          <a:xfrm>
            <a:off x="4911525" y="2424123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5" name="Google Shape;755;p25"/>
          <p:cNvSpPr txBox="1"/>
          <p:nvPr/>
        </p:nvSpPr>
        <p:spPr>
          <a:xfrm>
            <a:off x="6943375" y="2424037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6" name="Google Shape;756;p25"/>
          <p:cNvSpPr txBox="1"/>
          <p:nvPr/>
        </p:nvSpPr>
        <p:spPr>
          <a:xfrm>
            <a:off x="4911525" y="3641527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7" name="Google Shape;757;p25"/>
          <p:cNvSpPr txBox="1"/>
          <p:nvPr/>
        </p:nvSpPr>
        <p:spPr>
          <a:xfrm>
            <a:off x="4911525" y="3885008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8" name="Google Shape;758;p25"/>
          <p:cNvSpPr txBox="1"/>
          <p:nvPr/>
        </p:nvSpPr>
        <p:spPr>
          <a:xfrm>
            <a:off x="4911525" y="4128488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9" name="Google Shape;759;p25"/>
          <p:cNvSpPr txBox="1"/>
          <p:nvPr/>
        </p:nvSpPr>
        <p:spPr>
          <a:xfrm>
            <a:off x="6943375" y="3641488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0" name="Google Shape;760;p25"/>
          <p:cNvSpPr txBox="1"/>
          <p:nvPr/>
        </p:nvSpPr>
        <p:spPr>
          <a:xfrm>
            <a:off x="6943375" y="3884979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1" name="Google Shape;761;p25"/>
          <p:cNvSpPr txBox="1"/>
          <p:nvPr/>
        </p:nvSpPr>
        <p:spPr>
          <a:xfrm>
            <a:off x="6943375" y="4128469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2" name="Google Shape;762;p25"/>
          <p:cNvSpPr txBox="1"/>
          <p:nvPr/>
        </p:nvSpPr>
        <p:spPr>
          <a:xfrm>
            <a:off x="4911525" y="3398046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3" name="Google Shape;763;p25"/>
          <p:cNvSpPr txBox="1"/>
          <p:nvPr/>
        </p:nvSpPr>
        <p:spPr>
          <a:xfrm>
            <a:off x="6943375" y="3397998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4" name="Google Shape;764;p25"/>
          <p:cNvSpPr txBox="1"/>
          <p:nvPr/>
        </p:nvSpPr>
        <p:spPr>
          <a:xfrm>
            <a:off x="4911525" y="4371969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5" name="Google Shape;765;p25"/>
          <p:cNvSpPr txBox="1"/>
          <p:nvPr/>
        </p:nvSpPr>
        <p:spPr>
          <a:xfrm>
            <a:off x="4925750" y="4615450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6" name="Google Shape;766;p25"/>
          <p:cNvSpPr txBox="1"/>
          <p:nvPr/>
        </p:nvSpPr>
        <p:spPr>
          <a:xfrm>
            <a:off x="6943375" y="4371960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7" name="Google Shape;767;p25"/>
          <p:cNvSpPr txBox="1"/>
          <p:nvPr/>
        </p:nvSpPr>
        <p:spPr>
          <a:xfrm>
            <a:off x="6950425" y="4615450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8" name="Google Shape;768;p25"/>
          <p:cNvSpPr txBox="1"/>
          <p:nvPr/>
        </p:nvSpPr>
        <p:spPr>
          <a:xfrm>
            <a:off x="4911525" y="1746850"/>
            <a:ext cx="2031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9" name="Google Shape;769;p25"/>
          <p:cNvSpPr txBox="1"/>
          <p:nvPr/>
        </p:nvSpPr>
        <p:spPr>
          <a:xfrm>
            <a:off x="6943375" y="1746674"/>
            <a:ext cx="1985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770" name="Google Shape;770;p25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771" name="Google Shape;771;p25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772" name="Google Shape;772;p25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773" name="Google Shape;773;p25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774" name="Google Shape;774;p25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775" name="Google Shape;775;p25"/>
          <p:cNvSpPr/>
          <p:nvPr/>
        </p:nvSpPr>
        <p:spPr>
          <a:xfrm>
            <a:off x="4971800" y="1504850"/>
            <a:ext cx="39042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776" name="Google Shape;776;p25"/>
          <p:cNvSpPr/>
          <p:nvPr/>
        </p:nvSpPr>
        <p:spPr>
          <a:xfrm>
            <a:off x="4971800" y="4138825"/>
            <a:ext cx="3904200" cy="238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777" name="Google Shape;777;p25"/>
          <p:cNvSpPr/>
          <p:nvPr/>
        </p:nvSpPr>
        <p:spPr>
          <a:xfrm>
            <a:off x="4971650" y="4425125"/>
            <a:ext cx="3904200" cy="190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pic>
        <p:nvPicPr>
          <p:cNvPr id="778" name="Google Shape;778;p25" title="1765246633891.jpe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4800" y="697825"/>
            <a:ext cx="238800" cy="2388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26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26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26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86" name="Google Shape;786;p26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87" name="Google Shape;787;p26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88" name="Google Shape;788;p26"/>
          <p:cNvSpPr txBox="1"/>
          <p:nvPr>
            <p:ph type="ctrTitle"/>
          </p:nvPr>
        </p:nvSpPr>
        <p:spPr>
          <a:xfrm>
            <a:off x="483600" y="750300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 : 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789" name="Google Shape;789;p26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90" name="Google Shape;790;p26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1" name="Google Shape;791;p26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792" name="Google Shape;792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793" name="Google Shape;793;p26"/>
          <p:cNvSpPr txBox="1"/>
          <p:nvPr/>
        </p:nvSpPr>
        <p:spPr>
          <a:xfrm>
            <a:off x="7862732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 Grade :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94" name="Google Shape;794;p26"/>
          <p:cNvSpPr/>
          <p:nvPr/>
        </p:nvSpPr>
        <p:spPr>
          <a:xfrm>
            <a:off x="483600" y="1545598"/>
            <a:ext cx="1095300" cy="6120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 Strategy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95" name="Google Shape;795;p26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Market segmentation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96" name="Google Shape;796;p26"/>
          <p:cNvSpPr txBox="1"/>
          <p:nvPr/>
        </p:nvSpPr>
        <p:spPr>
          <a:xfrm>
            <a:off x="1655100" y="17078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Dedicated demand generation budget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797" name="Google Shape;797;p26"/>
          <p:cNvCxnSpPr/>
          <p:nvPr/>
        </p:nvCxnSpPr>
        <p:spPr>
          <a:xfrm>
            <a:off x="499029" y="2208475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8" name="Google Shape;798;p26"/>
          <p:cNvSpPr/>
          <p:nvPr/>
        </p:nvSpPr>
        <p:spPr>
          <a:xfrm>
            <a:off x="4325112" y="15650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99" name="Google Shape;799;p26"/>
          <p:cNvSpPr/>
          <p:nvPr/>
        </p:nvSpPr>
        <p:spPr>
          <a:xfrm>
            <a:off x="4325112" y="155983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00" name="Google Shape;800;p26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01" name="Google Shape;801;p26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802" name="Google Shape;802;p26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803" name="Google Shape;803;p26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804" name="Google Shape;804;p26"/>
          <p:cNvSpPr/>
          <p:nvPr/>
        </p:nvSpPr>
        <p:spPr>
          <a:xfrm>
            <a:off x="492300" y="2259350"/>
            <a:ext cx="10953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Team Structure &amp; Individual Ownership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05" name="Google Shape;805;p26"/>
          <p:cNvSpPr txBox="1"/>
          <p:nvPr/>
        </p:nvSpPr>
        <p:spPr>
          <a:xfrm>
            <a:off x="1655250" y="185973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Brand awareness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6" name="Google Shape;806;p26"/>
          <p:cNvSpPr txBox="1"/>
          <p:nvPr/>
        </p:nvSpPr>
        <p:spPr>
          <a:xfrm>
            <a:off x="1655250" y="20025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Competitive analysis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7" name="Google Shape;807;p26"/>
          <p:cNvSpPr txBox="1"/>
          <p:nvPr/>
        </p:nvSpPr>
        <p:spPr>
          <a:xfrm>
            <a:off x="1654861" y="225223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Demand Generation Manager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8" name="Google Shape;808;p26"/>
          <p:cNvSpPr txBox="1"/>
          <p:nvPr/>
        </p:nvSpPr>
        <p:spPr>
          <a:xfrm>
            <a:off x="1655100" y="239089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Hiring prioritisation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9" name="Google Shape;809;p26"/>
          <p:cNvSpPr txBox="1"/>
          <p:nvPr/>
        </p:nvSpPr>
        <p:spPr>
          <a:xfrm>
            <a:off x="1655100" y="253267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Advanced KPI system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0" name="Google Shape;810;p26"/>
          <p:cNvSpPr txBox="1"/>
          <p:nvPr/>
        </p:nvSpPr>
        <p:spPr>
          <a:xfrm>
            <a:off x="1655100" y="267545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Pods of specialist contributors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1" name="Google Shape;811;p26"/>
          <p:cNvSpPr txBox="1"/>
          <p:nvPr/>
        </p:nvSpPr>
        <p:spPr>
          <a:xfrm>
            <a:off x="1655100" y="28776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Alignment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2" name="Google Shape;812;p26"/>
          <p:cNvSpPr txBox="1"/>
          <p:nvPr/>
        </p:nvSpPr>
        <p:spPr>
          <a:xfrm>
            <a:off x="1655100" y="302044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enablement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13" name="Google Shape;813;p26"/>
          <p:cNvCxnSpPr/>
          <p:nvPr/>
        </p:nvCxnSpPr>
        <p:spPr>
          <a:xfrm>
            <a:off x="499029" y="2880952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14" name="Google Shape;814;p26"/>
          <p:cNvSpPr/>
          <p:nvPr/>
        </p:nvSpPr>
        <p:spPr>
          <a:xfrm>
            <a:off x="499025" y="2923673"/>
            <a:ext cx="1095300" cy="5406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Alignment with Sales 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15" name="Google Shape;815;p26"/>
          <p:cNvSpPr txBox="1"/>
          <p:nvPr/>
        </p:nvSpPr>
        <p:spPr>
          <a:xfrm>
            <a:off x="1662813" y="316639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Cross-team communication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6" name="Google Shape;816;p26"/>
          <p:cNvSpPr txBox="1"/>
          <p:nvPr/>
        </p:nvSpPr>
        <p:spPr>
          <a:xfrm>
            <a:off x="1662813" y="330917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Improved Lead Forecasting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7" name="Google Shape;817;p26"/>
          <p:cNvSpPr txBox="1"/>
          <p:nvPr/>
        </p:nvSpPr>
        <p:spPr>
          <a:xfrm>
            <a:off x="1662813" y="356509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Experimentation Framework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18" name="Google Shape;818;p26"/>
          <p:cNvCxnSpPr/>
          <p:nvPr/>
        </p:nvCxnSpPr>
        <p:spPr>
          <a:xfrm>
            <a:off x="499029" y="3519400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19" name="Google Shape;819;p26"/>
          <p:cNvSpPr/>
          <p:nvPr/>
        </p:nvSpPr>
        <p:spPr>
          <a:xfrm>
            <a:off x="483600" y="3570048"/>
            <a:ext cx="11106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Campaign Management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20" name="Google Shape;820;p26"/>
          <p:cNvSpPr txBox="1"/>
          <p:nvPr/>
        </p:nvSpPr>
        <p:spPr>
          <a:xfrm>
            <a:off x="1662813" y="370813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Identifying scalable Lead Generation Campaigns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1" name="Google Shape;821;p26"/>
          <p:cNvSpPr txBox="1"/>
          <p:nvPr/>
        </p:nvSpPr>
        <p:spPr>
          <a:xfrm>
            <a:off x="1662813" y="385090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ROI &amp; CAC calculation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2" name="Google Shape;822;p26"/>
          <p:cNvSpPr txBox="1"/>
          <p:nvPr/>
        </p:nvSpPr>
        <p:spPr>
          <a:xfrm>
            <a:off x="1662813" y="399268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Granular campaign reporting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3" name="Google Shape;823;p26"/>
          <p:cNvSpPr txBox="1"/>
          <p:nvPr/>
        </p:nvSpPr>
        <p:spPr>
          <a:xfrm>
            <a:off x="1662813" y="424961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Central performance dashboard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4" name="Google Shape;824;p26"/>
          <p:cNvSpPr txBox="1"/>
          <p:nvPr/>
        </p:nvSpPr>
        <p:spPr>
          <a:xfrm>
            <a:off x="1662813" y="440482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Lead management system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5" name="Google Shape;825;p26"/>
          <p:cNvSpPr txBox="1"/>
          <p:nvPr/>
        </p:nvSpPr>
        <p:spPr>
          <a:xfrm>
            <a:off x="1662813" y="455603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Full funnel definition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6" name="Google Shape;826;p26"/>
          <p:cNvSpPr txBox="1"/>
          <p:nvPr/>
        </p:nvSpPr>
        <p:spPr>
          <a:xfrm>
            <a:off x="1655213" y="470983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Monitoring of all Funnel Stage Indicators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7" name="Google Shape;827;p26"/>
          <p:cNvSpPr/>
          <p:nvPr/>
        </p:nvSpPr>
        <p:spPr>
          <a:xfrm>
            <a:off x="4325112" y="17315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8" name="Google Shape;828;p26"/>
          <p:cNvSpPr/>
          <p:nvPr/>
        </p:nvSpPr>
        <p:spPr>
          <a:xfrm>
            <a:off x="4325112" y="172977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9" name="Google Shape;829;p26"/>
          <p:cNvSpPr/>
          <p:nvPr/>
        </p:nvSpPr>
        <p:spPr>
          <a:xfrm>
            <a:off x="4325112" y="188636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0" name="Google Shape;830;p26"/>
          <p:cNvSpPr/>
          <p:nvPr/>
        </p:nvSpPr>
        <p:spPr>
          <a:xfrm>
            <a:off x="4325112" y="188457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1" name="Google Shape;831;p26"/>
          <p:cNvSpPr/>
          <p:nvPr/>
        </p:nvSpPr>
        <p:spPr>
          <a:xfrm>
            <a:off x="4325112" y="203299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2" name="Google Shape;832;p26"/>
          <p:cNvSpPr/>
          <p:nvPr/>
        </p:nvSpPr>
        <p:spPr>
          <a:xfrm>
            <a:off x="4325112" y="203120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3" name="Google Shape;833;p26"/>
          <p:cNvSpPr/>
          <p:nvPr/>
        </p:nvSpPr>
        <p:spPr>
          <a:xfrm>
            <a:off x="4325112" y="227852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4" name="Google Shape;834;p26"/>
          <p:cNvSpPr/>
          <p:nvPr/>
        </p:nvSpPr>
        <p:spPr>
          <a:xfrm>
            <a:off x="4325112" y="227674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5" name="Google Shape;835;p26"/>
          <p:cNvSpPr/>
          <p:nvPr/>
        </p:nvSpPr>
        <p:spPr>
          <a:xfrm>
            <a:off x="4325112" y="241753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6" name="Google Shape;836;p26"/>
          <p:cNvSpPr/>
          <p:nvPr/>
        </p:nvSpPr>
        <p:spPr>
          <a:xfrm>
            <a:off x="4325112" y="241574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7" name="Google Shape;837;p26"/>
          <p:cNvSpPr/>
          <p:nvPr/>
        </p:nvSpPr>
        <p:spPr>
          <a:xfrm>
            <a:off x="4325112" y="256433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8" name="Google Shape;838;p26"/>
          <p:cNvSpPr/>
          <p:nvPr/>
        </p:nvSpPr>
        <p:spPr>
          <a:xfrm>
            <a:off x="4325112" y="255918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9" name="Google Shape;839;p26"/>
          <p:cNvSpPr/>
          <p:nvPr/>
        </p:nvSpPr>
        <p:spPr>
          <a:xfrm>
            <a:off x="4325112" y="270084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0" name="Google Shape;840;p26"/>
          <p:cNvSpPr/>
          <p:nvPr/>
        </p:nvSpPr>
        <p:spPr>
          <a:xfrm>
            <a:off x="4325112" y="29026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1" name="Google Shape;841;p26"/>
          <p:cNvSpPr/>
          <p:nvPr/>
        </p:nvSpPr>
        <p:spPr>
          <a:xfrm>
            <a:off x="4325112" y="29008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2" name="Google Shape;842;p26"/>
          <p:cNvSpPr/>
          <p:nvPr/>
        </p:nvSpPr>
        <p:spPr>
          <a:xfrm>
            <a:off x="4325112" y="304139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3" name="Google Shape;843;p26"/>
          <p:cNvSpPr/>
          <p:nvPr/>
        </p:nvSpPr>
        <p:spPr>
          <a:xfrm>
            <a:off x="4325112" y="303961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4" name="Google Shape;844;p26"/>
          <p:cNvSpPr/>
          <p:nvPr/>
        </p:nvSpPr>
        <p:spPr>
          <a:xfrm>
            <a:off x="4325112" y="318968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5" name="Google Shape;845;p26"/>
          <p:cNvSpPr/>
          <p:nvPr/>
        </p:nvSpPr>
        <p:spPr>
          <a:xfrm>
            <a:off x="4325112" y="318789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6" name="Google Shape;846;p26"/>
          <p:cNvSpPr/>
          <p:nvPr/>
        </p:nvSpPr>
        <p:spPr>
          <a:xfrm>
            <a:off x="4325112" y="333312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7" name="Google Shape;847;p26"/>
          <p:cNvSpPr/>
          <p:nvPr/>
        </p:nvSpPr>
        <p:spPr>
          <a:xfrm>
            <a:off x="4325112" y="333133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8" name="Google Shape;848;p26"/>
          <p:cNvSpPr/>
          <p:nvPr/>
        </p:nvSpPr>
        <p:spPr>
          <a:xfrm>
            <a:off x="4325112" y="359017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9" name="Google Shape;849;p26"/>
          <p:cNvSpPr/>
          <p:nvPr/>
        </p:nvSpPr>
        <p:spPr>
          <a:xfrm>
            <a:off x="4325112" y="358838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0" name="Google Shape;850;p26"/>
          <p:cNvSpPr/>
          <p:nvPr/>
        </p:nvSpPr>
        <p:spPr>
          <a:xfrm>
            <a:off x="4325112" y="373753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1" name="Google Shape;851;p26"/>
          <p:cNvSpPr/>
          <p:nvPr/>
        </p:nvSpPr>
        <p:spPr>
          <a:xfrm>
            <a:off x="4325112" y="373574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2" name="Google Shape;852;p26"/>
          <p:cNvSpPr/>
          <p:nvPr/>
        </p:nvSpPr>
        <p:spPr>
          <a:xfrm>
            <a:off x="4325112" y="387384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3" name="Google Shape;853;p26"/>
          <p:cNvSpPr/>
          <p:nvPr/>
        </p:nvSpPr>
        <p:spPr>
          <a:xfrm>
            <a:off x="4325112" y="387206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4" name="Google Shape;854;p26"/>
          <p:cNvSpPr/>
          <p:nvPr/>
        </p:nvSpPr>
        <p:spPr>
          <a:xfrm>
            <a:off x="4325112" y="401846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5" name="Google Shape;855;p26"/>
          <p:cNvSpPr/>
          <p:nvPr/>
        </p:nvSpPr>
        <p:spPr>
          <a:xfrm>
            <a:off x="4325112" y="401667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6" name="Google Shape;856;p26"/>
          <p:cNvSpPr/>
          <p:nvPr/>
        </p:nvSpPr>
        <p:spPr>
          <a:xfrm>
            <a:off x="4325112" y="427543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7" name="Google Shape;857;p26"/>
          <p:cNvSpPr/>
          <p:nvPr/>
        </p:nvSpPr>
        <p:spPr>
          <a:xfrm>
            <a:off x="4325112" y="427364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8" name="Google Shape;858;p26"/>
          <p:cNvSpPr/>
          <p:nvPr/>
        </p:nvSpPr>
        <p:spPr>
          <a:xfrm>
            <a:off x="4325112" y="442726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9" name="Google Shape;859;p26"/>
          <p:cNvSpPr/>
          <p:nvPr/>
        </p:nvSpPr>
        <p:spPr>
          <a:xfrm>
            <a:off x="4325112" y="442548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0" name="Google Shape;860;p26"/>
          <p:cNvSpPr/>
          <p:nvPr/>
        </p:nvSpPr>
        <p:spPr>
          <a:xfrm>
            <a:off x="4325112" y="458176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1" name="Google Shape;861;p26"/>
          <p:cNvSpPr/>
          <p:nvPr/>
        </p:nvSpPr>
        <p:spPr>
          <a:xfrm>
            <a:off x="4325112" y="45804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2" name="Google Shape;862;p26"/>
          <p:cNvSpPr/>
          <p:nvPr/>
        </p:nvSpPr>
        <p:spPr>
          <a:xfrm>
            <a:off x="4325112" y="473355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3" name="Google Shape;863;p26"/>
          <p:cNvSpPr/>
          <p:nvPr/>
        </p:nvSpPr>
        <p:spPr>
          <a:xfrm>
            <a:off x="4325112" y="473356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4" name="Google Shape;864;p26"/>
          <p:cNvSpPr txBox="1"/>
          <p:nvPr>
            <p:ph type="ctrTitle"/>
          </p:nvPr>
        </p:nvSpPr>
        <p:spPr>
          <a:xfrm>
            <a:off x="2857055" y="748600"/>
            <a:ext cx="6360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65" name="Google Shape;865;p26"/>
          <p:cNvSpPr/>
          <p:nvPr/>
        </p:nvSpPr>
        <p:spPr>
          <a:xfrm>
            <a:off x="484660" y="4272475"/>
            <a:ext cx="11106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Full Funnel Data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866" name="Google Shape;866;p26"/>
          <p:cNvCxnSpPr/>
          <p:nvPr/>
        </p:nvCxnSpPr>
        <p:spPr>
          <a:xfrm>
            <a:off x="499029" y="4215700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67" name="Google Shape;867;p26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68" name="Google Shape;868;p26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869" name="Google Shape;869;p26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870" name="Google Shape;870;p26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871" name="Google Shape;871;p26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872" name="Google Shape;872;p26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873" name="Google Shape;873;p26"/>
          <p:cNvSpPr txBox="1"/>
          <p:nvPr/>
        </p:nvSpPr>
        <p:spPr>
          <a:xfrm>
            <a:off x="4911525" y="1923509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4" name="Google Shape;874;p26"/>
          <p:cNvSpPr txBox="1"/>
          <p:nvPr/>
        </p:nvSpPr>
        <p:spPr>
          <a:xfrm>
            <a:off x="6943375" y="1942208"/>
            <a:ext cx="17985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5" name="Google Shape;875;p26"/>
          <p:cNvSpPr txBox="1"/>
          <p:nvPr/>
        </p:nvSpPr>
        <p:spPr>
          <a:xfrm>
            <a:off x="4911525" y="146486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6" name="Google Shape;876;p26"/>
          <p:cNvSpPr txBox="1"/>
          <p:nvPr/>
        </p:nvSpPr>
        <p:spPr>
          <a:xfrm>
            <a:off x="4911525" y="2787705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7" name="Google Shape;877;p26"/>
          <p:cNvSpPr txBox="1"/>
          <p:nvPr/>
        </p:nvSpPr>
        <p:spPr>
          <a:xfrm>
            <a:off x="6943375" y="1464861"/>
            <a:ext cx="1798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8" name="Google Shape;878;p26"/>
          <p:cNvSpPr txBox="1"/>
          <p:nvPr/>
        </p:nvSpPr>
        <p:spPr>
          <a:xfrm>
            <a:off x="6943375" y="2843801"/>
            <a:ext cx="17985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9" name="Google Shape;879;p26"/>
          <p:cNvSpPr txBox="1"/>
          <p:nvPr/>
        </p:nvSpPr>
        <p:spPr>
          <a:xfrm>
            <a:off x="4911525" y="1694185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0" name="Google Shape;880;p26"/>
          <p:cNvSpPr txBox="1"/>
          <p:nvPr/>
        </p:nvSpPr>
        <p:spPr>
          <a:xfrm>
            <a:off x="4911525" y="324635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1" name="Google Shape;881;p26"/>
          <p:cNvSpPr txBox="1"/>
          <p:nvPr/>
        </p:nvSpPr>
        <p:spPr>
          <a:xfrm>
            <a:off x="4911525" y="3705002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2" name="Google Shape;882;p26"/>
          <p:cNvSpPr txBox="1"/>
          <p:nvPr/>
        </p:nvSpPr>
        <p:spPr>
          <a:xfrm>
            <a:off x="6943375" y="1703534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3" name="Google Shape;883;p26"/>
          <p:cNvSpPr txBox="1"/>
          <p:nvPr/>
        </p:nvSpPr>
        <p:spPr>
          <a:xfrm>
            <a:off x="6943375" y="3259725"/>
            <a:ext cx="19398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4" name="Google Shape;884;p26"/>
          <p:cNvSpPr txBox="1"/>
          <p:nvPr/>
        </p:nvSpPr>
        <p:spPr>
          <a:xfrm>
            <a:off x="6943375" y="3728600"/>
            <a:ext cx="19398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5" name="Google Shape;885;p26"/>
          <p:cNvSpPr txBox="1"/>
          <p:nvPr/>
        </p:nvSpPr>
        <p:spPr>
          <a:xfrm>
            <a:off x="4911525" y="301702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6" name="Google Shape;886;p26"/>
          <p:cNvSpPr txBox="1"/>
          <p:nvPr/>
        </p:nvSpPr>
        <p:spPr>
          <a:xfrm>
            <a:off x="6943375" y="3053375"/>
            <a:ext cx="17856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7" name="Google Shape;887;p26"/>
          <p:cNvSpPr txBox="1"/>
          <p:nvPr/>
        </p:nvSpPr>
        <p:spPr>
          <a:xfrm>
            <a:off x="4911525" y="3934326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8" name="Google Shape;888;p26"/>
          <p:cNvSpPr txBox="1"/>
          <p:nvPr/>
        </p:nvSpPr>
        <p:spPr>
          <a:xfrm>
            <a:off x="4911525" y="2329057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9" name="Google Shape;889;p26"/>
          <p:cNvSpPr txBox="1"/>
          <p:nvPr/>
        </p:nvSpPr>
        <p:spPr>
          <a:xfrm>
            <a:off x="4911525" y="439297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0" name="Google Shape;890;p26"/>
          <p:cNvSpPr txBox="1"/>
          <p:nvPr/>
        </p:nvSpPr>
        <p:spPr>
          <a:xfrm>
            <a:off x="6943375" y="3914170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1" name="Google Shape;891;p26"/>
          <p:cNvSpPr txBox="1"/>
          <p:nvPr/>
        </p:nvSpPr>
        <p:spPr>
          <a:xfrm>
            <a:off x="6943375" y="2366455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2" name="Google Shape;892;p26"/>
          <p:cNvSpPr txBox="1"/>
          <p:nvPr/>
        </p:nvSpPr>
        <p:spPr>
          <a:xfrm>
            <a:off x="6943375" y="4391517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3" name="Google Shape;893;p26"/>
          <p:cNvSpPr txBox="1"/>
          <p:nvPr/>
        </p:nvSpPr>
        <p:spPr>
          <a:xfrm>
            <a:off x="4911525" y="3475678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4" name="Google Shape;894;p26"/>
          <p:cNvSpPr txBox="1"/>
          <p:nvPr/>
        </p:nvSpPr>
        <p:spPr>
          <a:xfrm>
            <a:off x="6943375" y="3489925"/>
            <a:ext cx="17856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5" name="Google Shape;895;p26"/>
          <p:cNvSpPr txBox="1"/>
          <p:nvPr/>
        </p:nvSpPr>
        <p:spPr>
          <a:xfrm>
            <a:off x="4911525" y="4622298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6" name="Google Shape;896;p26"/>
          <p:cNvSpPr txBox="1"/>
          <p:nvPr/>
        </p:nvSpPr>
        <p:spPr>
          <a:xfrm>
            <a:off x="4911525" y="255838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7" name="Google Shape;897;p26"/>
          <p:cNvSpPr txBox="1"/>
          <p:nvPr/>
        </p:nvSpPr>
        <p:spPr>
          <a:xfrm>
            <a:off x="6943375" y="4630191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8" name="Google Shape;898;p26"/>
          <p:cNvSpPr txBox="1"/>
          <p:nvPr/>
        </p:nvSpPr>
        <p:spPr>
          <a:xfrm>
            <a:off x="6943375" y="2605129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9" name="Google Shape;899;p26"/>
          <p:cNvSpPr txBox="1"/>
          <p:nvPr/>
        </p:nvSpPr>
        <p:spPr>
          <a:xfrm>
            <a:off x="4911525" y="2099733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0" name="Google Shape;900;p26"/>
          <p:cNvSpPr txBox="1"/>
          <p:nvPr/>
        </p:nvSpPr>
        <p:spPr>
          <a:xfrm>
            <a:off x="6943375" y="2127782"/>
            <a:ext cx="1798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1" name="Google Shape;901;p26"/>
          <p:cNvSpPr txBox="1"/>
          <p:nvPr/>
        </p:nvSpPr>
        <p:spPr>
          <a:xfrm>
            <a:off x="4911525" y="416365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2" name="Google Shape;902;p26"/>
          <p:cNvSpPr txBox="1"/>
          <p:nvPr/>
        </p:nvSpPr>
        <p:spPr>
          <a:xfrm>
            <a:off x="6943375" y="4152844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903" name="Google Shape;903;p26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904" name="Google Shape;904;p26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905" name="Google Shape;905;p26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906" name="Google Shape;906;p26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907" name="Google Shape;907;p26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908" name="Google Shape;908;p26"/>
          <p:cNvSpPr/>
          <p:nvPr/>
        </p:nvSpPr>
        <p:spPr>
          <a:xfrm>
            <a:off x="4971800" y="1504850"/>
            <a:ext cx="3911400" cy="238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909" name="Google Shape;909;p26"/>
          <p:cNvSpPr/>
          <p:nvPr/>
        </p:nvSpPr>
        <p:spPr>
          <a:xfrm>
            <a:off x="4978200" y="1923500"/>
            <a:ext cx="3911400" cy="238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910" name="Google Shape;910;p26"/>
          <p:cNvSpPr/>
          <p:nvPr/>
        </p:nvSpPr>
        <p:spPr>
          <a:xfrm>
            <a:off x="4978200" y="2384750"/>
            <a:ext cx="3911400" cy="209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911" name="Google Shape;911;p26"/>
          <p:cNvSpPr/>
          <p:nvPr/>
        </p:nvSpPr>
        <p:spPr>
          <a:xfrm>
            <a:off x="4959350" y="4641150"/>
            <a:ext cx="3950100" cy="238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912" name="Google Shape;912;p26"/>
          <p:cNvSpPr/>
          <p:nvPr/>
        </p:nvSpPr>
        <p:spPr>
          <a:xfrm>
            <a:off x="4325112" y="270240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13" name="Google Shape;913;p26" title="1765246633891.jpe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4800" y="697825"/>
            <a:ext cx="238800" cy="2388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17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27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27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0" name="Google Shape;920;p27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921" name="Google Shape;921;p27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922" name="Google Shape;922;p27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923" name="Google Shape;923;p27"/>
          <p:cNvSpPr txBox="1"/>
          <p:nvPr>
            <p:ph type="ctrTitle"/>
          </p:nvPr>
        </p:nvSpPr>
        <p:spPr>
          <a:xfrm>
            <a:off x="483600" y="750300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 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924" name="Google Shape;924;p27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5" name="Google Shape;925;p27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26" name="Google Shape;926;p27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927" name="Google Shape;927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928" name="Google Shape;928;p27"/>
          <p:cNvSpPr txBox="1"/>
          <p:nvPr/>
        </p:nvSpPr>
        <p:spPr>
          <a:xfrm>
            <a:off x="7862732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 Grade 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29" name="Google Shape;929;p27"/>
          <p:cNvSpPr/>
          <p:nvPr/>
        </p:nvSpPr>
        <p:spPr>
          <a:xfrm>
            <a:off x="483600" y="1545598"/>
            <a:ext cx="1095300" cy="6120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Prospection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30" name="Google Shape;930;p27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Prospecting Methodologies &amp; techniques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31" name="Google Shape;931;p27"/>
          <p:cNvSpPr txBox="1"/>
          <p:nvPr/>
        </p:nvSpPr>
        <p:spPr>
          <a:xfrm>
            <a:off x="1655100" y="17078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Tools &amp; Technology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932" name="Google Shape;932;p27"/>
          <p:cNvCxnSpPr/>
          <p:nvPr/>
        </p:nvCxnSpPr>
        <p:spPr>
          <a:xfrm>
            <a:off x="499029" y="2208475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3" name="Google Shape;933;p27"/>
          <p:cNvSpPr/>
          <p:nvPr/>
        </p:nvSpPr>
        <p:spPr>
          <a:xfrm>
            <a:off x="4325112" y="15650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34" name="Google Shape;934;p27"/>
          <p:cNvSpPr/>
          <p:nvPr/>
        </p:nvSpPr>
        <p:spPr>
          <a:xfrm>
            <a:off x="4325112" y="156814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935" name="Google Shape;935;p27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6" name="Google Shape;936;p27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937" name="Google Shape;937;p27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938" name="Google Shape;938;p27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939" name="Google Shape;939;p27"/>
          <p:cNvSpPr/>
          <p:nvPr/>
        </p:nvSpPr>
        <p:spPr>
          <a:xfrm>
            <a:off x="492300" y="2259350"/>
            <a:ext cx="10953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Discovery &amp; Qualification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40" name="Google Shape;940;p27"/>
          <p:cNvSpPr txBox="1"/>
          <p:nvPr/>
        </p:nvSpPr>
        <p:spPr>
          <a:xfrm>
            <a:off x="1655250" y="185973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Target Market analysis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1" name="Google Shape;941;p27"/>
          <p:cNvSpPr txBox="1"/>
          <p:nvPr/>
        </p:nvSpPr>
        <p:spPr>
          <a:xfrm>
            <a:off x="1655250" y="20025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monitoring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2" name="Google Shape;942;p27"/>
          <p:cNvSpPr txBox="1"/>
          <p:nvPr/>
        </p:nvSpPr>
        <p:spPr>
          <a:xfrm>
            <a:off x="1654861" y="225223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Discovery Techniques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3" name="Google Shape;943;p27"/>
          <p:cNvSpPr txBox="1"/>
          <p:nvPr/>
        </p:nvSpPr>
        <p:spPr>
          <a:xfrm>
            <a:off x="1655100" y="239089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Qualification Criterias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4" name="Google Shape;944;p27"/>
          <p:cNvSpPr txBox="1"/>
          <p:nvPr/>
        </p:nvSpPr>
        <p:spPr>
          <a:xfrm>
            <a:off x="1655100" y="253267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Active listening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5" name="Google Shape;945;p27"/>
          <p:cNvSpPr txBox="1"/>
          <p:nvPr/>
        </p:nvSpPr>
        <p:spPr>
          <a:xfrm>
            <a:off x="1655100" y="267545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Questioning</a:t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skills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6" name="Google Shape;946;p27"/>
          <p:cNvSpPr txBox="1"/>
          <p:nvPr/>
        </p:nvSpPr>
        <p:spPr>
          <a:xfrm>
            <a:off x="1655100" y="28776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Personalization &amp; Customization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7" name="Google Shape;947;p27"/>
          <p:cNvSpPr txBox="1"/>
          <p:nvPr/>
        </p:nvSpPr>
        <p:spPr>
          <a:xfrm>
            <a:off x="1655100" y="302044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Showcasing demo methodology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948" name="Google Shape;948;p27"/>
          <p:cNvCxnSpPr/>
          <p:nvPr/>
        </p:nvCxnSpPr>
        <p:spPr>
          <a:xfrm>
            <a:off x="499029" y="2880952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49" name="Google Shape;949;p27"/>
          <p:cNvSpPr/>
          <p:nvPr/>
        </p:nvSpPr>
        <p:spPr>
          <a:xfrm>
            <a:off x="499025" y="2923673"/>
            <a:ext cx="1095300" cy="5406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Demo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50" name="Google Shape;950;p27"/>
          <p:cNvSpPr txBox="1"/>
          <p:nvPr/>
        </p:nvSpPr>
        <p:spPr>
          <a:xfrm>
            <a:off x="1662813" y="316639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Demo technical environment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1" name="Google Shape;951;p27"/>
          <p:cNvSpPr txBox="1"/>
          <p:nvPr/>
        </p:nvSpPr>
        <p:spPr>
          <a:xfrm>
            <a:off x="1662813" y="330917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Post-demo follow-up strategies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2" name="Google Shape;952;p27"/>
          <p:cNvSpPr txBox="1"/>
          <p:nvPr/>
        </p:nvSpPr>
        <p:spPr>
          <a:xfrm>
            <a:off x="1662813" y="356509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Proposal customization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953" name="Google Shape;953;p27"/>
          <p:cNvCxnSpPr/>
          <p:nvPr/>
        </p:nvCxnSpPr>
        <p:spPr>
          <a:xfrm>
            <a:off x="499029" y="3519400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54" name="Google Shape;954;p27"/>
          <p:cNvSpPr/>
          <p:nvPr/>
        </p:nvSpPr>
        <p:spPr>
          <a:xfrm>
            <a:off x="483600" y="3570048"/>
            <a:ext cx="11106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Proposal &amp; Negotiation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55" name="Google Shape;955;p27"/>
          <p:cNvSpPr txBox="1"/>
          <p:nvPr/>
        </p:nvSpPr>
        <p:spPr>
          <a:xfrm>
            <a:off x="1662813" y="370813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Proposal presentation process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6" name="Google Shape;956;p27"/>
          <p:cNvSpPr txBox="1"/>
          <p:nvPr/>
        </p:nvSpPr>
        <p:spPr>
          <a:xfrm>
            <a:off x="1662813" y="385090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Negotiation skills and strategies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7" name="Google Shape;957;p27"/>
          <p:cNvSpPr txBox="1"/>
          <p:nvPr/>
        </p:nvSpPr>
        <p:spPr>
          <a:xfrm>
            <a:off x="1662813" y="399268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Pricing conversations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8" name="Google Shape;958;p27"/>
          <p:cNvSpPr txBox="1"/>
          <p:nvPr/>
        </p:nvSpPr>
        <p:spPr>
          <a:xfrm>
            <a:off x="1662813" y="424961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Sense of Urgency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9" name="Google Shape;959;p27"/>
          <p:cNvSpPr txBox="1"/>
          <p:nvPr/>
        </p:nvSpPr>
        <p:spPr>
          <a:xfrm>
            <a:off x="1662813" y="440482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Building trust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0" name="Google Shape;960;p27"/>
          <p:cNvSpPr txBox="1"/>
          <p:nvPr/>
        </p:nvSpPr>
        <p:spPr>
          <a:xfrm>
            <a:off x="1662813" y="455603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Existing clients reference checks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1" name="Google Shape;961;p27"/>
          <p:cNvSpPr txBox="1"/>
          <p:nvPr/>
        </p:nvSpPr>
        <p:spPr>
          <a:xfrm>
            <a:off x="1655213" y="470983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Post-closing &amp; relationship building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2" name="Google Shape;962;p27"/>
          <p:cNvSpPr/>
          <p:nvPr/>
        </p:nvSpPr>
        <p:spPr>
          <a:xfrm>
            <a:off x="4325112" y="17315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3" name="Google Shape;963;p27"/>
          <p:cNvSpPr/>
          <p:nvPr/>
        </p:nvSpPr>
        <p:spPr>
          <a:xfrm>
            <a:off x="4325112" y="172977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4" name="Google Shape;964;p27"/>
          <p:cNvSpPr/>
          <p:nvPr/>
        </p:nvSpPr>
        <p:spPr>
          <a:xfrm>
            <a:off x="4325112" y="188636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5" name="Google Shape;965;p27"/>
          <p:cNvSpPr/>
          <p:nvPr/>
        </p:nvSpPr>
        <p:spPr>
          <a:xfrm>
            <a:off x="4325112" y="188457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6" name="Google Shape;966;p27"/>
          <p:cNvSpPr/>
          <p:nvPr/>
        </p:nvSpPr>
        <p:spPr>
          <a:xfrm>
            <a:off x="4325112" y="203299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7" name="Google Shape;967;p27"/>
          <p:cNvSpPr/>
          <p:nvPr/>
        </p:nvSpPr>
        <p:spPr>
          <a:xfrm>
            <a:off x="4325112" y="203120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8" name="Google Shape;968;p27"/>
          <p:cNvSpPr/>
          <p:nvPr/>
        </p:nvSpPr>
        <p:spPr>
          <a:xfrm>
            <a:off x="4325112" y="227852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9" name="Google Shape;969;p27"/>
          <p:cNvSpPr/>
          <p:nvPr/>
        </p:nvSpPr>
        <p:spPr>
          <a:xfrm>
            <a:off x="4325112" y="225810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0" name="Google Shape;970;p27"/>
          <p:cNvSpPr/>
          <p:nvPr/>
        </p:nvSpPr>
        <p:spPr>
          <a:xfrm>
            <a:off x="4325112" y="241753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1" name="Google Shape;971;p27"/>
          <p:cNvSpPr/>
          <p:nvPr/>
        </p:nvSpPr>
        <p:spPr>
          <a:xfrm>
            <a:off x="4325112" y="241574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2" name="Google Shape;972;p27"/>
          <p:cNvSpPr/>
          <p:nvPr/>
        </p:nvSpPr>
        <p:spPr>
          <a:xfrm>
            <a:off x="4325112" y="256433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3" name="Google Shape;973;p27"/>
          <p:cNvSpPr/>
          <p:nvPr/>
        </p:nvSpPr>
        <p:spPr>
          <a:xfrm>
            <a:off x="4325112" y="270084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4" name="Google Shape;974;p27"/>
          <p:cNvSpPr/>
          <p:nvPr/>
        </p:nvSpPr>
        <p:spPr>
          <a:xfrm>
            <a:off x="4325112" y="269905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5" name="Google Shape;975;p27"/>
          <p:cNvSpPr/>
          <p:nvPr/>
        </p:nvSpPr>
        <p:spPr>
          <a:xfrm>
            <a:off x="4325112" y="29026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6" name="Google Shape;976;p27"/>
          <p:cNvSpPr/>
          <p:nvPr/>
        </p:nvSpPr>
        <p:spPr>
          <a:xfrm>
            <a:off x="4325112" y="29008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7" name="Google Shape;977;p27"/>
          <p:cNvSpPr/>
          <p:nvPr/>
        </p:nvSpPr>
        <p:spPr>
          <a:xfrm>
            <a:off x="4325112" y="304139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8" name="Google Shape;978;p27"/>
          <p:cNvSpPr/>
          <p:nvPr/>
        </p:nvSpPr>
        <p:spPr>
          <a:xfrm>
            <a:off x="4325112" y="303961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9" name="Google Shape;979;p27"/>
          <p:cNvSpPr/>
          <p:nvPr/>
        </p:nvSpPr>
        <p:spPr>
          <a:xfrm>
            <a:off x="4325112" y="318968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0" name="Google Shape;980;p27"/>
          <p:cNvSpPr/>
          <p:nvPr/>
        </p:nvSpPr>
        <p:spPr>
          <a:xfrm>
            <a:off x="4325112" y="318789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1" name="Google Shape;981;p27"/>
          <p:cNvSpPr/>
          <p:nvPr/>
        </p:nvSpPr>
        <p:spPr>
          <a:xfrm>
            <a:off x="4325112" y="333312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2" name="Google Shape;982;p27"/>
          <p:cNvSpPr/>
          <p:nvPr/>
        </p:nvSpPr>
        <p:spPr>
          <a:xfrm>
            <a:off x="4325112" y="333133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3" name="Google Shape;983;p27"/>
          <p:cNvSpPr/>
          <p:nvPr/>
        </p:nvSpPr>
        <p:spPr>
          <a:xfrm>
            <a:off x="4325112" y="359017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4" name="Google Shape;984;p27"/>
          <p:cNvSpPr/>
          <p:nvPr/>
        </p:nvSpPr>
        <p:spPr>
          <a:xfrm>
            <a:off x="4325112" y="373753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5" name="Google Shape;985;p27"/>
          <p:cNvSpPr/>
          <p:nvPr/>
        </p:nvSpPr>
        <p:spPr>
          <a:xfrm>
            <a:off x="4325112" y="373574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6" name="Google Shape;986;p27"/>
          <p:cNvSpPr/>
          <p:nvPr/>
        </p:nvSpPr>
        <p:spPr>
          <a:xfrm>
            <a:off x="4325112" y="387384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7" name="Google Shape;987;p27"/>
          <p:cNvSpPr/>
          <p:nvPr/>
        </p:nvSpPr>
        <p:spPr>
          <a:xfrm>
            <a:off x="4325112" y="387206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8" name="Google Shape;988;p27"/>
          <p:cNvSpPr/>
          <p:nvPr/>
        </p:nvSpPr>
        <p:spPr>
          <a:xfrm>
            <a:off x="4325112" y="401846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9" name="Google Shape;989;p27"/>
          <p:cNvSpPr/>
          <p:nvPr/>
        </p:nvSpPr>
        <p:spPr>
          <a:xfrm>
            <a:off x="4325112" y="401667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0" name="Google Shape;990;p27"/>
          <p:cNvSpPr/>
          <p:nvPr/>
        </p:nvSpPr>
        <p:spPr>
          <a:xfrm>
            <a:off x="4325112" y="427543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1" name="Google Shape;991;p27"/>
          <p:cNvSpPr/>
          <p:nvPr/>
        </p:nvSpPr>
        <p:spPr>
          <a:xfrm>
            <a:off x="4325112" y="427364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2" name="Google Shape;992;p27"/>
          <p:cNvSpPr/>
          <p:nvPr/>
        </p:nvSpPr>
        <p:spPr>
          <a:xfrm>
            <a:off x="4325112" y="442726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3" name="Google Shape;993;p27"/>
          <p:cNvSpPr/>
          <p:nvPr/>
        </p:nvSpPr>
        <p:spPr>
          <a:xfrm>
            <a:off x="4325112" y="442548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4" name="Google Shape;994;p27"/>
          <p:cNvSpPr/>
          <p:nvPr/>
        </p:nvSpPr>
        <p:spPr>
          <a:xfrm>
            <a:off x="4325112" y="458176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5" name="Google Shape;995;p27"/>
          <p:cNvSpPr/>
          <p:nvPr/>
        </p:nvSpPr>
        <p:spPr>
          <a:xfrm>
            <a:off x="4325112" y="457998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6" name="Google Shape;996;p27"/>
          <p:cNvSpPr/>
          <p:nvPr/>
        </p:nvSpPr>
        <p:spPr>
          <a:xfrm>
            <a:off x="4325112" y="473355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7" name="Google Shape;997;p27"/>
          <p:cNvSpPr/>
          <p:nvPr/>
        </p:nvSpPr>
        <p:spPr>
          <a:xfrm>
            <a:off x="4325112" y="473176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8" name="Google Shape;998;p27"/>
          <p:cNvSpPr txBox="1"/>
          <p:nvPr>
            <p:ph type="ctrTitle"/>
          </p:nvPr>
        </p:nvSpPr>
        <p:spPr>
          <a:xfrm>
            <a:off x="2440741" y="7486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2.6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99" name="Google Shape;999;p27"/>
          <p:cNvSpPr/>
          <p:nvPr/>
        </p:nvSpPr>
        <p:spPr>
          <a:xfrm>
            <a:off x="484660" y="4272475"/>
            <a:ext cx="11106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Closing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000" name="Google Shape;1000;p27"/>
          <p:cNvCxnSpPr/>
          <p:nvPr/>
        </p:nvCxnSpPr>
        <p:spPr>
          <a:xfrm>
            <a:off x="499029" y="4215700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01" name="Google Shape;1001;p27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002" name="Google Shape;1002;p27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03" name="Google Shape;1003;p27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04" name="Google Shape;1004;p27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05" name="Google Shape;1005;p27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06" name="Google Shape;1006;p27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07" name="Google Shape;1007;p27"/>
          <p:cNvSpPr txBox="1"/>
          <p:nvPr/>
        </p:nvSpPr>
        <p:spPr>
          <a:xfrm>
            <a:off x="4922250" y="2788700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08" name="Google Shape;1008;p27"/>
          <p:cNvSpPr txBox="1"/>
          <p:nvPr/>
        </p:nvSpPr>
        <p:spPr>
          <a:xfrm>
            <a:off x="6957600" y="2759074"/>
            <a:ext cx="1967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09" name="Google Shape;1009;p27"/>
          <p:cNvSpPr txBox="1"/>
          <p:nvPr/>
        </p:nvSpPr>
        <p:spPr>
          <a:xfrm>
            <a:off x="4922250" y="227978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0" name="Google Shape;1010;p27"/>
          <p:cNvSpPr txBox="1"/>
          <p:nvPr/>
        </p:nvSpPr>
        <p:spPr>
          <a:xfrm>
            <a:off x="4922250" y="253424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1" name="Google Shape;1011;p27"/>
          <p:cNvSpPr txBox="1"/>
          <p:nvPr/>
        </p:nvSpPr>
        <p:spPr>
          <a:xfrm>
            <a:off x="6957600" y="2320671"/>
            <a:ext cx="19671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2" name="Google Shape;1012;p27"/>
          <p:cNvSpPr txBox="1"/>
          <p:nvPr/>
        </p:nvSpPr>
        <p:spPr>
          <a:xfrm>
            <a:off x="6957600" y="2500720"/>
            <a:ext cx="20811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3" name="Google Shape;1013;p27"/>
          <p:cNvSpPr txBox="1"/>
          <p:nvPr/>
        </p:nvSpPr>
        <p:spPr>
          <a:xfrm>
            <a:off x="4922250" y="3496786"/>
            <a:ext cx="19029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4" name="Google Shape;1014;p27"/>
          <p:cNvSpPr txBox="1"/>
          <p:nvPr/>
        </p:nvSpPr>
        <p:spPr>
          <a:xfrm>
            <a:off x="4922250" y="177086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5" name="Google Shape;1015;p27"/>
          <p:cNvSpPr txBox="1"/>
          <p:nvPr/>
        </p:nvSpPr>
        <p:spPr>
          <a:xfrm>
            <a:off x="4922250" y="151005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6" name="Google Shape;1016;p27"/>
          <p:cNvSpPr txBox="1"/>
          <p:nvPr/>
        </p:nvSpPr>
        <p:spPr>
          <a:xfrm>
            <a:off x="6957600" y="3481026"/>
            <a:ext cx="19530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7" name="Google Shape;1017;p27"/>
          <p:cNvSpPr txBox="1"/>
          <p:nvPr/>
        </p:nvSpPr>
        <p:spPr>
          <a:xfrm>
            <a:off x="6957600" y="1771624"/>
            <a:ext cx="19530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8" name="Google Shape;1018;p27"/>
          <p:cNvSpPr txBox="1"/>
          <p:nvPr/>
        </p:nvSpPr>
        <p:spPr>
          <a:xfrm>
            <a:off x="6957600" y="1545600"/>
            <a:ext cx="19530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9" name="Google Shape;1019;p27"/>
          <p:cNvSpPr txBox="1"/>
          <p:nvPr/>
        </p:nvSpPr>
        <p:spPr>
          <a:xfrm>
            <a:off x="4922250" y="3790175"/>
            <a:ext cx="19029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0" name="Google Shape;1020;p27"/>
          <p:cNvSpPr txBox="1"/>
          <p:nvPr/>
        </p:nvSpPr>
        <p:spPr>
          <a:xfrm>
            <a:off x="6957600" y="3739389"/>
            <a:ext cx="195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1" name="Google Shape;1021;p27"/>
          <p:cNvSpPr txBox="1"/>
          <p:nvPr/>
        </p:nvSpPr>
        <p:spPr>
          <a:xfrm>
            <a:off x="4922250" y="400790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2" name="Google Shape;1022;p27"/>
          <p:cNvSpPr txBox="1"/>
          <p:nvPr/>
        </p:nvSpPr>
        <p:spPr>
          <a:xfrm>
            <a:off x="4922250" y="426236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3" name="Google Shape;1023;p27"/>
          <p:cNvSpPr txBox="1"/>
          <p:nvPr/>
        </p:nvSpPr>
        <p:spPr>
          <a:xfrm>
            <a:off x="4922250" y="451682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4" name="Google Shape;1024;p27"/>
          <p:cNvSpPr txBox="1"/>
          <p:nvPr/>
        </p:nvSpPr>
        <p:spPr>
          <a:xfrm>
            <a:off x="6957600" y="3997749"/>
            <a:ext cx="19530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5" name="Google Shape;1025;p27"/>
          <p:cNvSpPr txBox="1"/>
          <p:nvPr/>
        </p:nvSpPr>
        <p:spPr>
          <a:xfrm>
            <a:off x="6957600" y="4256100"/>
            <a:ext cx="1953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6" name="Google Shape;1026;p27"/>
          <p:cNvSpPr txBox="1"/>
          <p:nvPr/>
        </p:nvSpPr>
        <p:spPr>
          <a:xfrm>
            <a:off x="6957600" y="4514450"/>
            <a:ext cx="195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7" name="Google Shape;1027;p27"/>
          <p:cNvSpPr txBox="1"/>
          <p:nvPr/>
        </p:nvSpPr>
        <p:spPr>
          <a:xfrm>
            <a:off x="4922250" y="324452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8" name="Google Shape;1028;p27"/>
          <p:cNvSpPr txBox="1"/>
          <p:nvPr/>
        </p:nvSpPr>
        <p:spPr>
          <a:xfrm>
            <a:off x="6957600" y="3222681"/>
            <a:ext cx="195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9" name="Google Shape;1029;p27"/>
          <p:cNvSpPr txBox="1"/>
          <p:nvPr/>
        </p:nvSpPr>
        <p:spPr>
          <a:xfrm>
            <a:off x="4922250" y="299006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30" name="Google Shape;1030;p27"/>
          <p:cNvSpPr txBox="1"/>
          <p:nvPr/>
        </p:nvSpPr>
        <p:spPr>
          <a:xfrm>
            <a:off x="6957600" y="2964328"/>
            <a:ext cx="195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31" name="Google Shape;1031;p27"/>
          <p:cNvSpPr txBox="1"/>
          <p:nvPr/>
        </p:nvSpPr>
        <p:spPr>
          <a:xfrm>
            <a:off x="4922250" y="202532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32" name="Google Shape;1032;p27"/>
          <p:cNvSpPr txBox="1"/>
          <p:nvPr/>
        </p:nvSpPr>
        <p:spPr>
          <a:xfrm>
            <a:off x="6957600" y="2062319"/>
            <a:ext cx="19671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033" name="Google Shape;1033;p27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1034" name="Google Shape;1034;p27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035" name="Google Shape;1035;p27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036" name="Google Shape;1036;p27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037" name="Google Shape;1037;p27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038" name="Google Shape;1038;p27"/>
          <p:cNvSpPr/>
          <p:nvPr/>
        </p:nvSpPr>
        <p:spPr>
          <a:xfrm>
            <a:off x="4960500" y="2062350"/>
            <a:ext cx="39501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039" name="Google Shape;1039;p27"/>
          <p:cNvSpPr/>
          <p:nvPr/>
        </p:nvSpPr>
        <p:spPr>
          <a:xfrm>
            <a:off x="4960500" y="2572388"/>
            <a:ext cx="3950100" cy="4185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040" name="Google Shape;1040;p27"/>
          <p:cNvSpPr/>
          <p:nvPr/>
        </p:nvSpPr>
        <p:spPr>
          <a:xfrm>
            <a:off x="4971800" y="3739387"/>
            <a:ext cx="39501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041" name="Google Shape;1041;p27"/>
          <p:cNvSpPr/>
          <p:nvPr/>
        </p:nvSpPr>
        <p:spPr>
          <a:xfrm>
            <a:off x="4960500" y="1509350"/>
            <a:ext cx="3912000" cy="2919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pic>
        <p:nvPicPr>
          <p:cNvPr id="1042" name="Google Shape;1042;p27"/>
          <p:cNvPicPr preferRelativeResize="0"/>
          <p:nvPr/>
        </p:nvPicPr>
        <p:blipFill rotWithShape="1">
          <a:blip r:embed="rId6">
            <a:alphaModFix/>
          </a:blip>
          <a:srcRect b="30840" l="8005" r="13668" t="11300"/>
          <a:stretch/>
        </p:blipFill>
        <p:spPr>
          <a:xfrm>
            <a:off x="264304" y="686268"/>
            <a:ext cx="219300" cy="243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43" name="Google Shape;1043;p27"/>
          <p:cNvSpPr/>
          <p:nvPr/>
        </p:nvSpPr>
        <p:spPr>
          <a:xfrm>
            <a:off x="4971800" y="3267600"/>
            <a:ext cx="39501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47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Google Shape;1048;p28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9" name="Google Shape;1049;p28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0" name="Google Shape;1050;p28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51" name="Google Shape;1051;p28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52" name="Google Shape;1052;p28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53" name="Google Shape;1053;p28"/>
          <p:cNvSpPr txBox="1"/>
          <p:nvPr>
            <p:ph type="ctrTitle"/>
          </p:nvPr>
        </p:nvSpPr>
        <p:spPr>
          <a:xfrm>
            <a:off x="483600" y="750300"/>
            <a:ext cx="54615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 :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054" name="Google Shape;1054;p28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5" name="Google Shape;1055;p28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56" name="Google Shape;1056;p28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057" name="Google Shape;1057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1058" name="Google Shape;1058;p28"/>
          <p:cNvSpPr txBox="1"/>
          <p:nvPr/>
        </p:nvSpPr>
        <p:spPr>
          <a:xfrm>
            <a:off x="7862732" y="823500"/>
            <a:ext cx="8577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 Grade : 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059" name="Google Shape;1059;p28"/>
          <p:cNvSpPr/>
          <p:nvPr/>
        </p:nvSpPr>
        <p:spPr>
          <a:xfrm>
            <a:off x="499025" y="1563225"/>
            <a:ext cx="1095300" cy="743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Territory Planning 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060" name="Google Shape;1060;p28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Sizes of book of business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61" name="Google Shape;1061;p28"/>
          <p:cNvSpPr txBox="1"/>
          <p:nvPr/>
        </p:nvSpPr>
        <p:spPr>
          <a:xfrm>
            <a:off x="1655100" y="1707900"/>
            <a:ext cx="18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Attribution of new customers in our Account Managers or Customer Success  team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062" name="Google Shape;1062;p28"/>
          <p:cNvCxnSpPr/>
          <p:nvPr/>
        </p:nvCxnSpPr>
        <p:spPr>
          <a:xfrm>
            <a:off x="499029" y="2349450"/>
            <a:ext cx="442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63" name="Google Shape;1063;p28"/>
          <p:cNvSpPr/>
          <p:nvPr/>
        </p:nvSpPr>
        <p:spPr>
          <a:xfrm>
            <a:off x="4325112" y="15784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64" name="Google Shape;1064;p28"/>
          <p:cNvSpPr/>
          <p:nvPr/>
        </p:nvSpPr>
        <p:spPr>
          <a:xfrm>
            <a:off x="4325112" y="158157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065" name="Google Shape;1065;p28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66" name="Google Shape;1066;p28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067" name="Google Shape;1067;p28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068" name="Google Shape;1068;p28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069" name="Google Shape;1069;p28"/>
          <p:cNvSpPr/>
          <p:nvPr/>
        </p:nvSpPr>
        <p:spPr>
          <a:xfrm>
            <a:off x="499025" y="3109100"/>
            <a:ext cx="1095300" cy="17289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Portfolio Growth &amp; Churn Prevention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070" name="Google Shape;1070;p28"/>
          <p:cNvSpPr txBox="1"/>
          <p:nvPr/>
        </p:nvSpPr>
        <p:spPr>
          <a:xfrm>
            <a:off x="1655250" y="185973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Tiering &amp; Customer segmentation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1" name="Google Shape;1071;p28"/>
          <p:cNvSpPr txBox="1"/>
          <p:nvPr/>
        </p:nvSpPr>
        <p:spPr>
          <a:xfrm>
            <a:off x="1655250" y="20025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Alignment of customer segmentation with career path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2" name="Google Shape;1072;p28"/>
          <p:cNvSpPr txBox="1"/>
          <p:nvPr/>
        </p:nvSpPr>
        <p:spPr>
          <a:xfrm>
            <a:off x="1655250" y="215772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Automation of tasks for the long tail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3" name="Google Shape;1073;p28"/>
          <p:cNvSpPr txBox="1"/>
          <p:nvPr/>
        </p:nvSpPr>
        <p:spPr>
          <a:xfrm>
            <a:off x="1655100" y="239089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Service Level Agreements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4" name="Google Shape;1074;p28"/>
          <p:cNvSpPr txBox="1"/>
          <p:nvPr/>
        </p:nvSpPr>
        <p:spPr>
          <a:xfrm>
            <a:off x="1655100" y="254610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Account Managers or Customer Success  quotas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5" name="Google Shape;1075;p28"/>
          <p:cNvSpPr txBox="1"/>
          <p:nvPr/>
        </p:nvSpPr>
        <p:spPr>
          <a:xfrm>
            <a:off x="1655100" y="268888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Quota achievements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6" name="Google Shape;1076;p28"/>
          <p:cNvSpPr txBox="1"/>
          <p:nvPr/>
        </p:nvSpPr>
        <p:spPr>
          <a:xfrm>
            <a:off x="1655100" y="283737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Product adoption and roll-out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7" name="Google Shape;1077;p28"/>
          <p:cNvSpPr txBox="1"/>
          <p:nvPr/>
        </p:nvSpPr>
        <p:spPr>
          <a:xfrm>
            <a:off x="1655100" y="309430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Target-driven mindset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078" name="Google Shape;1078;p28"/>
          <p:cNvCxnSpPr/>
          <p:nvPr/>
        </p:nvCxnSpPr>
        <p:spPr>
          <a:xfrm>
            <a:off x="499029" y="3048825"/>
            <a:ext cx="442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9" name="Google Shape;1079;p28"/>
          <p:cNvSpPr/>
          <p:nvPr/>
        </p:nvSpPr>
        <p:spPr>
          <a:xfrm>
            <a:off x="499025" y="2392575"/>
            <a:ext cx="1095300" cy="6066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Outreach Strategy, SLAs &amp; Quotas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080" name="Google Shape;1080;p28"/>
          <p:cNvSpPr txBox="1"/>
          <p:nvPr/>
        </p:nvSpPr>
        <p:spPr>
          <a:xfrm>
            <a:off x="1662813" y="324696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Opportunity mapping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1" name="Google Shape;1081;p28"/>
          <p:cNvSpPr txBox="1"/>
          <p:nvPr/>
        </p:nvSpPr>
        <p:spPr>
          <a:xfrm>
            <a:off x="1662813" y="339646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Upselling skills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2" name="Google Shape;1082;p28"/>
          <p:cNvSpPr txBox="1"/>
          <p:nvPr/>
        </p:nvSpPr>
        <p:spPr>
          <a:xfrm>
            <a:off x="1662813" y="353152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Competition knowledge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3" name="Google Shape;1083;p28"/>
          <p:cNvSpPr txBox="1"/>
          <p:nvPr/>
        </p:nvSpPr>
        <p:spPr>
          <a:xfrm>
            <a:off x="1655226" y="368456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Product expertise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4" name="Google Shape;1084;p28"/>
          <p:cNvSpPr txBox="1"/>
          <p:nvPr/>
        </p:nvSpPr>
        <p:spPr>
          <a:xfrm>
            <a:off x="1662813" y="383747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Seniority of Account Managers or Customer Success  reps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5" name="Google Shape;1085;p28"/>
          <p:cNvSpPr txBox="1"/>
          <p:nvPr/>
        </p:nvSpPr>
        <p:spPr>
          <a:xfrm>
            <a:off x="1662813" y="399940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Churn prevention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6" name="Google Shape;1086;p28"/>
          <p:cNvSpPr txBox="1"/>
          <p:nvPr/>
        </p:nvSpPr>
        <p:spPr>
          <a:xfrm>
            <a:off x="1662813" y="416903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Customer satisfaction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7" name="Google Shape;1087;p28"/>
          <p:cNvSpPr txBox="1"/>
          <p:nvPr/>
        </p:nvSpPr>
        <p:spPr>
          <a:xfrm>
            <a:off x="1662813" y="43309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NPS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8" name="Google Shape;1088;p28"/>
          <p:cNvSpPr txBox="1"/>
          <p:nvPr/>
        </p:nvSpPr>
        <p:spPr>
          <a:xfrm>
            <a:off x="1662813" y="44955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Business Reviews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9" name="Google Shape;1089;p28"/>
          <p:cNvSpPr txBox="1"/>
          <p:nvPr/>
        </p:nvSpPr>
        <p:spPr>
          <a:xfrm>
            <a:off x="1655213" y="466283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Sanity checks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0" name="Google Shape;1090;p28"/>
          <p:cNvSpPr/>
          <p:nvPr/>
        </p:nvSpPr>
        <p:spPr>
          <a:xfrm>
            <a:off x="4325112" y="17315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1" name="Google Shape;1091;p28"/>
          <p:cNvSpPr/>
          <p:nvPr/>
        </p:nvSpPr>
        <p:spPr>
          <a:xfrm>
            <a:off x="4325112" y="173307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2" name="Google Shape;1092;p28"/>
          <p:cNvSpPr/>
          <p:nvPr/>
        </p:nvSpPr>
        <p:spPr>
          <a:xfrm>
            <a:off x="4325112" y="188636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3" name="Google Shape;1093;p28"/>
          <p:cNvSpPr/>
          <p:nvPr/>
        </p:nvSpPr>
        <p:spPr>
          <a:xfrm>
            <a:off x="4325112" y="188213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4" name="Google Shape;1094;p28"/>
          <p:cNvSpPr/>
          <p:nvPr/>
        </p:nvSpPr>
        <p:spPr>
          <a:xfrm>
            <a:off x="4325112" y="203299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5" name="Google Shape;1095;p28"/>
          <p:cNvSpPr/>
          <p:nvPr/>
        </p:nvSpPr>
        <p:spPr>
          <a:xfrm>
            <a:off x="4325112" y="203334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6" name="Google Shape;1096;p28"/>
          <p:cNvSpPr/>
          <p:nvPr/>
        </p:nvSpPr>
        <p:spPr>
          <a:xfrm>
            <a:off x="4325112" y="218452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7" name="Google Shape;1097;p28"/>
          <p:cNvSpPr/>
          <p:nvPr/>
        </p:nvSpPr>
        <p:spPr>
          <a:xfrm>
            <a:off x="4325112" y="219140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8" name="Google Shape;1098;p28"/>
          <p:cNvSpPr/>
          <p:nvPr/>
        </p:nvSpPr>
        <p:spPr>
          <a:xfrm>
            <a:off x="4325112" y="242424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9" name="Google Shape;1099;p28"/>
          <p:cNvSpPr/>
          <p:nvPr/>
        </p:nvSpPr>
        <p:spPr>
          <a:xfrm>
            <a:off x="4325112" y="242245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0" name="Google Shape;1100;p28"/>
          <p:cNvSpPr/>
          <p:nvPr/>
        </p:nvSpPr>
        <p:spPr>
          <a:xfrm>
            <a:off x="4325112" y="257104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1" name="Google Shape;1101;p28"/>
          <p:cNvSpPr/>
          <p:nvPr/>
        </p:nvSpPr>
        <p:spPr>
          <a:xfrm>
            <a:off x="4325112" y="256925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2" name="Google Shape;1102;p28"/>
          <p:cNvSpPr/>
          <p:nvPr/>
        </p:nvSpPr>
        <p:spPr>
          <a:xfrm>
            <a:off x="4325112" y="271427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3" name="Google Shape;1103;p28"/>
          <p:cNvSpPr/>
          <p:nvPr/>
        </p:nvSpPr>
        <p:spPr>
          <a:xfrm>
            <a:off x="4325112" y="271489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4" name="Google Shape;1104;p28"/>
          <p:cNvSpPr/>
          <p:nvPr/>
        </p:nvSpPr>
        <p:spPr>
          <a:xfrm>
            <a:off x="4325112" y="286231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5" name="Google Shape;1105;p28"/>
          <p:cNvSpPr/>
          <p:nvPr/>
        </p:nvSpPr>
        <p:spPr>
          <a:xfrm>
            <a:off x="4325112" y="284315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6" name="Google Shape;1106;p28"/>
          <p:cNvSpPr/>
          <p:nvPr/>
        </p:nvSpPr>
        <p:spPr>
          <a:xfrm>
            <a:off x="4325112" y="311526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7" name="Google Shape;1107;p28"/>
          <p:cNvSpPr/>
          <p:nvPr/>
        </p:nvSpPr>
        <p:spPr>
          <a:xfrm>
            <a:off x="4325112" y="310464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8" name="Google Shape;1108;p28"/>
          <p:cNvSpPr/>
          <p:nvPr/>
        </p:nvSpPr>
        <p:spPr>
          <a:xfrm>
            <a:off x="4325112" y="327026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9" name="Google Shape;1109;p28"/>
          <p:cNvSpPr/>
          <p:nvPr/>
        </p:nvSpPr>
        <p:spPr>
          <a:xfrm>
            <a:off x="4325112" y="326693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0" name="Google Shape;1110;p28"/>
          <p:cNvSpPr/>
          <p:nvPr/>
        </p:nvSpPr>
        <p:spPr>
          <a:xfrm>
            <a:off x="4325112" y="342041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1" name="Google Shape;1111;p28"/>
          <p:cNvSpPr/>
          <p:nvPr/>
        </p:nvSpPr>
        <p:spPr>
          <a:xfrm>
            <a:off x="4325112" y="341862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2" name="Google Shape;1112;p28"/>
          <p:cNvSpPr/>
          <p:nvPr/>
        </p:nvSpPr>
        <p:spPr>
          <a:xfrm>
            <a:off x="4325112" y="355659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3" name="Google Shape;1113;p28"/>
          <p:cNvSpPr/>
          <p:nvPr/>
        </p:nvSpPr>
        <p:spPr>
          <a:xfrm>
            <a:off x="4325112" y="356466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4" name="Google Shape;1114;p28"/>
          <p:cNvSpPr/>
          <p:nvPr/>
        </p:nvSpPr>
        <p:spPr>
          <a:xfrm>
            <a:off x="4325112" y="371067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5" name="Google Shape;1115;p28"/>
          <p:cNvSpPr/>
          <p:nvPr/>
        </p:nvSpPr>
        <p:spPr>
          <a:xfrm>
            <a:off x="4325112" y="370888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6" name="Google Shape;1116;p28"/>
          <p:cNvSpPr/>
          <p:nvPr/>
        </p:nvSpPr>
        <p:spPr>
          <a:xfrm>
            <a:off x="4325112" y="38604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7" name="Google Shape;1117;p28"/>
          <p:cNvSpPr/>
          <p:nvPr/>
        </p:nvSpPr>
        <p:spPr>
          <a:xfrm>
            <a:off x="4325112" y="386793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8" name="Google Shape;1118;p28"/>
          <p:cNvSpPr/>
          <p:nvPr/>
        </p:nvSpPr>
        <p:spPr>
          <a:xfrm>
            <a:off x="4325112" y="402518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9" name="Google Shape;1119;p28"/>
          <p:cNvSpPr/>
          <p:nvPr/>
        </p:nvSpPr>
        <p:spPr>
          <a:xfrm>
            <a:off x="4325112" y="402294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0" name="Google Shape;1120;p28"/>
          <p:cNvSpPr/>
          <p:nvPr/>
        </p:nvSpPr>
        <p:spPr>
          <a:xfrm>
            <a:off x="4325112" y="419485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1" name="Google Shape;1121;p28"/>
          <p:cNvSpPr/>
          <p:nvPr/>
        </p:nvSpPr>
        <p:spPr>
          <a:xfrm>
            <a:off x="4325112" y="419306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2" name="Google Shape;1122;p28"/>
          <p:cNvSpPr/>
          <p:nvPr/>
        </p:nvSpPr>
        <p:spPr>
          <a:xfrm>
            <a:off x="4325112" y="43534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3" name="Google Shape;1123;p28"/>
          <p:cNvSpPr/>
          <p:nvPr/>
        </p:nvSpPr>
        <p:spPr>
          <a:xfrm>
            <a:off x="4325112" y="434909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4" name="Google Shape;1124;p28"/>
          <p:cNvSpPr/>
          <p:nvPr/>
        </p:nvSpPr>
        <p:spPr>
          <a:xfrm>
            <a:off x="4325112" y="452133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5" name="Google Shape;1125;p28"/>
          <p:cNvSpPr/>
          <p:nvPr/>
        </p:nvSpPr>
        <p:spPr>
          <a:xfrm>
            <a:off x="4325112" y="451907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6" name="Google Shape;1126;p28"/>
          <p:cNvSpPr/>
          <p:nvPr/>
        </p:nvSpPr>
        <p:spPr>
          <a:xfrm>
            <a:off x="4325112" y="46865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7" name="Google Shape;1127;p28"/>
          <p:cNvSpPr/>
          <p:nvPr/>
        </p:nvSpPr>
        <p:spPr>
          <a:xfrm>
            <a:off x="4325112" y="468476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8" name="Google Shape;1128;p28"/>
          <p:cNvSpPr txBox="1"/>
          <p:nvPr>
            <p:ph type="ctrTitle"/>
          </p:nvPr>
        </p:nvSpPr>
        <p:spPr>
          <a:xfrm>
            <a:off x="2749202" y="7410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29" name="Google Shape;1129;p28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30" name="Google Shape;1130;p28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31" name="Google Shape;1131;p28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32" name="Google Shape;1132;p28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33" name="Google Shape;1133;p28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34" name="Google Shape;1134;p28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35" name="Google Shape;1135;p28"/>
          <p:cNvSpPr txBox="1"/>
          <p:nvPr/>
        </p:nvSpPr>
        <p:spPr>
          <a:xfrm>
            <a:off x="4911525" y="1503300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36" name="Google Shape;1136;p28"/>
          <p:cNvSpPr txBox="1"/>
          <p:nvPr/>
        </p:nvSpPr>
        <p:spPr>
          <a:xfrm>
            <a:off x="6943375" y="1503175"/>
            <a:ext cx="1935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37" name="Google Shape;1137;p28"/>
          <p:cNvSpPr txBox="1"/>
          <p:nvPr/>
        </p:nvSpPr>
        <p:spPr>
          <a:xfrm>
            <a:off x="4911525" y="172705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38" name="Google Shape;1138;p28"/>
          <p:cNvSpPr txBox="1"/>
          <p:nvPr/>
        </p:nvSpPr>
        <p:spPr>
          <a:xfrm>
            <a:off x="6943375" y="1728328"/>
            <a:ext cx="19353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39" name="Google Shape;1139;p28"/>
          <p:cNvSpPr txBox="1"/>
          <p:nvPr/>
        </p:nvSpPr>
        <p:spPr>
          <a:xfrm>
            <a:off x="4911525" y="2003907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0" name="Google Shape;1140;p28"/>
          <p:cNvSpPr txBox="1"/>
          <p:nvPr/>
        </p:nvSpPr>
        <p:spPr>
          <a:xfrm>
            <a:off x="4911525" y="228076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1" name="Google Shape;1141;p28"/>
          <p:cNvSpPr txBox="1"/>
          <p:nvPr/>
        </p:nvSpPr>
        <p:spPr>
          <a:xfrm>
            <a:off x="4911525" y="255761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2" name="Google Shape;1142;p28"/>
          <p:cNvSpPr txBox="1"/>
          <p:nvPr/>
        </p:nvSpPr>
        <p:spPr>
          <a:xfrm>
            <a:off x="6943375" y="2006580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3" name="Google Shape;1143;p28"/>
          <p:cNvSpPr txBox="1"/>
          <p:nvPr/>
        </p:nvSpPr>
        <p:spPr>
          <a:xfrm>
            <a:off x="6943375" y="2284832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4" name="Google Shape;1144;p28"/>
          <p:cNvSpPr txBox="1"/>
          <p:nvPr/>
        </p:nvSpPr>
        <p:spPr>
          <a:xfrm>
            <a:off x="6943375" y="2563085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5" name="Google Shape;1145;p28"/>
          <p:cNvSpPr txBox="1"/>
          <p:nvPr/>
        </p:nvSpPr>
        <p:spPr>
          <a:xfrm>
            <a:off x="4911525" y="311132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6" name="Google Shape;1146;p28"/>
          <p:cNvSpPr txBox="1"/>
          <p:nvPr/>
        </p:nvSpPr>
        <p:spPr>
          <a:xfrm>
            <a:off x="4911525" y="3388175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7" name="Google Shape;1147;p28"/>
          <p:cNvSpPr txBox="1"/>
          <p:nvPr/>
        </p:nvSpPr>
        <p:spPr>
          <a:xfrm>
            <a:off x="4911525" y="366502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8" name="Google Shape;1148;p28"/>
          <p:cNvSpPr txBox="1"/>
          <p:nvPr/>
        </p:nvSpPr>
        <p:spPr>
          <a:xfrm>
            <a:off x="6943375" y="3119589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9" name="Google Shape;1149;p28"/>
          <p:cNvSpPr txBox="1"/>
          <p:nvPr/>
        </p:nvSpPr>
        <p:spPr>
          <a:xfrm>
            <a:off x="6943375" y="3397842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0" name="Google Shape;1150;p28"/>
          <p:cNvSpPr txBox="1"/>
          <p:nvPr/>
        </p:nvSpPr>
        <p:spPr>
          <a:xfrm>
            <a:off x="6943375" y="3676094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1" name="Google Shape;1151;p28"/>
          <p:cNvSpPr txBox="1"/>
          <p:nvPr/>
        </p:nvSpPr>
        <p:spPr>
          <a:xfrm>
            <a:off x="4911525" y="2834468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2" name="Google Shape;1152;p28"/>
          <p:cNvSpPr txBox="1"/>
          <p:nvPr/>
        </p:nvSpPr>
        <p:spPr>
          <a:xfrm>
            <a:off x="6943375" y="2841337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3" name="Google Shape;1153;p28"/>
          <p:cNvSpPr txBox="1"/>
          <p:nvPr/>
        </p:nvSpPr>
        <p:spPr>
          <a:xfrm>
            <a:off x="4911525" y="3941882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4" name="Google Shape;1154;p28"/>
          <p:cNvSpPr txBox="1"/>
          <p:nvPr/>
        </p:nvSpPr>
        <p:spPr>
          <a:xfrm>
            <a:off x="4911525" y="4218736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5" name="Google Shape;1155;p28"/>
          <p:cNvSpPr txBox="1"/>
          <p:nvPr/>
        </p:nvSpPr>
        <p:spPr>
          <a:xfrm>
            <a:off x="6943375" y="3954346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6" name="Google Shape;1156;p28"/>
          <p:cNvSpPr txBox="1"/>
          <p:nvPr/>
        </p:nvSpPr>
        <p:spPr>
          <a:xfrm>
            <a:off x="6943375" y="4232599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7" name="Google Shape;1157;p28"/>
          <p:cNvSpPr txBox="1"/>
          <p:nvPr/>
        </p:nvSpPr>
        <p:spPr>
          <a:xfrm>
            <a:off x="4911525" y="449558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8" name="Google Shape;1158;p28"/>
          <p:cNvSpPr txBox="1"/>
          <p:nvPr/>
        </p:nvSpPr>
        <p:spPr>
          <a:xfrm>
            <a:off x="6943375" y="4510850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159" name="Google Shape;1159;p28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1160" name="Google Shape;1160;p28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161" name="Google Shape;1161;p28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162" name="Google Shape;1162;p28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163" name="Google Shape;1163;p28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164" name="Google Shape;1164;p28"/>
          <p:cNvSpPr/>
          <p:nvPr/>
        </p:nvSpPr>
        <p:spPr>
          <a:xfrm>
            <a:off x="4960500" y="2062350"/>
            <a:ext cx="39153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165" name="Google Shape;1165;p28"/>
          <p:cNvSpPr/>
          <p:nvPr/>
        </p:nvSpPr>
        <p:spPr>
          <a:xfrm>
            <a:off x="4960500" y="2309975"/>
            <a:ext cx="39153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166" name="Google Shape;1166;p28"/>
          <p:cNvSpPr/>
          <p:nvPr/>
        </p:nvSpPr>
        <p:spPr>
          <a:xfrm>
            <a:off x="4960500" y="3148375"/>
            <a:ext cx="39012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167" name="Google Shape;1167;p28"/>
          <p:cNvSpPr/>
          <p:nvPr/>
        </p:nvSpPr>
        <p:spPr>
          <a:xfrm>
            <a:off x="4960500" y="3425225"/>
            <a:ext cx="39066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168" name="Google Shape;1168;p28"/>
          <p:cNvSpPr/>
          <p:nvPr/>
        </p:nvSpPr>
        <p:spPr>
          <a:xfrm>
            <a:off x="4960550" y="4557575"/>
            <a:ext cx="39012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169" name="Google Shape;1169;p28"/>
          <p:cNvSpPr/>
          <p:nvPr/>
        </p:nvSpPr>
        <p:spPr>
          <a:xfrm>
            <a:off x="4960425" y="4262025"/>
            <a:ext cx="39012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pic>
        <p:nvPicPr>
          <p:cNvPr id="1170" name="Google Shape;1170;p28" title="1765246633891.jpe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4800" y="697825"/>
            <a:ext cx="238800" cy="2388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74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p29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6" name="Google Shape;1176;p29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7" name="Google Shape;1177;p29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78" name="Google Shape;1178;p29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79" name="Google Shape;1179;p29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80" name="Google Shape;1180;p29"/>
          <p:cNvSpPr txBox="1"/>
          <p:nvPr>
            <p:ph type="ctrTitle"/>
          </p:nvPr>
        </p:nvSpPr>
        <p:spPr>
          <a:xfrm>
            <a:off x="483600" y="750300"/>
            <a:ext cx="54615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181" name="Google Shape;1181;p29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2" name="Google Shape;1182;p29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83" name="Google Shape;1183;p29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184" name="Google Shape;1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1185" name="Google Shape;1185;p29"/>
          <p:cNvSpPr txBox="1"/>
          <p:nvPr/>
        </p:nvSpPr>
        <p:spPr>
          <a:xfrm>
            <a:off x="7862732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Grade 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86" name="Google Shape;1186;p29"/>
          <p:cNvSpPr/>
          <p:nvPr/>
        </p:nvSpPr>
        <p:spPr>
          <a:xfrm>
            <a:off x="499025" y="1563225"/>
            <a:ext cx="1095300" cy="999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Go-to-Market &amp; Sales Process 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87" name="Google Shape;1187;p29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Knowledge of Total Addressable Market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88" name="Google Shape;1188;p29"/>
          <p:cNvSpPr txBox="1"/>
          <p:nvPr/>
        </p:nvSpPr>
        <p:spPr>
          <a:xfrm>
            <a:off x="1655100" y="17078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Quality of </a:t>
            </a: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definition</a:t>
            </a: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 of Persona and ICPs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189" name="Google Shape;1189;p29"/>
          <p:cNvCxnSpPr/>
          <p:nvPr/>
        </p:nvCxnSpPr>
        <p:spPr>
          <a:xfrm>
            <a:off x="499029" y="2631500"/>
            <a:ext cx="442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0" name="Google Shape;1190;p29"/>
          <p:cNvSpPr/>
          <p:nvPr/>
        </p:nvSpPr>
        <p:spPr>
          <a:xfrm>
            <a:off x="4325112" y="15784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91" name="Google Shape;1191;p29"/>
          <p:cNvSpPr/>
          <p:nvPr/>
        </p:nvSpPr>
        <p:spPr>
          <a:xfrm>
            <a:off x="4325112" y="158157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192" name="Google Shape;1192;p29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3" name="Google Shape;1193;p29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94" name="Google Shape;1194;p29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95" name="Google Shape;1195;p29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96" name="Google Shape;1196;p29"/>
          <p:cNvSpPr/>
          <p:nvPr/>
        </p:nvSpPr>
        <p:spPr>
          <a:xfrm>
            <a:off x="499025" y="3999400"/>
            <a:ext cx="1095300" cy="8388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Toolstack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97" name="Google Shape;1197;p29"/>
          <p:cNvSpPr txBox="1"/>
          <p:nvPr/>
        </p:nvSpPr>
        <p:spPr>
          <a:xfrm>
            <a:off x="1655250" y="185973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Fit between Go-to-Market and Annual Contract Value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98" name="Google Shape;1198;p29"/>
          <p:cNvSpPr txBox="1"/>
          <p:nvPr/>
        </p:nvSpPr>
        <p:spPr>
          <a:xfrm>
            <a:off x="1655250" y="20025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Definition and Optimization of Sales channels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99" name="Google Shape;1199;p29"/>
          <p:cNvSpPr txBox="1"/>
          <p:nvPr/>
        </p:nvSpPr>
        <p:spPr>
          <a:xfrm>
            <a:off x="1655250" y="215772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Definition of sales process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0" name="Google Shape;1200;p29"/>
          <p:cNvSpPr txBox="1"/>
          <p:nvPr/>
        </p:nvSpPr>
        <p:spPr>
          <a:xfrm>
            <a:off x="1655100" y="229688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Analysis of sales process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1" name="Google Shape;1201;p29"/>
          <p:cNvSpPr txBox="1"/>
          <p:nvPr/>
        </p:nvSpPr>
        <p:spPr>
          <a:xfrm>
            <a:off x="1655100" y="245209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Optimization of sales process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2" name="Google Shape;1202;p29"/>
          <p:cNvSpPr txBox="1"/>
          <p:nvPr/>
        </p:nvSpPr>
        <p:spPr>
          <a:xfrm>
            <a:off x="1655100" y="268888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Target definition for sales population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3" name="Google Shape;1203;p29"/>
          <p:cNvSpPr txBox="1"/>
          <p:nvPr/>
        </p:nvSpPr>
        <p:spPr>
          <a:xfrm>
            <a:off x="1655100" y="283737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Target definition for Account Managers or Customer Success teams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4" name="Google Shape;1204;p29"/>
          <p:cNvSpPr txBox="1"/>
          <p:nvPr/>
        </p:nvSpPr>
        <p:spPr>
          <a:xfrm>
            <a:off x="1655100" y="298015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Compensation plans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205" name="Google Shape;1205;p29"/>
          <p:cNvCxnSpPr/>
          <p:nvPr/>
        </p:nvCxnSpPr>
        <p:spPr>
          <a:xfrm>
            <a:off x="499029" y="3941900"/>
            <a:ext cx="442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6" name="Google Shape;1206;p29"/>
          <p:cNvSpPr/>
          <p:nvPr/>
        </p:nvSpPr>
        <p:spPr>
          <a:xfrm>
            <a:off x="499025" y="2689500"/>
            <a:ext cx="1095300" cy="11889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Target-setting, Forecasts &amp; Performance Monitoring 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07" name="Google Shape;1207;p29"/>
          <p:cNvSpPr txBox="1"/>
          <p:nvPr/>
        </p:nvSpPr>
        <p:spPr>
          <a:xfrm>
            <a:off x="1662813" y="313281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forecasts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8" name="Google Shape;1208;p29"/>
          <p:cNvSpPr txBox="1"/>
          <p:nvPr/>
        </p:nvSpPr>
        <p:spPr>
          <a:xfrm>
            <a:off x="1662813" y="328231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Bottom-up and top-down forecasts for financial planning 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9" name="Google Shape;1209;p29"/>
          <p:cNvSpPr txBox="1"/>
          <p:nvPr/>
        </p:nvSpPr>
        <p:spPr>
          <a:xfrm>
            <a:off x="1662813" y="341737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Accuracy of forecasts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0" name="Google Shape;1210;p29"/>
          <p:cNvSpPr txBox="1"/>
          <p:nvPr/>
        </p:nvSpPr>
        <p:spPr>
          <a:xfrm>
            <a:off x="1655226" y="357712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forecast methodology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1" name="Google Shape;1211;p29"/>
          <p:cNvSpPr txBox="1"/>
          <p:nvPr/>
        </p:nvSpPr>
        <p:spPr>
          <a:xfrm>
            <a:off x="1662813" y="373675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Monthly and Quarterly Business Reviews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2" name="Google Shape;1212;p29"/>
          <p:cNvSpPr txBox="1"/>
          <p:nvPr/>
        </p:nvSpPr>
        <p:spPr>
          <a:xfrm>
            <a:off x="1662813" y="399940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Accuracy of data in CRM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3" name="Google Shape;1213;p29"/>
          <p:cNvSpPr txBox="1"/>
          <p:nvPr/>
        </p:nvSpPr>
        <p:spPr>
          <a:xfrm>
            <a:off x="1662813" y="416903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Data visualization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4" name="Google Shape;1214;p29"/>
          <p:cNvSpPr txBox="1"/>
          <p:nvPr/>
        </p:nvSpPr>
        <p:spPr>
          <a:xfrm>
            <a:off x="1662813" y="43309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Automation (Outreach, OctopusCRM, Ringover)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5" name="Google Shape;1215;p29"/>
          <p:cNvSpPr txBox="1"/>
          <p:nvPr/>
        </p:nvSpPr>
        <p:spPr>
          <a:xfrm>
            <a:off x="1662824" y="4495600"/>
            <a:ext cx="19461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IP phone systems and call listening tools (Aircall, Ringover, Modjo, Gong.io, Unique)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6" name="Google Shape;1216;p29"/>
          <p:cNvSpPr txBox="1"/>
          <p:nvPr/>
        </p:nvSpPr>
        <p:spPr>
          <a:xfrm>
            <a:off x="1655213" y="466283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intelligence tools (Apollo, Zoominfo)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7" name="Google Shape;1217;p29"/>
          <p:cNvSpPr/>
          <p:nvPr/>
        </p:nvSpPr>
        <p:spPr>
          <a:xfrm>
            <a:off x="4325112" y="17315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8" name="Google Shape;1218;p29"/>
          <p:cNvSpPr/>
          <p:nvPr/>
        </p:nvSpPr>
        <p:spPr>
          <a:xfrm>
            <a:off x="4325112" y="172977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9" name="Google Shape;1219;p29"/>
          <p:cNvSpPr/>
          <p:nvPr/>
        </p:nvSpPr>
        <p:spPr>
          <a:xfrm>
            <a:off x="4325112" y="188636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0" name="Google Shape;1220;p29"/>
          <p:cNvSpPr/>
          <p:nvPr/>
        </p:nvSpPr>
        <p:spPr>
          <a:xfrm>
            <a:off x="4325112" y="188112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1" name="Google Shape;1221;p29"/>
          <p:cNvSpPr/>
          <p:nvPr/>
        </p:nvSpPr>
        <p:spPr>
          <a:xfrm>
            <a:off x="4325112" y="203299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2" name="Google Shape;1222;p29"/>
          <p:cNvSpPr/>
          <p:nvPr/>
        </p:nvSpPr>
        <p:spPr>
          <a:xfrm>
            <a:off x="4325112" y="203120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3" name="Google Shape;1223;p29"/>
          <p:cNvSpPr/>
          <p:nvPr/>
        </p:nvSpPr>
        <p:spPr>
          <a:xfrm>
            <a:off x="4325112" y="218452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4" name="Google Shape;1224;p29"/>
          <p:cNvSpPr/>
          <p:nvPr/>
        </p:nvSpPr>
        <p:spPr>
          <a:xfrm>
            <a:off x="4325112" y="218273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5" name="Google Shape;1225;p29"/>
          <p:cNvSpPr/>
          <p:nvPr/>
        </p:nvSpPr>
        <p:spPr>
          <a:xfrm>
            <a:off x="4325112" y="232352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6" name="Google Shape;1226;p29"/>
          <p:cNvSpPr/>
          <p:nvPr/>
        </p:nvSpPr>
        <p:spPr>
          <a:xfrm>
            <a:off x="4325112" y="232173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7" name="Google Shape;1227;p29"/>
          <p:cNvSpPr/>
          <p:nvPr/>
        </p:nvSpPr>
        <p:spPr>
          <a:xfrm>
            <a:off x="4325112" y="248375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8" name="Google Shape;1228;p29"/>
          <p:cNvSpPr/>
          <p:nvPr/>
        </p:nvSpPr>
        <p:spPr>
          <a:xfrm>
            <a:off x="4325112" y="248196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9" name="Google Shape;1229;p29"/>
          <p:cNvSpPr/>
          <p:nvPr/>
        </p:nvSpPr>
        <p:spPr>
          <a:xfrm>
            <a:off x="4325112" y="271427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0" name="Google Shape;1230;p29"/>
          <p:cNvSpPr/>
          <p:nvPr/>
        </p:nvSpPr>
        <p:spPr>
          <a:xfrm>
            <a:off x="4325112" y="271248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1" name="Google Shape;1231;p29"/>
          <p:cNvSpPr/>
          <p:nvPr/>
        </p:nvSpPr>
        <p:spPr>
          <a:xfrm>
            <a:off x="4325112" y="286231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2" name="Google Shape;1232;p29"/>
          <p:cNvSpPr/>
          <p:nvPr/>
        </p:nvSpPr>
        <p:spPr>
          <a:xfrm>
            <a:off x="4325112" y="286053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3" name="Google Shape;1233;p29"/>
          <p:cNvSpPr/>
          <p:nvPr/>
        </p:nvSpPr>
        <p:spPr>
          <a:xfrm>
            <a:off x="4325112" y="300110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4" name="Google Shape;1234;p29"/>
          <p:cNvSpPr/>
          <p:nvPr/>
        </p:nvSpPr>
        <p:spPr>
          <a:xfrm>
            <a:off x="4325112" y="299932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5" name="Google Shape;1235;p29"/>
          <p:cNvSpPr/>
          <p:nvPr/>
        </p:nvSpPr>
        <p:spPr>
          <a:xfrm>
            <a:off x="4325112" y="315611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6" name="Google Shape;1236;p29"/>
          <p:cNvSpPr/>
          <p:nvPr/>
        </p:nvSpPr>
        <p:spPr>
          <a:xfrm>
            <a:off x="4325112" y="315432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7" name="Google Shape;1237;p29"/>
          <p:cNvSpPr/>
          <p:nvPr/>
        </p:nvSpPr>
        <p:spPr>
          <a:xfrm>
            <a:off x="4325112" y="33062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8" name="Google Shape;1238;p29"/>
          <p:cNvSpPr/>
          <p:nvPr/>
        </p:nvSpPr>
        <p:spPr>
          <a:xfrm>
            <a:off x="4325112" y="330447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9" name="Google Shape;1239;p29"/>
          <p:cNvSpPr/>
          <p:nvPr/>
        </p:nvSpPr>
        <p:spPr>
          <a:xfrm>
            <a:off x="4325112" y="344244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0" name="Google Shape;1240;p29"/>
          <p:cNvSpPr/>
          <p:nvPr/>
        </p:nvSpPr>
        <p:spPr>
          <a:xfrm>
            <a:off x="4325112" y="344065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1" name="Google Shape;1241;p29"/>
          <p:cNvSpPr/>
          <p:nvPr/>
        </p:nvSpPr>
        <p:spPr>
          <a:xfrm>
            <a:off x="4325112" y="359652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2" name="Google Shape;1242;p29"/>
          <p:cNvSpPr/>
          <p:nvPr/>
        </p:nvSpPr>
        <p:spPr>
          <a:xfrm>
            <a:off x="4325112" y="359473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3" name="Google Shape;1243;p29"/>
          <p:cNvSpPr/>
          <p:nvPr/>
        </p:nvSpPr>
        <p:spPr>
          <a:xfrm>
            <a:off x="4325112" y="375969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4" name="Google Shape;1244;p29"/>
          <p:cNvSpPr/>
          <p:nvPr/>
        </p:nvSpPr>
        <p:spPr>
          <a:xfrm>
            <a:off x="4325112" y="375791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5" name="Google Shape;1245;p29"/>
          <p:cNvSpPr/>
          <p:nvPr/>
        </p:nvSpPr>
        <p:spPr>
          <a:xfrm>
            <a:off x="4325112" y="402518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6" name="Google Shape;1246;p29"/>
          <p:cNvSpPr/>
          <p:nvPr/>
        </p:nvSpPr>
        <p:spPr>
          <a:xfrm>
            <a:off x="4325112" y="402339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7" name="Google Shape;1247;p29"/>
          <p:cNvSpPr/>
          <p:nvPr/>
        </p:nvSpPr>
        <p:spPr>
          <a:xfrm>
            <a:off x="4325112" y="419485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8" name="Google Shape;1248;p29"/>
          <p:cNvSpPr/>
          <p:nvPr/>
        </p:nvSpPr>
        <p:spPr>
          <a:xfrm>
            <a:off x="4325112" y="419306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9" name="Google Shape;1249;p29"/>
          <p:cNvSpPr/>
          <p:nvPr/>
        </p:nvSpPr>
        <p:spPr>
          <a:xfrm>
            <a:off x="4325112" y="43534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0" name="Google Shape;1250;p29"/>
          <p:cNvSpPr/>
          <p:nvPr/>
        </p:nvSpPr>
        <p:spPr>
          <a:xfrm>
            <a:off x="4325112" y="43516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1" name="Google Shape;1251;p29"/>
          <p:cNvSpPr/>
          <p:nvPr/>
        </p:nvSpPr>
        <p:spPr>
          <a:xfrm>
            <a:off x="4325112" y="452133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2" name="Google Shape;1252;p29"/>
          <p:cNvSpPr/>
          <p:nvPr/>
        </p:nvSpPr>
        <p:spPr>
          <a:xfrm>
            <a:off x="4325112" y="451954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3" name="Google Shape;1253;p29"/>
          <p:cNvSpPr/>
          <p:nvPr/>
        </p:nvSpPr>
        <p:spPr>
          <a:xfrm>
            <a:off x="4325112" y="46865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4" name="Google Shape;1254;p29"/>
          <p:cNvSpPr/>
          <p:nvPr/>
        </p:nvSpPr>
        <p:spPr>
          <a:xfrm>
            <a:off x="4325112" y="468476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5" name="Google Shape;1255;p29"/>
          <p:cNvSpPr txBox="1"/>
          <p:nvPr>
            <p:ph type="ctrTitle"/>
          </p:nvPr>
        </p:nvSpPr>
        <p:spPr>
          <a:xfrm>
            <a:off x="2890212" y="754437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56" name="Google Shape;1256;p29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57" name="Google Shape;1257;p29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58" name="Google Shape;1258;p29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59" name="Google Shape;1259;p29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60" name="Google Shape;1260;p29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61" name="Google Shape;1261;p29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62" name="Google Shape;1262;p29"/>
          <p:cNvSpPr txBox="1"/>
          <p:nvPr/>
        </p:nvSpPr>
        <p:spPr>
          <a:xfrm>
            <a:off x="4911525" y="4308539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3" name="Google Shape;1263;p29"/>
          <p:cNvSpPr txBox="1"/>
          <p:nvPr/>
        </p:nvSpPr>
        <p:spPr>
          <a:xfrm>
            <a:off x="6943375" y="4314953"/>
            <a:ext cx="19830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4" name="Google Shape;1264;p29"/>
          <p:cNvSpPr txBox="1"/>
          <p:nvPr/>
        </p:nvSpPr>
        <p:spPr>
          <a:xfrm>
            <a:off x="4911525" y="407910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5" name="Google Shape;1265;p29"/>
          <p:cNvSpPr txBox="1"/>
          <p:nvPr/>
        </p:nvSpPr>
        <p:spPr>
          <a:xfrm>
            <a:off x="4911525" y="2088038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6" name="Google Shape;1266;p29"/>
          <p:cNvSpPr txBox="1"/>
          <p:nvPr/>
        </p:nvSpPr>
        <p:spPr>
          <a:xfrm>
            <a:off x="6943375" y="4084779"/>
            <a:ext cx="198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7" name="Google Shape;1267;p29"/>
          <p:cNvSpPr txBox="1"/>
          <p:nvPr/>
        </p:nvSpPr>
        <p:spPr>
          <a:xfrm>
            <a:off x="6943375" y="2087020"/>
            <a:ext cx="19830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8" name="Google Shape;1268;p29"/>
          <p:cNvSpPr txBox="1"/>
          <p:nvPr/>
        </p:nvSpPr>
        <p:spPr>
          <a:xfrm>
            <a:off x="4911525" y="247309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9" name="Google Shape;1269;p29"/>
          <p:cNvSpPr txBox="1"/>
          <p:nvPr/>
        </p:nvSpPr>
        <p:spPr>
          <a:xfrm>
            <a:off x="4911525" y="1670578"/>
            <a:ext cx="1902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0" name="Google Shape;1270;p29"/>
          <p:cNvSpPr txBox="1"/>
          <p:nvPr/>
        </p:nvSpPr>
        <p:spPr>
          <a:xfrm>
            <a:off x="6943375" y="2473566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1" name="Google Shape;1271;p29"/>
          <p:cNvSpPr txBox="1"/>
          <p:nvPr/>
        </p:nvSpPr>
        <p:spPr>
          <a:xfrm>
            <a:off x="6943375" y="1668073"/>
            <a:ext cx="19686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2" name="Google Shape;1272;p29"/>
          <p:cNvSpPr txBox="1"/>
          <p:nvPr/>
        </p:nvSpPr>
        <p:spPr>
          <a:xfrm>
            <a:off x="4911525" y="293195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3" name="Google Shape;1273;p29"/>
          <p:cNvSpPr txBox="1"/>
          <p:nvPr/>
        </p:nvSpPr>
        <p:spPr>
          <a:xfrm>
            <a:off x="6943375" y="2933913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4" name="Google Shape;1274;p29"/>
          <p:cNvSpPr txBox="1"/>
          <p:nvPr/>
        </p:nvSpPr>
        <p:spPr>
          <a:xfrm>
            <a:off x="4911525" y="1494248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5" name="Google Shape;1275;p29"/>
          <p:cNvSpPr txBox="1"/>
          <p:nvPr/>
        </p:nvSpPr>
        <p:spPr>
          <a:xfrm>
            <a:off x="4911525" y="339081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6" name="Google Shape;1276;p29"/>
          <p:cNvSpPr txBox="1"/>
          <p:nvPr/>
        </p:nvSpPr>
        <p:spPr>
          <a:xfrm>
            <a:off x="4911525" y="362024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7" name="Google Shape;1277;p29"/>
          <p:cNvSpPr txBox="1"/>
          <p:nvPr/>
        </p:nvSpPr>
        <p:spPr>
          <a:xfrm>
            <a:off x="6943375" y="1503300"/>
            <a:ext cx="1968600" cy="22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8" name="Google Shape;1278;p29"/>
          <p:cNvSpPr txBox="1"/>
          <p:nvPr/>
        </p:nvSpPr>
        <p:spPr>
          <a:xfrm>
            <a:off x="6943375" y="3394260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9" name="Google Shape;1279;p29"/>
          <p:cNvSpPr txBox="1"/>
          <p:nvPr/>
        </p:nvSpPr>
        <p:spPr>
          <a:xfrm>
            <a:off x="6943375" y="3624433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0" name="Google Shape;1280;p29"/>
          <p:cNvSpPr txBox="1"/>
          <p:nvPr/>
        </p:nvSpPr>
        <p:spPr>
          <a:xfrm>
            <a:off x="4911525" y="448486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1" name="Google Shape;1281;p29"/>
          <p:cNvSpPr txBox="1"/>
          <p:nvPr/>
        </p:nvSpPr>
        <p:spPr>
          <a:xfrm>
            <a:off x="6943375" y="4492026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2" name="Google Shape;1282;p29"/>
          <p:cNvSpPr txBox="1"/>
          <p:nvPr/>
        </p:nvSpPr>
        <p:spPr>
          <a:xfrm>
            <a:off x="4911525" y="471429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3" name="Google Shape;1283;p29"/>
          <p:cNvSpPr txBox="1"/>
          <p:nvPr/>
        </p:nvSpPr>
        <p:spPr>
          <a:xfrm>
            <a:off x="4911525" y="270252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4" name="Google Shape;1284;p29"/>
          <p:cNvSpPr txBox="1"/>
          <p:nvPr/>
        </p:nvSpPr>
        <p:spPr>
          <a:xfrm>
            <a:off x="6943375" y="4722199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5" name="Google Shape;1285;p29"/>
          <p:cNvSpPr txBox="1"/>
          <p:nvPr/>
        </p:nvSpPr>
        <p:spPr>
          <a:xfrm>
            <a:off x="6943375" y="2703740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6" name="Google Shape;1286;p29"/>
          <p:cNvSpPr txBox="1"/>
          <p:nvPr/>
        </p:nvSpPr>
        <p:spPr>
          <a:xfrm>
            <a:off x="4911525" y="384967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7" name="Google Shape;1287;p29"/>
          <p:cNvSpPr txBox="1"/>
          <p:nvPr/>
        </p:nvSpPr>
        <p:spPr>
          <a:xfrm>
            <a:off x="6943375" y="3854606"/>
            <a:ext cx="198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288" name="Google Shape;1288;p29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1289" name="Google Shape;1289;p29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290" name="Google Shape;1290;p29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291" name="Google Shape;1291;p29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292" name="Google Shape;1292;p29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293" name="Google Shape;1293;p29"/>
          <p:cNvSpPr txBox="1"/>
          <p:nvPr/>
        </p:nvSpPr>
        <p:spPr>
          <a:xfrm>
            <a:off x="4911525" y="1879308"/>
            <a:ext cx="1902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4" name="Google Shape;1294;p29"/>
          <p:cNvSpPr txBox="1"/>
          <p:nvPr/>
        </p:nvSpPr>
        <p:spPr>
          <a:xfrm>
            <a:off x="6943375" y="1877546"/>
            <a:ext cx="19686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5" name="Google Shape;1295;p29"/>
          <p:cNvSpPr txBox="1"/>
          <p:nvPr/>
        </p:nvSpPr>
        <p:spPr>
          <a:xfrm>
            <a:off x="4911525" y="2264368"/>
            <a:ext cx="1902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6" name="Google Shape;1296;p29"/>
          <p:cNvSpPr txBox="1"/>
          <p:nvPr/>
        </p:nvSpPr>
        <p:spPr>
          <a:xfrm>
            <a:off x="6943375" y="2264093"/>
            <a:ext cx="19686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7" name="Google Shape;1297;p29"/>
          <p:cNvSpPr txBox="1"/>
          <p:nvPr/>
        </p:nvSpPr>
        <p:spPr>
          <a:xfrm>
            <a:off x="4911525" y="316138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8" name="Google Shape;1298;p29"/>
          <p:cNvSpPr txBox="1"/>
          <p:nvPr/>
        </p:nvSpPr>
        <p:spPr>
          <a:xfrm>
            <a:off x="6943375" y="3164086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9" name="Google Shape;1299;p29"/>
          <p:cNvSpPr/>
          <p:nvPr/>
        </p:nvSpPr>
        <p:spPr>
          <a:xfrm>
            <a:off x="4961875" y="1703851"/>
            <a:ext cx="3950100" cy="4185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300" name="Google Shape;1300;p29"/>
          <p:cNvSpPr/>
          <p:nvPr/>
        </p:nvSpPr>
        <p:spPr>
          <a:xfrm>
            <a:off x="4961875" y="2317901"/>
            <a:ext cx="3950100" cy="4185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301" name="Google Shape;1301;p29"/>
          <p:cNvSpPr/>
          <p:nvPr/>
        </p:nvSpPr>
        <p:spPr>
          <a:xfrm>
            <a:off x="4971800" y="2969075"/>
            <a:ext cx="3950100" cy="445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302" name="Google Shape;1302;p29"/>
          <p:cNvSpPr/>
          <p:nvPr/>
        </p:nvSpPr>
        <p:spPr>
          <a:xfrm>
            <a:off x="4971800" y="3638837"/>
            <a:ext cx="3950100" cy="445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303" name="Google Shape;1303;p29"/>
          <p:cNvSpPr/>
          <p:nvPr/>
        </p:nvSpPr>
        <p:spPr>
          <a:xfrm>
            <a:off x="4971800" y="4537950"/>
            <a:ext cx="3950100" cy="4185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pic>
        <p:nvPicPr>
          <p:cNvPr id="1304" name="Google Shape;1304;p29"/>
          <p:cNvPicPr preferRelativeResize="0"/>
          <p:nvPr/>
        </p:nvPicPr>
        <p:blipFill rotWithShape="1">
          <a:blip r:embed="rId6">
            <a:alphaModFix/>
          </a:blip>
          <a:srcRect b="30840" l="8005" r="13668" t="11300"/>
          <a:stretch/>
        </p:blipFill>
        <p:spPr>
          <a:xfrm>
            <a:off x="264304" y="686268"/>
            <a:ext cx="219300" cy="24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08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p30"/>
          <p:cNvSpPr txBox="1"/>
          <p:nvPr>
            <p:ph type="ctrTitle"/>
          </p:nvPr>
        </p:nvSpPr>
        <p:spPr>
          <a:xfrm>
            <a:off x="483602" y="638425"/>
            <a:ext cx="82725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8 Building Blocks have to be mastered to achieve profitable growth 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310" name="Google Shape;1310;p30"/>
          <p:cNvCxnSpPr/>
          <p:nvPr/>
        </p:nvCxnSpPr>
        <p:spPr>
          <a:xfrm>
            <a:off x="779561" y="1138686"/>
            <a:ext cx="16644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11" name="Google Shape;1311;p30"/>
          <p:cNvSpPr/>
          <p:nvPr/>
        </p:nvSpPr>
        <p:spPr>
          <a:xfrm>
            <a:off x="861200" y="1700703"/>
            <a:ext cx="9366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Reps Excellence</a:t>
            </a:r>
            <a:endParaRPr i="0" sz="900" u="none" cap="none" strike="noStrike">
              <a:solidFill>
                <a:srgbClr val="000000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312" name="Google Shape;1312;p30"/>
          <p:cNvSpPr/>
          <p:nvPr/>
        </p:nvSpPr>
        <p:spPr>
          <a:xfrm>
            <a:off x="861200" y="3227729"/>
            <a:ext cx="9366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engine</a:t>
            </a:r>
            <a:endParaRPr i="0" sz="900" u="none" cap="none" strike="noStrike">
              <a:solidFill>
                <a:srgbClr val="000000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313" name="Google Shape;1313;p30"/>
          <p:cNvSpPr/>
          <p:nvPr/>
        </p:nvSpPr>
        <p:spPr>
          <a:xfrm>
            <a:off x="2321161" y="1668727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4" name="Google Shape;1314;p30"/>
          <p:cNvSpPr/>
          <p:nvPr/>
        </p:nvSpPr>
        <p:spPr>
          <a:xfrm>
            <a:off x="3580381" y="1668727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5" name="Google Shape;1315;p30"/>
          <p:cNvSpPr/>
          <p:nvPr/>
        </p:nvSpPr>
        <p:spPr>
          <a:xfrm>
            <a:off x="4854015" y="1678346"/>
            <a:ext cx="1010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management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6" name="Google Shape;1316;p30"/>
          <p:cNvSpPr/>
          <p:nvPr/>
        </p:nvSpPr>
        <p:spPr>
          <a:xfrm>
            <a:off x="3164440" y="2320500"/>
            <a:ext cx="16047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7" name="Google Shape;1317;p30"/>
          <p:cNvSpPr/>
          <p:nvPr/>
        </p:nvSpPr>
        <p:spPr>
          <a:xfrm>
            <a:off x="2316864" y="3243002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8" name="Google Shape;1318;p30"/>
          <p:cNvSpPr/>
          <p:nvPr/>
        </p:nvSpPr>
        <p:spPr>
          <a:xfrm>
            <a:off x="3576085" y="3243002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9" name="Google Shape;1319;p30"/>
          <p:cNvSpPr/>
          <p:nvPr/>
        </p:nvSpPr>
        <p:spPr>
          <a:xfrm>
            <a:off x="4849719" y="3252621"/>
            <a:ext cx="1010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20" name="Google Shape;1320;p30"/>
          <p:cNvSpPr/>
          <p:nvPr/>
        </p:nvSpPr>
        <p:spPr>
          <a:xfrm>
            <a:off x="3160143" y="3894775"/>
            <a:ext cx="16047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321" name="Google Shape;1321;p30" title="ATSCALE IBIZA467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63450" y="1299150"/>
            <a:ext cx="2292600" cy="3437700"/>
          </a:xfrm>
          <a:prstGeom prst="roundRect">
            <a:avLst>
              <a:gd fmla="val 1989" name="adj"/>
            </a:avLst>
          </a:prstGeom>
          <a:noFill/>
          <a:ln>
            <a:noFill/>
          </a:ln>
        </p:spPr>
      </p:pic>
      <p:sp>
        <p:nvSpPr>
          <p:cNvPr id="1322" name="Google Shape;1322;p30"/>
          <p:cNvSpPr/>
          <p:nvPr/>
        </p:nvSpPr>
        <p:spPr>
          <a:xfrm>
            <a:off x="398150" y="1299150"/>
            <a:ext cx="5931300" cy="1706400"/>
          </a:xfrm>
          <a:prstGeom prst="round2SameRect">
            <a:avLst>
              <a:gd fmla="val 2276" name="adj1"/>
              <a:gd fmla="val 0" name="adj2"/>
            </a:avLst>
          </a:prstGeom>
          <a:solidFill>
            <a:srgbClr val="EEEEEE">
              <a:alpha val="5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23" name="Google Shape;1323;p30" title="Logo_atscale_sans textur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24" name="Google Shape;1324;p30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25" name="Google Shape;1325;p30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Restitution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326" name="Google Shape;1326;p30" title="ATSCALE IBIZA477.jpg"/>
          <p:cNvPicPr preferRelativeResize="0"/>
          <p:nvPr/>
        </p:nvPicPr>
        <p:blipFill rotWithShape="1">
          <a:blip r:embed="rId6">
            <a:alphaModFix/>
          </a:blip>
          <a:srcRect b="0" l="20477" r="35047" t="0"/>
          <a:stretch/>
        </p:blipFill>
        <p:spPr>
          <a:xfrm>
            <a:off x="6463725" y="1299150"/>
            <a:ext cx="2292600" cy="3437700"/>
          </a:xfrm>
          <a:prstGeom prst="roundRect">
            <a:avLst>
              <a:gd fmla="val 4105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30" name="Shape 1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" name="Google Shape;1331;p31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2" name="Google Shape;1332;p31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33" name="Google Shape;1333;p31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Agenda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34" name="Google Shape;1334;p31"/>
          <p:cNvSpPr/>
          <p:nvPr/>
        </p:nvSpPr>
        <p:spPr>
          <a:xfrm>
            <a:off x="1064393" y="1574302"/>
            <a:ext cx="2388900" cy="3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Introduction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335" name="Google Shape;1335;p3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225376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36" name="Google Shape;1336;p31"/>
          <p:cNvSpPr txBox="1"/>
          <p:nvPr>
            <p:ph type="ctrTitle"/>
          </p:nvPr>
        </p:nvSpPr>
        <p:spPr>
          <a:xfrm>
            <a:off x="621585" y="225892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337" name="Google Shape;1337;p3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0181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38" name="Google Shape;1338;p31"/>
          <p:cNvSpPr txBox="1"/>
          <p:nvPr>
            <p:ph type="ctrTitle"/>
          </p:nvPr>
        </p:nvSpPr>
        <p:spPr>
          <a:xfrm>
            <a:off x="621585" y="30232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339" name="Google Shape;1339;p3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778691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40" name="Google Shape;1340;p31"/>
          <p:cNvSpPr txBox="1"/>
          <p:nvPr>
            <p:ph type="ctrTitle"/>
          </p:nvPr>
        </p:nvSpPr>
        <p:spPr>
          <a:xfrm>
            <a:off x="609374" y="3783852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41" name="Google Shape;1341;p31"/>
          <p:cNvSpPr/>
          <p:nvPr/>
        </p:nvSpPr>
        <p:spPr>
          <a:xfrm>
            <a:off x="1064400" y="2310901"/>
            <a:ext cx="23889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Audit findings 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42" name="Google Shape;1342;p31"/>
          <p:cNvSpPr/>
          <p:nvPr/>
        </p:nvSpPr>
        <p:spPr>
          <a:xfrm>
            <a:off x="1064400" y="3014550"/>
            <a:ext cx="34245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447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Competency-Gap Analysis per Building Block</a:t>
            </a:r>
            <a:endParaRPr b="1" sz="1447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43" name="Google Shape;1343;p31"/>
          <p:cNvSpPr/>
          <p:nvPr/>
        </p:nvSpPr>
        <p:spPr>
          <a:xfrm>
            <a:off x="1064400" y="3827950"/>
            <a:ext cx="32055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6-month Roadmap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344" name="Google Shape;1344;p3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14894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45" name="Google Shape;1345;p31"/>
          <p:cNvSpPr txBox="1"/>
          <p:nvPr>
            <p:ph type="ctrTitle"/>
          </p:nvPr>
        </p:nvSpPr>
        <p:spPr>
          <a:xfrm>
            <a:off x="639903" y="14945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49" name="Shape 1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Google Shape;1350;p32"/>
          <p:cNvSpPr/>
          <p:nvPr/>
        </p:nvSpPr>
        <p:spPr>
          <a:xfrm>
            <a:off x="1575225" y="450312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Go-to market &amp; process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1" name="Google Shape;1351;p32"/>
          <p:cNvSpPr/>
          <p:nvPr/>
        </p:nvSpPr>
        <p:spPr>
          <a:xfrm>
            <a:off x="3873275" y="450327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Target-Setting, Compensation Plans, Forecasts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2" name="Google Shape;1352;p32"/>
          <p:cNvSpPr/>
          <p:nvPr/>
        </p:nvSpPr>
        <p:spPr>
          <a:xfrm>
            <a:off x="6171325" y="450312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Toolstack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3" name="Google Shape;1353;p32"/>
          <p:cNvSpPr/>
          <p:nvPr/>
        </p:nvSpPr>
        <p:spPr>
          <a:xfrm>
            <a:off x="6334838" y="3799113"/>
            <a:ext cx="2082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Portfolio Growth &amp; Churn Prevention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4" name="Google Shape;1354;p32"/>
          <p:cNvSpPr/>
          <p:nvPr/>
        </p:nvSpPr>
        <p:spPr>
          <a:xfrm>
            <a:off x="6334813" y="350141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Territory Planning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5" name="Google Shape;1355;p32"/>
          <p:cNvSpPr/>
          <p:nvPr/>
        </p:nvSpPr>
        <p:spPr>
          <a:xfrm>
            <a:off x="7388163" y="350141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Outreach Strategy, SLAs &amp; Quotas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6" name="Google Shape;1356;p32"/>
          <p:cNvSpPr/>
          <p:nvPr/>
        </p:nvSpPr>
        <p:spPr>
          <a:xfrm>
            <a:off x="39530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Demo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7" name="Google Shape;1357;p32"/>
          <p:cNvSpPr/>
          <p:nvPr/>
        </p:nvSpPr>
        <p:spPr>
          <a:xfrm>
            <a:off x="46541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Proposal &amp; negotiation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8" name="Google Shape;1358;p32"/>
          <p:cNvSpPr/>
          <p:nvPr/>
        </p:nvSpPr>
        <p:spPr>
          <a:xfrm>
            <a:off x="53552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9" name="Google Shape;1359;p32"/>
          <p:cNvSpPr/>
          <p:nvPr/>
        </p:nvSpPr>
        <p:spPr>
          <a:xfrm>
            <a:off x="3953475" y="35014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Prospection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0" name="Google Shape;1360;p32"/>
          <p:cNvSpPr/>
          <p:nvPr/>
        </p:nvSpPr>
        <p:spPr>
          <a:xfrm>
            <a:off x="5006825" y="35014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Discovery &amp; Qualification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1" name="Google Shape;1361;p32"/>
          <p:cNvSpPr/>
          <p:nvPr/>
        </p:nvSpPr>
        <p:spPr>
          <a:xfrm>
            <a:off x="15712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Alignment with Sales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2" name="Google Shape;1362;p32"/>
          <p:cNvSpPr/>
          <p:nvPr/>
        </p:nvSpPr>
        <p:spPr>
          <a:xfrm>
            <a:off x="22723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Campaign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3" name="Google Shape;1363;p32"/>
          <p:cNvSpPr/>
          <p:nvPr/>
        </p:nvSpPr>
        <p:spPr>
          <a:xfrm>
            <a:off x="29734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Full funnel data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4" name="Google Shape;1364;p32"/>
          <p:cNvSpPr/>
          <p:nvPr/>
        </p:nvSpPr>
        <p:spPr>
          <a:xfrm>
            <a:off x="1571675" y="350067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 Strategy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5" name="Google Shape;1365;p32"/>
          <p:cNvSpPr/>
          <p:nvPr/>
        </p:nvSpPr>
        <p:spPr>
          <a:xfrm>
            <a:off x="2625025" y="350067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Team Structure &amp; Ownership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6" name="Google Shape;1366;p32"/>
          <p:cNvSpPr/>
          <p:nvPr/>
        </p:nvSpPr>
        <p:spPr>
          <a:xfrm>
            <a:off x="1575275" y="2684088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Org Structure</a:t>
            </a:r>
            <a:endParaRPr/>
          </a:p>
        </p:txBody>
      </p:sp>
      <p:sp>
        <p:nvSpPr>
          <p:cNvPr id="1367" name="Google Shape;1367;p32"/>
          <p:cNvSpPr/>
          <p:nvPr/>
        </p:nvSpPr>
        <p:spPr>
          <a:xfrm>
            <a:off x="3303800" y="2680113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Career Path and Competency Framework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8" name="Google Shape;1368;p32"/>
          <p:cNvSpPr/>
          <p:nvPr/>
        </p:nvSpPr>
        <p:spPr>
          <a:xfrm>
            <a:off x="5035100" y="2680100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Employee Engagement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9" name="Google Shape;1369;p32"/>
          <p:cNvSpPr/>
          <p:nvPr/>
        </p:nvSpPr>
        <p:spPr>
          <a:xfrm>
            <a:off x="6760575" y="2680100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Manager Academy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0" name="Google Shape;1370;p32"/>
          <p:cNvSpPr/>
          <p:nvPr/>
        </p:nvSpPr>
        <p:spPr>
          <a:xfrm>
            <a:off x="6334963" y="1980363"/>
            <a:ext cx="2082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Under &amp; Top Performance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1" name="Google Shape;1371;p32"/>
          <p:cNvSpPr/>
          <p:nvPr/>
        </p:nvSpPr>
        <p:spPr>
          <a:xfrm>
            <a:off x="6334938" y="168266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Routine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2" name="Google Shape;1372;p32"/>
          <p:cNvSpPr/>
          <p:nvPr/>
        </p:nvSpPr>
        <p:spPr>
          <a:xfrm>
            <a:off x="7388288" y="168266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Floor Animation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3" name="Google Shape;1373;p32"/>
          <p:cNvSpPr/>
          <p:nvPr/>
        </p:nvSpPr>
        <p:spPr>
          <a:xfrm>
            <a:off x="3953313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Playbook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4" name="Google Shape;1374;p32"/>
          <p:cNvSpPr/>
          <p:nvPr/>
        </p:nvSpPr>
        <p:spPr>
          <a:xfrm>
            <a:off x="3953313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Knowledge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5" name="Google Shape;1375;p32"/>
          <p:cNvSpPr/>
          <p:nvPr/>
        </p:nvSpPr>
        <p:spPr>
          <a:xfrm>
            <a:off x="5006663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Collaterals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6" name="Google Shape;1376;p32"/>
          <p:cNvSpPr/>
          <p:nvPr/>
        </p:nvSpPr>
        <p:spPr>
          <a:xfrm>
            <a:off x="5006663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Training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7" name="Google Shape;1377;p32"/>
          <p:cNvSpPr/>
          <p:nvPr/>
        </p:nvSpPr>
        <p:spPr>
          <a:xfrm>
            <a:off x="1571700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onboarding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8" name="Google Shape;1378;p32"/>
          <p:cNvSpPr/>
          <p:nvPr/>
        </p:nvSpPr>
        <p:spPr>
          <a:xfrm>
            <a:off x="1571700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Acquisition</a:t>
            </a:r>
            <a:endParaRPr/>
          </a:p>
        </p:txBody>
      </p:sp>
      <p:sp>
        <p:nvSpPr>
          <p:cNvPr id="1379" name="Google Shape;1379;p32"/>
          <p:cNvSpPr/>
          <p:nvPr/>
        </p:nvSpPr>
        <p:spPr>
          <a:xfrm>
            <a:off x="2625050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Hiring process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80" name="Google Shape;1380;p32"/>
          <p:cNvSpPr/>
          <p:nvPr/>
        </p:nvSpPr>
        <p:spPr>
          <a:xfrm>
            <a:off x="2625050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ramp-up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81" name="Google Shape;1381;p32"/>
          <p:cNvSpPr txBox="1"/>
          <p:nvPr>
            <p:ph type="ctrTitle"/>
          </p:nvPr>
        </p:nvSpPr>
        <p:spPr>
          <a:xfrm>
            <a:off x="483602" y="638425"/>
            <a:ext cx="82725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Self Assessment by CLIENT Exec Team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382" name="Google Shape;1382;p32"/>
          <p:cNvCxnSpPr/>
          <p:nvPr/>
        </p:nvCxnSpPr>
        <p:spPr>
          <a:xfrm>
            <a:off x="575886" y="1138686"/>
            <a:ext cx="18261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383" name="Google Shape;1383;p32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solidFill/>
          </a:ln>
        </p:spPr>
      </p:pic>
      <p:cxnSp>
        <p:nvCxnSpPr>
          <p:cNvPr id="1384" name="Google Shape;1384;p32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85" name="Google Shape;1385;p32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Assessments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86" name="Google Shape;1386;p32"/>
          <p:cNvSpPr/>
          <p:nvPr/>
        </p:nvSpPr>
        <p:spPr>
          <a:xfrm>
            <a:off x="483600" y="13860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Reps Excellence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387" name="Google Shape;1387;p32"/>
          <p:cNvSpPr/>
          <p:nvPr/>
        </p:nvSpPr>
        <p:spPr>
          <a:xfrm>
            <a:off x="1572325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</a:t>
            </a:r>
            <a:endParaRPr/>
          </a:p>
        </p:txBody>
      </p:sp>
      <p:sp>
        <p:nvSpPr>
          <p:cNvPr id="1388" name="Google Shape;1388;p32"/>
          <p:cNvSpPr/>
          <p:nvPr/>
        </p:nvSpPr>
        <p:spPr>
          <a:xfrm>
            <a:off x="3953649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endParaRPr/>
          </a:p>
        </p:txBody>
      </p:sp>
      <p:sp>
        <p:nvSpPr>
          <p:cNvPr id="1389" name="Google Shape;1389;p32"/>
          <p:cNvSpPr/>
          <p:nvPr/>
        </p:nvSpPr>
        <p:spPr>
          <a:xfrm>
            <a:off x="6334999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Management</a:t>
            </a:r>
            <a:endParaRPr/>
          </a:p>
        </p:txBody>
      </p:sp>
      <p:sp>
        <p:nvSpPr>
          <p:cNvPr id="1390" name="Google Shape;1390;p32"/>
          <p:cNvSpPr/>
          <p:nvPr/>
        </p:nvSpPr>
        <p:spPr>
          <a:xfrm>
            <a:off x="1572325" y="2375781"/>
            <a:ext cx="6879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endParaRPr/>
          </a:p>
        </p:txBody>
      </p:sp>
      <p:sp>
        <p:nvSpPr>
          <p:cNvPr id="1391" name="Google Shape;1391;p32"/>
          <p:cNvSpPr/>
          <p:nvPr/>
        </p:nvSpPr>
        <p:spPr>
          <a:xfrm>
            <a:off x="483588" y="32052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Engine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392" name="Google Shape;1392;p32"/>
          <p:cNvSpPr/>
          <p:nvPr/>
        </p:nvSpPr>
        <p:spPr>
          <a:xfrm>
            <a:off x="1572312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</a:t>
            </a:r>
            <a:endParaRPr/>
          </a:p>
        </p:txBody>
      </p:sp>
      <p:sp>
        <p:nvSpPr>
          <p:cNvPr id="1393" name="Google Shape;1393;p32"/>
          <p:cNvSpPr/>
          <p:nvPr/>
        </p:nvSpPr>
        <p:spPr>
          <a:xfrm>
            <a:off x="3953637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endParaRPr/>
          </a:p>
        </p:txBody>
      </p:sp>
      <p:sp>
        <p:nvSpPr>
          <p:cNvPr id="1394" name="Google Shape;1394;p32"/>
          <p:cNvSpPr/>
          <p:nvPr/>
        </p:nvSpPr>
        <p:spPr>
          <a:xfrm>
            <a:off x="6334987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</a:t>
            </a:r>
            <a:endParaRPr/>
          </a:p>
        </p:txBody>
      </p:sp>
      <p:sp>
        <p:nvSpPr>
          <p:cNvPr id="1395" name="Google Shape;1395;p32"/>
          <p:cNvSpPr/>
          <p:nvPr/>
        </p:nvSpPr>
        <p:spPr>
          <a:xfrm>
            <a:off x="1572312" y="4194981"/>
            <a:ext cx="6879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endParaRPr/>
          </a:p>
        </p:txBody>
      </p:sp>
      <p:sp>
        <p:nvSpPr>
          <p:cNvPr id="1396" name="Google Shape;1396;p32"/>
          <p:cNvSpPr txBox="1"/>
          <p:nvPr/>
        </p:nvSpPr>
        <p:spPr>
          <a:xfrm>
            <a:off x="6680849" y="327500"/>
            <a:ext cx="314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i="0" lang="fr" sz="7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Weak</a:t>
            </a:r>
            <a:endParaRPr i="0" sz="13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397" name="Google Shape;1397;p32"/>
          <p:cNvSpPr txBox="1"/>
          <p:nvPr/>
        </p:nvSpPr>
        <p:spPr>
          <a:xfrm>
            <a:off x="8206090" y="327500"/>
            <a:ext cx="625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i="0" lang="fr" sz="7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Best in class</a:t>
            </a:r>
            <a:endParaRPr i="0" sz="13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398" name="Google Shape;1398;p32"/>
          <p:cNvSpPr/>
          <p:nvPr/>
        </p:nvSpPr>
        <p:spPr>
          <a:xfrm rot="5400000">
            <a:off x="7946350" y="271700"/>
            <a:ext cx="1851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9" name="Google Shape;1399;p32"/>
          <p:cNvSpPr/>
          <p:nvPr/>
        </p:nvSpPr>
        <p:spPr>
          <a:xfrm rot="-5400000">
            <a:off x="7070200" y="271700"/>
            <a:ext cx="1851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0" name="Google Shape;1400;p32"/>
          <p:cNvSpPr/>
          <p:nvPr/>
        </p:nvSpPr>
        <p:spPr>
          <a:xfrm>
            <a:off x="7272125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2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1" name="Google Shape;1401;p32"/>
          <p:cNvSpPr/>
          <p:nvPr/>
        </p:nvSpPr>
        <p:spPr>
          <a:xfrm>
            <a:off x="7491163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3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2" name="Google Shape;1402;p32"/>
          <p:cNvSpPr/>
          <p:nvPr/>
        </p:nvSpPr>
        <p:spPr>
          <a:xfrm>
            <a:off x="7710200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4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3" name="Google Shape;1403;p32"/>
          <p:cNvSpPr txBox="1"/>
          <p:nvPr/>
        </p:nvSpPr>
        <p:spPr>
          <a:xfrm>
            <a:off x="7053100" y="288800"/>
            <a:ext cx="219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1</a:t>
            </a:r>
            <a:endParaRPr sz="700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4" name="Google Shape;1404;p32"/>
          <p:cNvSpPr txBox="1"/>
          <p:nvPr/>
        </p:nvSpPr>
        <p:spPr>
          <a:xfrm>
            <a:off x="7929250" y="288800"/>
            <a:ext cx="219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5</a:t>
            </a:r>
            <a:endParaRPr sz="700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5" name="Google Shape;1405;p32"/>
          <p:cNvSpPr/>
          <p:nvPr/>
        </p:nvSpPr>
        <p:spPr>
          <a:xfrm>
            <a:off x="3692600" y="1681900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6" name="Google Shape;1406;p32"/>
          <p:cNvSpPr/>
          <p:nvPr/>
        </p:nvSpPr>
        <p:spPr>
          <a:xfrm>
            <a:off x="6075975" y="1681900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7" name="Google Shape;1407;p32"/>
          <p:cNvSpPr/>
          <p:nvPr/>
        </p:nvSpPr>
        <p:spPr>
          <a:xfrm>
            <a:off x="3694450" y="3507675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8" name="Google Shape;1408;p32"/>
          <p:cNvSpPr/>
          <p:nvPr/>
        </p:nvSpPr>
        <p:spPr>
          <a:xfrm>
            <a:off x="6076038" y="3507675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9" name="Google Shape;1409;p32"/>
          <p:cNvSpPr/>
          <p:nvPr/>
        </p:nvSpPr>
        <p:spPr>
          <a:xfrm>
            <a:off x="8486050" y="3500675"/>
            <a:ext cx="219300" cy="12708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0" name="Google Shape;1410;p32"/>
          <p:cNvSpPr/>
          <p:nvPr/>
        </p:nvSpPr>
        <p:spPr>
          <a:xfrm>
            <a:off x="8486050" y="1682675"/>
            <a:ext cx="219300" cy="12708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14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33"/>
          <p:cNvSpPr/>
          <p:nvPr/>
        </p:nvSpPr>
        <p:spPr>
          <a:xfrm>
            <a:off x="3692600" y="1681900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6" name="Google Shape;1416;p33"/>
          <p:cNvSpPr/>
          <p:nvPr/>
        </p:nvSpPr>
        <p:spPr>
          <a:xfrm>
            <a:off x="6075975" y="1681900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7" name="Google Shape;1417;p33"/>
          <p:cNvSpPr/>
          <p:nvPr/>
        </p:nvSpPr>
        <p:spPr>
          <a:xfrm>
            <a:off x="3694450" y="3507675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8" name="Google Shape;1418;p33"/>
          <p:cNvSpPr/>
          <p:nvPr/>
        </p:nvSpPr>
        <p:spPr>
          <a:xfrm>
            <a:off x="6076038" y="3507675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9" name="Google Shape;1419;p33"/>
          <p:cNvSpPr/>
          <p:nvPr/>
        </p:nvSpPr>
        <p:spPr>
          <a:xfrm>
            <a:off x="8486050" y="3500675"/>
            <a:ext cx="219300" cy="12708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0" name="Google Shape;1420;p33"/>
          <p:cNvSpPr/>
          <p:nvPr/>
        </p:nvSpPr>
        <p:spPr>
          <a:xfrm>
            <a:off x="8486050" y="1682675"/>
            <a:ext cx="219300" cy="12708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1" name="Google Shape;1421;p33"/>
          <p:cNvSpPr/>
          <p:nvPr/>
        </p:nvSpPr>
        <p:spPr>
          <a:xfrm>
            <a:off x="1575225" y="450312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Go-to market &amp; process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2" name="Google Shape;1422;p33"/>
          <p:cNvSpPr/>
          <p:nvPr/>
        </p:nvSpPr>
        <p:spPr>
          <a:xfrm>
            <a:off x="3873275" y="450327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Target-Setting, Compensation Plans, Forecasts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3" name="Google Shape;1423;p33"/>
          <p:cNvSpPr/>
          <p:nvPr/>
        </p:nvSpPr>
        <p:spPr>
          <a:xfrm>
            <a:off x="6171325" y="450312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Toolstack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4" name="Google Shape;1424;p33"/>
          <p:cNvSpPr/>
          <p:nvPr/>
        </p:nvSpPr>
        <p:spPr>
          <a:xfrm>
            <a:off x="6334838" y="3799113"/>
            <a:ext cx="2082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Portfolio Growth &amp; Churn Prevention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5" name="Google Shape;1425;p33"/>
          <p:cNvSpPr/>
          <p:nvPr/>
        </p:nvSpPr>
        <p:spPr>
          <a:xfrm>
            <a:off x="6334813" y="350141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Territory Planning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6" name="Google Shape;1426;p33"/>
          <p:cNvSpPr/>
          <p:nvPr/>
        </p:nvSpPr>
        <p:spPr>
          <a:xfrm>
            <a:off x="7388163" y="350141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Outreach Strategy, SLAs &amp; Quotas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7" name="Google Shape;1427;p33"/>
          <p:cNvSpPr/>
          <p:nvPr/>
        </p:nvSpPr>
        <p:spPr>
          <a:xfrm>
            <a:off x="39530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Demo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8" name="Google Shape;1428;p33"/>
          <p:cNvSpPr/>
          <p:nvPr/>
        </p:nvSpPr>
        <p:spPr>
          <a:xfrm>
            <a:off x="46541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Proposal &amp; negotiation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9" name="Google Shape;1429;p33"/>
          <p:cNvSpPr/>
          <p:nvPr/>
        </p:nvSpPr>
        <p:spPr>
          <a:xfrm>
            <a:off x="53552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0" name="Google Shape;1430;p33"/>
          <p:cNvSpPr/>
          <p:nvPr/>
        </p:nvSpPr>
        <p:spPr>
          <a:xfrm>
            <a:off x="3953475" y="35014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Prospection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1" name="Google Shape;1431;p33"/>
          <p:cNvSpPr/>
          <p:nvPr/>
        </p:nvSpPr>
        <p:spPr>
          <a:xfrm>
            <a:off x="5006825" y="35014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Discovery &amp; Qualification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2" name="Google Shape;1432;p33"/>
          <p:cNvSpPr/>
          <p:nvPr/>
        </p:nvSpPr>
        <p:spPr>
          <a:xfrm>
            <a:off x="15712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Alignment with Sales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3" name="Google Shape;1433;p33"/>
          <p:cNvSpPr/>
          <p:nvPr/>
        </p:nvSpPr>
        <p:spPr>
          <a:xfrm>
            <a:off x="22723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Campaign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4" name="Google Shape;1434;p33"/>
          <p:cNvSpPr/>
          <p:nvPr/>
        </p:nvSpPr>
        <p:spPr>
          <a:xfrm>
            <a:off x="29734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Full funnel data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5" name="Google Shape;1435;p33"/>
          <p:cNvSpPr/>
          <p:nvPr/>
        </p:nvSpPr>
        <p:spPr>
          <a:xfrm>
            <a:off x="1571675" y="350067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 Strategy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6" name="Google Shape;1436;p33"/>
          <p:cNvSpPr/>
          <p:nvPr/>
        </p:nvSpPr>
        <p:spPr>
          <a:xfrm>
            <a:off x="2625025" y="350067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Team Structure &amp; Ownership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7" name="Google Shape;1437;p33"/>
          <p:cNvSpPr/>
          <p:nvPr/>
        </p:nvSpPr>
        <p:spPr>
          <a:xfrm>
            <a:off x="1575275" y="2684088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Org Structure</a:t>
            </a:r>
            <a:endParaRPr/>
          </a:p>
        </p:txBody>
      </p:sp>
      <p:sp>
        <p:nvSpPr>
          <p:cNvPr id="1438" name="Google Shape;1438;p33"/>
          <p:cNvSpPr/>
          <p:nvPr/>
        </p:nvSpPr>
        <p:spPr>
          <a:xfrm>
            <a:off x="3303800" y="2680113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Career Path and Competency Framework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9" name="Google Shape;1439;p33"/>
          <p:cNvSpPr/>
          <p:nvPr/>
        </p:nvSpPr>
        <p:spPr>
          <a:xfrm>
            <a:off x="5035100" y="2680100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Employee Engagement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0" name="Google Shape;1440;p33"/>
          <p:cNvSpPr/>
          <p:nvPr/>
        </p:nvSpPr>
        <p:spPr>
          <a:xfrm>
            <a:off x="6760575" y="2680100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Manager Academy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1" name="Google Shape;1441;p33"/>
          <p:cNvSpPr/>
          <p:nvPr/>
        </p:nvSpPr>
        <p:spPr>
          <a:xfrm>
            <a:off x="6334963" y="1980363"/>
            <a:ext cx="2082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Under &amp; Top Performance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2" name="Google Shape;1442;p33"/>
          <p:cNvSpPr/>
          <p:nvPr/>
        </p:nvSpPr>
        <p:spPr>
          <a:xfrm>
            <a:off x="6334938" y="168266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Routine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3" name="Google Shape;1443;p33"/>
          <p:cNvSpPr/>
          <p:nvPr/>
        </p:nvSpPr>
        <p:spPr>
          <a:xfrm>
            <a:off x="7388288" y="168266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Floor Animation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4" name="Google Shape;1444;p33"/>
          <p:cNvSpPr/>
          <p:nvPr/>
        </p:nvSpPr>
        <p:spPr>
          <a:xfrm>
            <a:off x="3953313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Playbook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5" name="Google Shape;1445;p33"/>
          <p:cNvSpPr/>
          <p:nvPr/>
        </p:nvSpPr>
        <p:spPr>
          <a:xfrm>
            <a:off x="3953313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Knowledge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6" name="Google Shape;1446;p33"/>
          <p:cNvSpPr/>
          <p:nvPr/>
        </p:nvSpPr>
        <p:spPr>
          <a:xfrm>
            <a:off x="5006663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Collaterals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7" name="Google Shape;1447;p33"/>
          <p:cNvSpPr/>
          <p:nvPr/>
        </p:nvSpPr>
        <p:spPr>
          <a:xfrm>
            <a:off x="5006663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Training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8" name="Google Shape;1448;p33"/>
          <p:cNvSpPr/>
          <p:nvPr/>
        </p:nvSpPr>
        <p:spPr>
          <a:xfrm>
            <a:off x="1571700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onboarding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9" name="Google Shape;1449;p33"/>
          <p:cNvSpPr/>
          <p:nvPr/>
        </p:nvSpPr>
        <p:spPr>
          <a:xfrm>
            <a:off x="1571700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Acquisition</a:t>
            </a:r>
            <a:endParaRPr/>
          </a:p>
        </p:txBody>
      </p:sp>
      <p:sp>
        <p:nvSpPr>
          <p:cNvPr id="1450" name="Google Shape;1450;p33"/>
          <p:cNvSpPr/>
          <p:nvPr/>
        </p:nvSpPr>
        <p:spPr>
          <a:xfrm>
            <a:off x="2625050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Hiring process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51" name="Google Shape;1451;p33"/>
          <p:cNvSpPr/>
          <p:nvPr/>
        </p:nvSpPr>
        <p:spPr>
          <a:xfrm>
            <a:off x="2625050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ramp-up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52" name="Google Shape;1452;p33"/>
          <p:cNvSpPr/>
          <p:nvPr/>
        </p:nvSpPr>
        <p:spPr>
          <a:xfrm>
            <a:off x="1572325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</a:t>
            </a:r>
            <a:endParaRPr/>
          </a:p>
        </p:txBody>
      </p:sp>
      <p:sp>
        <p:nvSpPr>
          <p:cNvPr id="1453" name="Google Shape;1453;p33"/>
          <p:cNvSpPr/>
          <p:nvPr/>
        </p:nvSpPr>
        <p:spPr>
          <a:xfrm>
            <a:off x="3953649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endParaRPr/>
          </a:p>
        </p:txBody>
      </p:sp>
      <p:sp>
        <p:nvSpPr>
          <p:cNvPr id="1454" name="Google Shape;1454;p33"/>
          <p:cNvSpPr/>
          <p:nvPr/>
        </p:nvSpPr>
        <p:spPr>
          <a:xfrm>
            <a:off x="6334999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Management</a:t>
            </a:r>
            <a:endParaRPr/>
          </a:p>
        </p:txBody>
      </p:sp>
      <p:sp>
        <p:nvSpPr>
          <p:cNvPr id="1455" name="Google Shape;1455;p33"/>
          <p:cNvSpPr/>
          <p:nvPr/>
        </p:nvSpPr>
        <p:spPr>
          <a:xfrm>
            <a:off x="1572325" y="2375781"/>
            <a:ext cx="6879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endParaRPr/>
          </a:p>
        </p:txBody>
      </p:sp>
      <p:sp>
        <p:nvSpPr>
          <p:cNvPr id="1456" name="Google Shape;1456;p33"/>
          <p:cNvSpPr/>
          <p:nvPr/>
        </p:nvSpPr>
        <p:spPr>
          <a:xfrm>
            <a:off x="1572312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</a:t>
            </a:r>
            <a:endParaRPr/>
          </a:p>
        </p:txBody>
      </p:sp>
      <p:sp>
        <p:nvSpPr>
          <p:cNvPr id="1457" name="Google Shape;1457;p33"/>
          <p:cNvSpPr/>
          <p:nvPr/>
        </p:nvSpPr>
        <p:spPr>
          <a:xfrm>
            <a:off x="3953637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endParaRPr/>
          </a:p>
        </p:txBody>
      </p:sp>
      <p:sp>
        <p:nvSpPr>
          <p:cNvPr id="1458" name="Google Shape;1458;p33"/>
          <p:cNvSpPr/>
          <p:nvPr/>
        </p:nvSpPr>
        <p:spPr>
          <a:xfrm>
            <a:off x="6334987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</a:t>
            </a:r>
            <a:endParaRPr/>
          </a:p>
        </p:txBody>
      </p:sp>
      <p:sp>
        <p:nvSpPr>
          <p:cNvPr id="1459" name="Google Shape;1459;p33"/>
          <p:cNvSpPr/>
          <p:nvPr/>
        </p:nvSpPr>
        <p:spPr>
          <a:xfrm>
            <a:off x="1572312" y="4194981"/>
            <a:ext cx="6879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endParaRPr/>
          </a:p>
        </p:txBody>
      </p:sp>
      <p:sp>
        <p:nvSpPr>
          <p:cNvPr id="1460" name="Google Shape;1460;p33"/>
          <p:cNvSpPr txBox="1"/>
          <p:nvPr>
            <p:ph type="ctrTitle"/>
          </p:nvPr>
        </p:nvSpPr>
        <p:spPr>
          <a:xfrm>
            <a:off x="483602" y="638425"/>
            <a:ext cx="82725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Atscale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Assessment 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&amp; Recommended Scoping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462" name="Google Shape;1462;p33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solidFill/>
          </a:ln>
        </p:spPr>
      </p:pic>
      <p:sp>
        <p:nvSpPr>
          <p:cNvPr id="1464" name="Google Shape;1464;p33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Assessments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5" name="Google Shape;1465;p33"/>
          <p:cNvSpPr/>
          <p:nvPr/>
        </p:nvSpPr>
        <p:spPr>
          <a:xfrm>
            <a:off x="483600" y="13860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Reps Excellence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66" name="Google Shape;1466;p33"/>
          <p:cNvSpPr/>
          <p:nvPr/>
        </p:nvSpPr>
        <p:spPr>
          <a:xfrm>
            <a:off x="483588" y="32052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Engine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67" name="Google Shape;1467;p33"/>
          <p:cNvSpPr txBox="1"/>
          <p:nvPr/>
        </p:nvSpPr>
        <p:spPr>
          <a:xfrm>
            <a:off x="6680849" y="327500"/>
            <a:ext cx="314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i="0" lang="fr" sz="7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Weak</a:t>
            </a:r>
            <a:endParaRPr i="0" sz="13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468" name="Google Shape;1468;p33"/>
          <p:cNvSpPr txBox="1"/>
          <p:nvPr/>
        </p:nvSpPr>
        <p:spPr>
          <a:xfrm>
            <a:off x="8206090" y="327500"/>
            <a:ext cx="625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i="0" lang="fr" sz="7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Best in class</a:t>
            </a:r>
            <a:endParaRPr i="0" sz="13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469" name="Google Shape;1469;p33"/>
          <p:cNvSpPr/>
          <p:nvPr/>
        </p:nvSpPr>
        <p:spPr>
          <a:xfrm rot="5400000">
            <a:off x="7946350" y="271700"/>
            <a:ext cx="1851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0" name="Google Shape;1470;p33"/>
          <p:cNvSpPr/>
          <p:nvPr/>
        </p:nvSpPr>
        <p:spPr>
          <a:xfrm rot="-5400000">
            <a:off x="7070200" y="271700"/>
            <a:ext cx="1851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1" name="Google Shape;1471;p33"/>
          <p:cNvSpPr/>
          <p:nvPr/>
        </p:nvSpPr>
        <p:spPr>
          <a:xfrm>
            <a:off x="7272125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2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72" name="Google Shape;1472;p33"/>
          <p:cNvSpPr/>
          <p:nvPr/>
        </p:nvSpPr>
        <p:spPr>
          <a:xfrm>
            <a:off x="7491163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3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73" name="Google Shape;1473;p33"/>
          <p:cNvSpPr/>
          <p:nvPr/>
        </p:nvSpPr>
        <p:spPr>
          <a:xfrm>
            <a:off x="7710200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4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74" name="Google Shape;1474;p33"/>
          <p:cNvSpPr txBox="1"/>
          <p:nvPr/>
        </p:nvSpPr>
        <p:spPr>
          <a:xfrm>
            <a:off x="7053100" y="288800"/>
            <a:ext cx="219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1</a:t>
            </a:r>
            <a:endParaRPr sz="700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75" name="Google Shape;1475;p33"/>
          <p:cNvSpPr txBox="1"/>
          <p:nvPr/>
        </p:nvSpPr>
        <p:spPr>
          <a:xfrm>
            <a:off x="7929250" y="288800"/>
            <a:ext cx="219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5</a:t>
            </a:r>
            <a:endParaRPr sz="700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89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0" name="Google Shape;1490;p34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91" name="Google Shape;1491;p34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92" name="Google Shape;1492;p34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Agenda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93" name="Google Shape;1493;p34"/>
          <p:cNvSpPr/>
          <p:nvPr/>
        </p:nvSpPr>
        <p:spPr>
          <a:xfrm>
            <a:off x="1064393" y="1574302"/>
            <a:ext cx="2388900" cy="3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Introduction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494" name="Google Shape;1494;p34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225376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5" name="Google Shape;1495;p34"/>
          <p:cNvSpPr txBox="1"/>
          <p:nvPr>
            <p:ph type="ctrTitle"/>
          </p:nvPr>
        </p:nvSpPr>
        <p:spPr>
          <a:xfrm>
            <a:off x="621585" y="225892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496" name="Google Shape;1496;p34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0181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7" name="Google Shape;1497;p34"/>
          <p:cNvSpPr txBox="1"/>
          <p:nvPr>
            <p:ph type="ctrTitle"/>
          </p:nvPr>
        </p:nvSpPr>
        <p:spPr>
          <a:xfrm>
            <a:off x="621585" y="30232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498" name="Google Shape;1498;p34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778691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9" name="Google Shape;1499;p34"/>
          <p:cNvSpPr txBox="1"/>
          <p:nvPr>
            <p:ph type="ctrTitle"/>
          </p:nvPr>
        </p:nvSpPr>
        <p:spPr>
          <a:xfrm>
            <a:off x="609374" y="3783852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00" name="Google Shape;1500;p34"/>
          <p:cNvSpPr/>
          <p:nvPr/>
        </p:nvSpPr>
        <p:spPr>
          <a:xfrm>
            <a:off x="1064400" y="2310901"/>
            <a:ext cx="23889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Audit findings 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501" name="Google Shape;1501;p34"/>
          <p:cNvSpPr/>
          <p:nvPr/>
        </p:nvSpPr>
        <p:spPr>
          <a:xfrm>
            <a:off x="1064400" y="3014550"/>
            <a:ext cx="34245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Competency-Gap Analysis per Building Block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502" name="Google Shape;1502;p34"/>
          <p:cNvSpPr/>
          <p:nvPr/>
        </p:nvSpPr>
        <p:spPr>
          <a:xfrm>
            <a:off x="1064400" y="3827950"/>
            <a:ext cx="32055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447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6-month Roadmap</a:t>
            </a:r>
            <a:endParaRPr b="1" sz="1447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503" name="Google Shape;1503;p34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14894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504" name="Google Shape;1504;p34"/>
          <p:cNvSpPr txBox="1"/>
          <p:nvPr>
            <p:ph type="ctrTitle"/>
          </p:nvPr>
        </p:nvSpPr>
        <p:spPr>
          <a:xfrm>
            <a:off x="639903" y="14945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509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35"/>
          <p:cNvSpPr/>
          <p:nvPr/>
        </p:nvSpPr>
        <p:spPr>
          <a:xfrm>
            <a:off x="6444234" y="1035558"/>
            <a:ext cx="1108800" cy="2434500"/>
          </a:xfrm>
          <a:prstGeom prst="rect">
            <a:avLst/>
          </a:prstGeom>
          <a:solidFill>
            <a:srgbClr val="E6EBF5">
              <a:alpha val="70200"/>
            </a:srgbClr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1" name="Google Shape;1511;p35"/>
          <p:cNvSpPr/>
          <p:nvPr/>
        </p:nvSpPr>
        <p:spPr>
          <a:xfrm>
            <a:off x="7552944" y="1035558"/>
            <a:ext cx="1108800" cy="2434500"/>
          </a:xfrm>
          <a:prstGeom prst="rect">
            <a:avLst/>
          </a:prstGeom>
          <a:solidFill>
            <a:srgbClr val="EEF0F8">
              <a:alpha val="70200"/>
            </a:srgbClr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2" name="Google Shape;1512;p35"/>
          <p:cNvSpPr/>
          <p:nvPr/>
        </p:nvSpPr>
        <p:spPr>
          <a:xfrm>
            <a:off x="5335524" y="1035558"/>
            <a:ext cx="1108800" cy="2434500"/>
          </a:xfrm>
          <a:prstGeom prst="rect">
            <a:avLst/>
          </a:prstGeom>
          <a:solidFill>
            <a:srgbClr val="DDE8F5">
              <a:alpha val="70200"/>
            </a:srgbClr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3" name="Google Shape;1513;p35"/>
          <p:cNvSpPr/>
          <p:nvPr/>
        </p:nvSpPr>
        <p:spPr>
          <a:xfrm>
            <a:off x="0" y="0"/>
            <a:ext cx="9141900" cy="2880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514" name="Google Shape;1514;p35"/>
          <p:cNvCxnSpPr/>
          <p:nvPr/>
        </p:nvCxnSpPr>
        <p:spPr>
          <a:xfrm>
            <a:off x="877824" y="54864"/>
            <a:ext cx="0" cy="17820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15" name="Google Shape;1515;p35"/>
          <p:cNvSpPr/>
          <p:nvPr/>
        </p:nvSpPr>
        <p:spPr>
          <a:xfrm>
            <a:off x="946404" y="27432"/>
            <a:ext cx="61722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0" i="0" lang="f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Recommendations &amp; Roadmap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6" name="Google Shape;1516;p35"/>
          <p:cNvSpPr/>
          <p:nvPr/>
        </p:nvSpPr>
        <p:spPr>
          <a:xfrm>
            <a:off x="240030" y="356616"/>
            <a:ext cx="41148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1700"/>
              <a:buFont typeface="Georgia"/>
              <a:buNone/>
            </a:pPr>
            <a:r>
              <a:rPr i="0" lang="fr" sz="11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Initiatives Prioritization</a:t>
            </a:r>
            <a:endParaRPr i="0" sz="11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17" name="Google Shape;1517;p35"/>
          <p:cNvSpPr/>
          <p:nvPr/>
        </p:nvSpPr>
        <p:spPr>
          <a:xfrm>
            <a:off x="34290" y="699516"/>
            <a:ext cx="150900" cy="10185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8" name="Google Shape;1518;p35"/>
          <p:cNvSpPr/>
          <p:nvPr/>
        </p:nvSpPr>
        <p:spPr>
          <a:xfrm rot="-5400000">
            <a:off x="-393125" y="1137625"/>
            <a:ext cx="1010400" cy="15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1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9" name="Google Shape;1519;p35"/>
          <p:cNvSpPr/>
          <p:nvPr/>
        </p:nvSpPr>
        <p:spPr>
          <a:xfrm>
            <a:off x="240030" y="699516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0" name="Google Shape;1520;p35"/>
          <p:cNvSpPr/>
          <p:nvPr/>
        </p:nvSpPr>
        <p:spPr>
          <a:xfrm>
            <a:off x="240030" y="699516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1" name="Google Shape;1521;p35"/>
          <p:cNvSpPr/>
          <p:nvPr/>
        </p:nvSpPr>
        <p:spPr>
          <a:xfrm>
            <a:off x="432054" y="699516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19323F"/>
                </a:solidFill>
                <a:highlight>
                  <a:schemeClr val="accent6"/>
                </a:highlight>
                <a:latin typeface="Poppins"/>
                <a:ea typeface="Poppins"/>
                <a:cs typeface="Poppins"/>
                <a:sym typeface="Poppins"/>
              </a:rPr>
              <a:t>Sales Performance Rituals &amp; Coaching Framework</a:t>
            </a:r>
            <a:endParaRPr b="1" i="0" sz="500" u="none" cap="none" strike="noStrike">
              <a:solidFill>
                <a:schemeClr val="dk1"/>
              </a:solidFill>
              <a:highlight>
                <a:schemeClr val="accent6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2" name="Google Shape;1522;p35"/>
          <p:cNvSpPr/>
          <p:nvPr/>
        </p:nvSpPr>
        <p:spPr>
          <a:xfrm>
            <a:off x="3943350" y="720090"/>
            <a:ext cx="466500" cy="843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3" name="Google Shape;1523;p35"/>
          <p:cNvSpPr/>
          <p:nvPr/>
        </p:nvSpPr>
        <p:spPr>
          <a:xfrm>
            <a:off x="3943350" y="720090"/>
            <a:ext cx="466500" cy="8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QUICK WIN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4" name="Google Shape;1524;p35"/>
          <p:cNvSpPr/>
          <p:nvPr/>
        </p:nvSpPr>
        <p:spPr>
          <a:xfrm>
            <a:off x="240030" y="827075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5" name="Google Shape;1525;p35"/>
          <p:cNvSpPr/>
          <p:nvPr/>
        </p:nvSpPr>
        <p:spPr>
          <a:xfrm>
            <a:off x="240030" y="827075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6" name="Google Shape;1526;p35"/>
          <p:cNvSpPr/>
          <p:nvPr/>
        </p:nvSpPr>
        <p:spPr>
          <a:xfrm>
            <a:off x="432054" y="827075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CRM Hygiene, Activity Tracking &amp; Unified KPI Dashboard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7" name="Google Shape;1527;p35"/>
          <p:cNvSpPr/>
          <p:nvPr/>
        </p:nvSpPr>
        <p:spPr>
          <a:xfrm>
            <a:off x="240030" y="954634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8" name="Google Shape;1528;p35"/>
          <p:cNvSpPr/>
          <p:nvPr/>
        </p:nvSpPr>
        <p:spPr>
          <a:xfrm>
            <a:off x="240030" y="954634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9" name="Google Shape;1529;p35"/>
          <p:cNvSpPr/>
          <p:nvPr/>
        </p:nvSpPr>
        <p:spPr>
          <a:xfrm>
            <a:off x="432054" y="954634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Forecast Governance &amp; Stage Definitions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0" name="Google Shape;1530;p35"/>
          <p:cNvSpPr/>
          <p:nvPr/>
        </p:nvSpPr>
        <p:spPr>
          <a:xfrm>
            <a:off x="3943350" y="975208"/>
            <a:ext cx="466500" cy="843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1" name="Google Shape;1531;p35"/>
          <p:cNvSpPr/>
          <p:nvPr/>
        </p:nvSpPr>
        <p:spPr>
          <a:xfrm>
            <a:off x="3943350" y="975208"/>
            <a:ext cx="466500" cy="8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QUICK WIN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2" name="Google Shape;1532;p35"/>
          <p:cNvSpPr/>
          <p:nvPr/>
        </p:nvSpPr>
        <p:spPr>
          <a:xfrm>
            <a:off x="240030" y="1082192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3" name="Google Shape;1533;p35"/>
          <p:cNvSpPr/>
          <p:nvPr/>
        </p:nvSpPr>
        <p:spPr>
          <a:xfrm>
            <a:off x="240030" y="1082192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4" name="Google Shape;1534;p35"/>
          <p:cNvSpPr/>
          <p:nvPr/>
        </p:nvSpPr>
        <p:spPr>
          <a:xfrm>
            <a:off x="432054" y="1082192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Outbound Training / Coaching for Enterprise AEs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5" name="Google Shape;1535;p35"/>
          <p:cNvSpPr/>
          <p:nvPr/>
        </p:nvSpPr>
        <p:spPr>
          <a:xfrm>
            <a:off x="3943350" y="1102766"/>
            <a:ext cx="466500" cy="843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6" name="Google Shape;1536;p35"/>
          <p:cNvSpPr/>
          <p:nvPr/>
        </p:nvSpPr>
        <p:spPr>
          <a:xfrm>
            <a:off x="3943350" y="1102766"/>
            <a:ext cx="466500" cy="8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QUICK WIN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7" name="Google Shape;1537;p35"/>
          <p:cNvSpPr/>
          <p:nvPr/>
        </p:nvSpPr>
        <p:spPr>
          <a:xfrm>
            <a:off x="240030" y="1209752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8" name="Google Shape;1538;p35"/>
          <p:cNvSpPr/>
          <p:nvPr/>
        </p:nvSpPr>
        <p:spPr>
          <a:xfrm>
            <a:off x="240030" y="1209752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9" name="Google Shape;1539;p35"/>
          <p:cNvSpPr/>
          <p:nvPr/>
        </p:nvSpPr>
        <p:spPr>
          <a:xfrm>
            <a:off x="432054" y="1209752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Demand Generation Strategy, BDR Excellence &amp; Lead Quality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0" name="Google Shape;1540;p35"/>
          <p:cNvSpPr/>
          <p:nvPr/>
        </p:nvSpPr>
        <p:spPr>
          <a:xfrm>
            <a:off x="240030" y="1337310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1" name="Google Shape;1541;p35"/>
          <p:cNvSpPr/>
          <p:nvPr/>
        </p:nvSpPr>
        <p:spPr>
          <a:xfrm>
            <a:off x="240030" y="1337310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2" name="Google Shape;1542;p35"/>
          <p:cNvSpPr/>
          <p:nvPr/>
        </p:nvSpPr>
        <p:spPr>
          <a:xfrm>
            <a:off x="432054" y="1337310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19323F"/>
                </a:solidFill>
                <a:highlight>
                  <a:schemeClr val="accent6"/>
                </a:highlight>
                <a:latin typeface="Poppins"/>
                <a:ea typeface="Poppins"/>
                <a:cs typeface="Poppins"/>
                <a:sym typeface="Poppins"/>
              </a:rPr>
              <a:t>Structured Hiring and Ramp-Up Process, Scorecards &amp; TA Operating Model</a:t>
            </a:r>
            <a:endParaRPr b="1" i="0" sz="500" u="none" cap="none" strike="noStrike">
              <a:solidFill>
                <a:schemeClr val="dk1"/>
              </a:solidFill>
              <a:highlight>
                <a:schemeClr val="accent6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3" name="Google Shape;1543;p35"/>
          <p:cNvSpPr/>
          <p:nvPr/>
        </p:nvSpPr>
        <p:spPr>
          <a:xfrm>
            <a:off x="3943350" y="1357884"/>
            <a:ext cx="466500" cy="843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4" name="Google Shape;1544;p35"/>
          <p:cNvSpPr/>
          <p:nvPr/>
        </p:nvSpPr>
        <p:spPr>
          <a:xfrm>
            <a:off x="3943350" y="1357884"/>
            <a:ext cx="466500" cy="8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QUICK WIN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5" name="Google Shape;1545;p35"/>
          <p:cNvSpPr/>
          <p:nvPr/>
        </p:nvSpPr>
        <p:spPr>
          <a:xfrm>
            <a:off x="240030" y="1464869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6" name="Google Shape;1546;p35"/>
          <p:cNvSpPr/>
          <p:nvPr/>
        </p:nvSpPr>
        <p:spPr>
          <a:xfrm>
            <a:off x="240030" y="1464869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7" name="Google Shape;1547;p35"/>
          <p:cNvSpPr/>
          <p:nvPr/>
        </p:nvSpPr>
        <p:spPr>
          <a:xfrm>
            <a:off x="432054" y="1464869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Sales Playbook Relaunch, Discovery &amp; MEDDIC </a:t>
            </a:r>
            <a:r>
              <a:rPr lang="fr"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Training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8" name="Google Shape;1548;p35"/>
          <p:cNvSpPr/>
          <p:nvPr/>
        </p:nvSpPr>
        <p:spPr>
          <a:xfrm>
            <a:off x="240030" y="1592428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9" name="Google Shape;1549;p35"/>
          <p:cNvSpPr/>
          <p:nvPr/>
        </p:nvSpPr>
        <p:spPr>
          <a:xfrm>
            <a:off x="240030" y="1592428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0" name="Google Shape;1550;p35"/>
          <p:cNvSpPr/>
          <p:nvPr/>
        </p:nvSpPr>
        <p:spPr>
          <a:xfrm>
            <a:off x="432054" y="1592428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19323F"/>
                </a:solidFill>
                <a:highlight>
                  <a:schemeClr val="accent6"/>
                </a:highlight>
                <a:latin typeface="Poppins"/>
                <a:ea typeface="Poppins"/>
                <a:cs typeface="Poppins"/>
                <a:sym typeface="Poppins"/>
              </a:rPr>
              <a:t>Territory Design, Account Allocation &amp; TAM Governance</a:t>
            </a:r>
            <a:endParaRPr b="1" i="0" sz="500" u="none" cap="none" strike="noStrike">
              <a:solidFill>
                <a:schemeClr val="dk1"/>
              </a:solidFill>
              <a:highlight>
                <a:schemeClr val="accent6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1" name="Google Shape;1551;p35"/>
          <p:cNvSpPr/>
          <p:nvPr/>
        </p:nvSpPr>
        <p:spPr>
          <a:xfrm>
            <a:off x="34290" y="1747418"/>
            <a:ext cx="150900" cy="890700"/>
          </a:xfrm>
          <a:prstGeom prst="rect">
            <a:avLst/>
          </a:prstGeom>
          <a:solidFill>
            <a:srgbClr val="2E46FA"/>
          </a:solidFill>
          <a:ln cap="flat" cmpd="sng" w="9525">
            <a:solidFill>
              <a:srgbClr val="2E46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2" name="Google Shape;1552;p35"/>
          <p:cNvSpPr/>
          <p:nvPr/>
        </p:nvSpPr>
        <p:spPr>
          <a:xfrm rot="-5400000">
            <a:off x="-334875" y="2124400"/>
            <a:ext cx="876600" cy="15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2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3" name="Google Shape;1553;p35"/>
          <p:cNvSpPr/>
          <p:nvPr/>
        </p:nvSpPr>
        <p:spPr>
          <a:xfrm>
            <a:off x="240030" y="1747418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4" name="Google Shape;1554;p35"/>
          <p:cNvSpPr/>
          <p:nvPr/>
        </p:nvSpPr>
        <p:spPr>
          <a:xfrm>
            <a:off x="240030" y="1747418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5" name="Google Shape;1555;p35"/>
          <p:cNvSpPr/>
          <p:nvPr/>
        </p:nvSpPr>
        <p:spPr>
          <a:xfrm>
            <a:off x="432054" y="1747418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Career Architecture, Competency Framework &amp; Cross-Region Cadence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6" name="Google Shape;1556;p35"/>
          <p:cNvSpPr/>
          <p:nvPr/>
        </p:nvSpPr>
        <p:spPr>
          <a:xfrm>
            <a:off x="240030" y="1874978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7" name="Google Shape;1557;p35"/>
          <p:cNvSpPr/>
          <p:nvPr/>
        </p:nvSpPr>
        <p:spPr>
          <a:xfrm>
            <a:off x="240030" y="1874978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8" name="Google Shape;1558;p35"/>
          <p:cNvSpPr/>
          <p:nvPr/>
        </p:nvSpPr>
        <p:spPr>
          <a:xfrm>
            <a:off x="432054" y="1874978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Sales Compensation, Quota Fairness &amp; Talent Retention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9" name="Google Shape;1559;p35"/>
          <p:cNvSpPr/>
          <p:nvPr/>
        </p:nvSpPr>
        <p:spPr>
          <a:xfrm>
            <a:off x="240030" y="2002536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0" name="Google Shape;1560;p35"/>
          <p:cNvSpPr/>
          <p:nvPr/>
        </p:nvSpPr>
        <p:spPr>
          <a:xfrm>
            <a:off x="240030" y="2002536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1" name="Google Shape;1561;p35"/>
          <p:cNvSpPr/>
          <p:nvPr/>
        </p:nvSpPr>
        <p:spPr>
          <a:xfrm>
            <a:off x="432054" y="2002536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Manager Academy, Leadership Capability &amp; Support Staffing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2" name="Google Shape;1562;p35"/>
          <p:cNvSpPr/>
          <p:nvPr/>
        </p:nvSpPr>
        <p:spPr>
          <a:xfrm>
            <a:off x="240030" y="2130095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3" name="Google Shape;1563;p35"/>
          <p:cNvSpPr/>
          <p:nvPr/>
        </p:nvSpPr>
        <p:spPr>
          <a:xfrm>
            <a:off x="240030" y="2130095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4" name="Google Shape;1564;p35"/>
          <p:cNvSpPr/>
          <p:nvPr/>
        </p:nvSpPr>
        <p:spPr>
          <a:xfrm>
            <a:off x="432054" y="2130095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Onboarding Redesign: Role-Based Tracks &amp; Ramp Milestones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5" name="Google Shape;1565;p35"/>
          <p:cNvSpPr/>
          <p:nvPr/>
        </p:nvSpPr>
        <p:spPr>
          <a:xfrm>
            <a:off x="240030" y="2257654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6" name="Google Shape;1566;p35"/>
          <p:cNvSpPr/>
          <p:nvPr/>
        </p:nvSpPr>
        <p:spPr>
          <a:xfrm>
            <a:off x="240030" y="2257654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7" name="Google Shape;1567;p35"/>
          <p:cNvSpPr/>
          <p:nvPr/>
        </p:nvSpPr>
        <p:spPr>
          <a:xfrm>
            <a:off x="432054" y="2257654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Annual Enablement Calendar, Certifications &amp; Operating Model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8" name="Google Shape;1568;p35"/>
          <p:cNvSpPr/>
          <p:nvPr/>
        </p:nvSpPr>
        <p:spPr>
          <a:xfrm>
            <a:off x="240030" y="2385212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9" name="Google Shape;1569;p35"/>
          <p:cNvSpPr/>
          <p:nvPr/>
        </p:nvSpPr>
        <p:spPr>
          <a:xfrm>
            <a:off x="240030" y="2385212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0" name="Google Shape;1570;p35"/>
          <p:cNvSpPr/>
          <p:nvPr/>
        </p:nvSpPr>
        <p:spPr>
          <a:xfrm>
            <a:off x="432054" y="2385212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Enterprise Enablement: Coaching, Messaging, Complex Cycles &amp; ROI Content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71" name="Google Shape;1571;p35"/>
          <p:cNvSpPr/>
          <p:nvPr/>
        </p:nvSpPr>
        <p:spPr>
          <a:xfrm>
            <a:off x="240030" y="2512772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72" name="Google Shape;1572;p35"/>
          <p:cNvSpPr/>
          <p:nvPr/>
        </p:nvSpPr>
        <p:spPr>
          <a:xfrm>
            <a:off x="240030" y="2512772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3" name="Google Shape;1573;p35"/>
          <p:cNvSpPr/>
          <p:nvPr/>
        </p:nvSpPr>
        <p:spPr>
          <a:xfrm>
            <a:off x="432054" y="2512772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ABM, Events &amp; Partnership Pipeline Governance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74" name="Google Shape;1574;p35"/>
          <p:cNvSpPr/>
          <p:nvPr/>
        </p:nvSpPr>
        <p:spPr>
          <a:xfrm>
            <a:off x="34290" y="2667762"/>
            <a:ext cx="150900" cy="635700"/>
          </a:xfrm>
          <a:prstGeom prst="rect">
            <a:avLst/>
          </a:prstGeom>
          <a:solidFill>
            <a:srgbClr val="6B7EC9"/>
          </a:solidFill>
          <a:ln cap="flat" cmpd="sng" w="9525">
            <a:solidFill>
              <a:srgbClr val="6B7E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5" name="Google Shape;1575;p35"/>
          <p:cNvSpPr/>
          <p:nvPr/>
        </p:nvSpPr>
        <p:spPr>
          <a:xfrm rot="-5400000">
            <a:off x="-209725" y="2906025"/>
            <a:ext cx="630600" cy="16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3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6" name="Google Shape;1576;p35"/>
          <p:cNvSpPr/>
          <p:nvPr/>
        </p:nvSpPr>
        <p:spPr>
          <a:xfrm>
            <a:off x="240030" y="2667762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77" name="Google Shape;1577;p35"/>
          <p:cNvSpPr/>
          <p:nvPr/>
        </p:nvSpPr>
        <p:spPr>
          <a:xfrm>
            <a:off x="240030" y="2667762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8" name="Google Shape;1578;p35"/>
          <p:cNvSpPr/>
          <p:nvPr/>
        </p:nvSpPr>
        <p:spPr>
          <a:xfrm>
            <a:off x="432054" y="2667762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CS Commercial Enablement &amp; CSM/AE Expansion Motion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79" name="Google Shape;1579;p35"/>
          <p:cNvSpPr/>
          <p:nvPr/>
        </p:nvSpPr>
        <p:spPr>
          <a:xfrm>
            <a:off x="240030" y="2795321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0" name="Google Shape;1580;p35"/>
          <p:cNvSpPr/>
          <p:nvPr/>
        </p:nvSpPr>
        <p:spPr>
          <a:xfrm>
            <a:off x="240030" y="2795321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1" name="Google Shape;1581;p35"/>
          <p:cNvSpPr/>
          <p:nvPr/>
        </p:nvSpPr>
        <p:spPr>
          <a:xfrm>
            <a:off x="432054" y="2795321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Customer Health, Churn Prevention &amp; Renewal Program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2" name="Google Shape;1582;p35"/>
          <p:cNvSpPr/>
          <p:nvPr/>
        </p:nvSpPr>
        <p:spPr>
          <a:xfrm>
            <a:off x="240030" y="2922880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3" name="Google Shape;1583;p35"/>
          <p:cNvSpPr/>
          <p:nvPr/>
        </p:nvSpPr>
        <p:spPr>
          <a:xfrm>
            <a:off x="240030" y="2922880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4" name="Google Shape;1584;p35"/>
          <p:cNvSpPr/>
          <p:nvPr/>
        </p:nvSpPr>
        <p:spPr>
          <a:xfrm>
            <a:off x="432054" y="2922880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Value-Based Selling &amp; Negotiation Certification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5" name="Google Shape;1585;p35"/>
          <p:cNvSpPr/>
          <p:nvPr/>
        </p:nvSpPr>
        <p:spPr>
          <a:xfrm>
            <a:off x="240030" y="3050438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6" name="Google Shape;1586;p35"/>
          <p:cNvSpPr/>
          <p:nvPr/>
        </p:nvSpPr>
        <p:spPr>
          <a:xfrm>
            <a:off x="240030" y="3050438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7" name="Google Shape;1587;p35"/>
          <p:cNvSpPr/>
          <p:nvPr/>
        </p:nvSpPr>
        <p:spPr>
          <a:xfrm>
            <a:off x="432054" y="3050438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RevOps Operating Model, Funnel Governance &amp; Target Differentiation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8" name="Google Shape;1588;p35"/>
          <p:cNvSpPr/>
          <p:nvPr/>
        </p:nvSpPr>
        <p:spPr>
          <a:xfrm>
            <a:off x="240030" y="3177998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9" name="Google Shape;1589;p35"/>
          <p:cNvSpPr/>
          <p:nvPr/>
        </p:nvSpPr>
        <p:spPr>
          <a:xfrm>
            <a:off x="240030" y="3177998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0" name="Google Shape;1590;p35"/>
          <p:cNvSpPr/>
          <p:nvPr/>
        </p:nvSpPr>
        <p:spPr>
          <a:xfrm>
            <a:off x="432054" y="3177998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Enterprise Brand, DG Strategy &amp; Website Repositioning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91" name="Google Shape;1591;p35"/>
          <p:cNvSpPr/>
          <p:nvPr/>
        </p:nvSpPr>
        <p:spPr>
          <a:xfrm>
            <a:off x="5315100" y="651700"/>
            <a:ext cx="3669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1700"/>
              <a:buFont typeface="Georgia"/>
              <a:buNone/>
            </a:pPr>
            <a:r>
              <a:rPr i="0" lang="fr" sz="11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Impact vs Ease of</a:t>
            </a:r>
            <a:r>
              <a:rPr lang="fr" sz="11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i="0" lang="fr" sz="11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Implementation</a:t>
            </a:r>
            <a:endParaRPr i="0" sz="11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592" name="Google Shape;1592;p35"/>
          <p:cNvCxnSpPr/>
          <p:nvPr/>
        </p:nvCxnSpPr>
        <p:spPr>
          <a:xfrm>
            <a:off x="5335524" y="1847088"/>
            <a:ext cx="3326100" cy="0"/>
          </a:xfrm>
          <a:prstGeom prst="straightConnector1">
            <a:avLst/>
          </a:prstGeom>
          <a:noFill/>
          <a:ln cap="flat" cmpd="sng" w="7150">
            <a:solidFill>
              <a:srgbClr val="B9CDD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93" name="Google Shape;1593;p35"/>
          <p:cNvCxnSpPr/>
          <p:nvPr/>
        </p:nvCxnSpPr>
        <p:spPr>
          <a:xfrm>
            <a:off x="5335524" y="2658618"/>
            <a:ext cx="3326100" cy="0"/>
          </a:xfrm>
          <a:prstGeom prst="straightConnector1">
            <a:avLst/>
          </a:prstGeom>
          <a:noFill/>
          <a:ln cap="flat" cmpd="sng" w="7150">
            <a:solidFill>
              <a:srgbClr val="B9CDD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4" name="Google Shape;1594;p35"/>
          <p:cNvSpPr/>
          <p:nvPr/>
        </p:nvSpPr>
        <p:spPr>
          <a:xfrm>
            <a:off x="4800600" y="1319594"/>
            <a:ext cx="51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Critical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5" name="Google Shape;1595;p35"/>
          <p:cNvSpPr/>
          <p:nvPr/>
        </p:nvSpPr>
        <p:spPr>
          <a:xfrm>
            <a:off x="4800600" y="2131124"/>
            <a:ext cx="51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Essential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6" name="Google Shape;1596;p35"/>
          <p:cNvSpPr/>
          <p:nvPr/>
        </p:nvSpPr>
        <p:spPr>
          <a:xfrm>
            <a:off x="4800600" y="2942654"/>
            <a:ext cx="51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Important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7" name="Google Shape;1597;p35"/>
          <p:cNvSpPr/>
          <p:nvPr/>
        </p:nvSpPr>
        <p:spPr>
          <a:xfrm>
            <a:off x="5718429" y="3511296"/>
            <a:ext cx="342900" cy="1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Low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8" name="Google Shape;1598;p35"/>
          <p:cNvSpPr/>
          <p:nvPr/>
        </p:nvSpPr>
        <p:spPr>
          <a:xfrm>
            <a:off x="6792849" y="3511296"/>
            <a:ext cx="411600" cy="1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Medium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9" name="Google Shape;1599;p35"/>
          <p:cNvSpPr/>
          <p:nvPr/>
        </p:nvSpPr>
        <p:spPr>
          <a:xfrm>
            <a:off x="7935849" y="3511296"/>
            <a:ext cx="342900" cy="1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High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0" name="Google Shape;1600;p35"/>
          <p:cNvSpPr/>
          <p:nvPr/>
        </p:nvSpPr>
        <p:spPr>
          <a:xfrm>
            <a:off x="6586984" y="3747549"/>
            <a:ext cx="8232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6FA"/>
              </a:buClr>
              <a:buSzPts val="800"/>
              <a:buFont typeface="Arial"/>
              <a:buNone/>
            </a:pPr>
            <a:r>
              <a:rPr b="0" i="0" lang="fr" sz="800" u="none" cap="none" strike="noStrike">
                <a:solidFill>
                  <a:srgbClr val="2E46FA"/>
                </a:solidFill>
                <a:latin typeface="Arial"/>
                <a:ea typeface="Arial"/>
                <a:cs typeface="Arial"/>
                <a:sym typeface="Arial"/>
              </a:rPr>
              <a:t>Complexity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1" name="Google Shape;1601;p35"/>
          <p:cNvSpPr/>
          <p:nvPr/>
        </p:nvSpPr>
        <p:spPr>
          <a:xfrm>
            <a:off x="4766310" y="1841373"/>
            <a:ext cx="480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E46FA"/>
              </a:buClr>
              <a:buSzPts val="800"/>
              <a:buFont typeface="Arial"/>
              <a:buNone/>
            </a:pPr>
            <a:r>
              <a:rPr b="0" i="0" lang="fr" sz="800" u="none" cap="none" strike="noStrike">
                <a:solidFill>
                  <a:srgbClr val="2E46FA"/>
                </a:solidFill>
                <a:latin typeface="Arial"/>
                <a:ea typeface="Arial"/>
                <a:cs typeface="Arial"/>
                <a:sym typeface="Arial"/>
              </a:rPr>
              <a:t>Impact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2" name="Google Shape;1602;p35"/>
          <p:cNvSpPr/>
          <p:nvPr/>
        </p:nvSpPr>
        <p:spPr>
          <a:xfrm>
            <a:off x="5516004" y="1215581"/>
            <a:ext cx="126900" cy="126900"/>
          </a:xfrm>
          <a:prstGeom prst="ellipse">
            <a:avLst/>
          </a:prstGeom>
          <a:solidFill>
            <a:srgbClr val="DBE3F0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3" name="Google Shape;1603;p35"/>
          <p:cNvSpPr/>
          <p:nvPr/>
        </p:nvSpPr>
        <p:spPr>
          <a:xfrm>
            <a:off x="5516004" y="12155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4" name="Google Shape;1604;p35"/>
          <p:cNvSpPr/>
          <p:nvPr/>
        </p:nvSpPr>
        <p:spPr>
          <a:xfrm>
            <a:off x="7245593" y="1644956"/>
            <a:ext cx="126900" cy="126900"/>
          </a:xfrm>
          <a:prstGeom prst="ellipse">
            <a:avLst/>
          </a:prstGeom>
          <a:solidFill>
            <a:srgbClr val="C8C5C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5" name="Google Shape;1605;p35"/>
          <p:cNvSpPr/>
          <p:nvPr/>
        </p:nvSpPr>
        <p:spPr>
          <a:xfrm>
            <a:off x="7245593" y="1644956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6" name="Google Shape;1606;p35"/>
          <p:cNvSpPr/>
          <p:nvPr/>
        </p:nvSpPr>
        <p:spPr>
          <a:xfrm>
            <a:off x="6136881" y="1215581"/>
            <a:ext cx="126900" cy="126900"/>
          </a:xfrm>
          <a:prstGeom prst="ellipse">
            <a:avLst/>
          </a:prstGeom>
          <a:solidFill>
            <a:srgbClr val="C8C5C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7" name="Google Shape;1607;p35"/>
          <p:cNvSpPr/>
          <p:nvPr/>
        </p:nvSpPr>
        <p:spPr>
          <a:xfrm>
            <a:off x="6136881" y="12155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8" name="Google Shape;1608;p35"/>
          <p:cNvSpPr/>
          <p:nvPr/>
        </p:nvSpPr>
        <p:spPr>
          <a:xfrm>
            <a:off x="5516004" y="1442809"/>
            <a:ext cx="126900" cy="126900"/>
          </a:xfrm>
          <a:prstGeom prst="ellipse">
            <a:avLst/>
          </a:prstGeom>
          <a:solidFill>
            <a:srgbClr val="EBC5D0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9" name="Google Shape;1609;p35"/>
          <p:cNvSpPr/>
          <p:nvPr/>
        </p:nvSpPr>
        <p:spPr>
          <a:xfrm>
            <a:off x="5516004" y="1442809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0" name="Google Shape;1610;p35"/>
          <p:cNvSpPr/>
          <p:nvPr/>
        </p:nvSpPr>
        <p:spPr>
          <a:xfrm>
            <a:off x="6935193" y="1644959"/>
            <a:ext cx="126900" cy="126900"/>
          </a:xfrm>
          <a:prstGeom prst="ellipse">
            <a:avLst/>
          </a:prstGeom>
          <a:solidFill>
            <a:srgbClr val="B9CDD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1" name="Google Shape;1611;p35"/>
          <p:cNvSpPr/>
          <p:nvPr/>
        </p:nvSpPr>
        <p:spPr>
          <a:xfrm>
            <a:off x="6935193" y="1644959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2" name="Google Shape;1612;p35"/>
          <p:cNvSpPr/>
          <p:nvPr/>
        </p:nvSpPr>
        <p:spPr>
          <a:xfrm>
            <a:off x="5516004" y="2027111"/>
            <a:ext cx="126900" cy="1269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3" name="Google Shape;1613;p35"/>
          <p:cNvSpPr/>
          <p:nvPr/>
        </p:nvSpPr>
        <p:spPr>
          <a:xfrm>
            <a:off x="5516004" y="202711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4" name="Google Shape;1614;p35"/>
          <p:cNvSpPr/>
          <p:nvPr/>
        </p:nvSpPr>
        <p:spPr>
          <a:xfrm>
            <a:off x="6624714" y="1210236"/>
            <a:ext cx="126900" cy="126900"/>
          </a:xfrm>
          <a:prstGeom prst="ellipse">
            <a:avLst/>
          </a:prstGeom>
          <a:solidFill>
            <a:srgbClr val="B4C5D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5" name="Google Shape;1615;p35"/>
          <p:cNvSpPr/>
          <p:nvPr/>
        </p:nvSpPr>
        <p:spPr>
          <a:xfrm>
            <a:off x="6624714" y="1210236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6" name="Google Shape;1616;p35"/>
          <p:cNvSpPr/>
          <p:nvPr/>
        </p:nvSpPr>
        <p:spPr>
          <a:xfrm>
            <a:off x="5826440" y="1215581"/>
            <a:ext cx="126900" cy="126900"/>
          </a:xfrm>
          <a:prstGeom prst="ellipse">
            <a:avLst/>
          </a:prstGeom>
          <a:solidFill>
            <a:srgbClr val="C8C5C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7" name="Google Shape;1617;p35"/>
          <p:cNvSpPr/>
          <p:nvPr/>
        </p:nvSpPr>
        <p:spPr>
          <a:xfrm>
            <a:off x="5826440" y="12155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8" name="Google Shape;1618;p35"/>
          <p:cNvSpPr/>
          <p:nvPr/>
        </p:nvSpPr>
        <p:spPr>
          <a:xfrm>
            <a:off x="6136866" y="1464281"/>
            <a:ext cx="126900" cy="126900"/>
          </a:xfrm>
          <a:prstGeom prst="ellipse">
            <a:avLst/>
          </a:prstGeom>
          <a:solidFill>
            <a:srgbClr val="98B5FE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9" name="Google Shape;1619;p35"/>
          <p:cNvSpPr/>
          <p:nvPr/>
        </p:nvSpPr>
        <p:spPr>
          <a:xfrm>
            <a:off x="6136866" y="14642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0" name="Google Shape;1620;p35"/>
          <p:cNvSpPr/>
          <p:nvPr/>
        </p:nvSpPr>
        <p:spPr>
          <a:xfrm>
            <a:off x="5826437" y="1464281"/>
            <a:ext cx="126900" cy="126900"/>
          </a:xfrm>
          <a:prstGeom prst="ellipse">
            <a:avLst/>
          </a:prstGeom>
          <a:solidFill>
            <a:srgbClr val="98B5FE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1" name="Google Shape;1621;p35"/>
          <p:cNvSpPr/>
          <p:nvPr/>
        </p:nvSpPr>
        <p:spPr>
          <a:xfrm>
            <a:off x="5826437" y="14642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2" name="Google Shape;1622;p35"/>
          <p:cNvSpPr/>
          <p:nvPr/>
        </p:nvSpPr>
        <p:spPr>
          <a:xfrm>
            <a:off x="6624714" y="1442809"/>
            <a:ext cx="126900" cy="126900"/>
          </a:xfrm>
          <a:prstGeom prst="ellipse">
            <a:avLst/>
          </a:prstGeom>
          <a:solidFill>
            <a:srgbClr val="98B5FE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3" name="Google Shape;1623;p35"/>
          <p:cNvSpPr/>
          <p:nvPr/>
        </p:nvSpPr>
        <p:spPr>
          <a:xfrm>
            <a:off x="6624714" y="1442809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4" name="Google Shape;1624;p35"/>
          <p:cNvSpPr/>
          <p:nvPr/>
        </p:nvSpPr>
        <p:spPr>
          <a:xfrm>
            <a:off x="6624714" y="2027111"/>
            <a:ext cx="126900" cy="1269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5" name="Google Shape;1625;p35"/>
          <p:cNvSpPr/>
          <p:nvPr/>
        </p:nvSpPr>
        <p:spPr>
          <a:xfrm>
            <a:off x="6624714" y="202711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6" name="Google Shape;1626;p35"/>
          <p:cNvSpPr/>
          <p:nvPr/>
        </p:nvSpPr>
        <p:spPr>
          <a:xfrm>
            <a:off x="6935152" y="1442809"/>
            <a:ext cx="126900" cy="126900"/>
          </a:xfrm>
          <a:prstGeom prst="ellipse">
            <a:avLst/>
          </a:prstGeom>
          <a:solidFill>
            <a:srgbClr val="B4C5D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7" name="Google Shape;1627;p35"/>
          <p:cNvSpPr/>
          <p:nvPr/>
        </p:nvSpPr>
        <p:spPr>
          <a:xfrm>
            <a:off x="6935152" y="1442809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8" name="Google Shape;1628;p35"/>
          <p:cNvSpPr/>
          <p:nvPr/>
        </p:nvSpPr>
        <p:spPr>
          <a:xfrm>
            <a:off x="6935190" y="1210236"/>
            <a:ext cx="126900" cy="126900"/>
          </a:xfrm>
          <a:prstGeom prst="ellipse">
            <a:avLst/>
          </a:prstGeom>
          <a:solidFill>
            <a:srgbClr val="B4C5D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9" name="Google Shape;1629;p35"/>
          <p:cNvSpPr/>
          <p:nvPr/>
        </p:nvSpPr>
        <p:spPr>
          <a:xfrm>
            <a:off x="6935190" y="1210236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0" name="Google Shape;1630;p35"/>
          <p:cNvSpPr/>
          <p:nvPr/>
        </p:nvSpPr>
        <p:spPr>
          <a:xfrm>
            <a:off x="7733424" y="2027111"/>
            <a:ext cx="126900" cy="126900"/>
          </a:xfrm>
          <a:prstGeom prst="ellipse">
            <a:avLst/>
          </a:prstGeom>
          <a:solidFill>
            <a:srgbClr val="B9CDD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1" name="Google Shape;1631;p35"/>
          <p:cNvSpPr/>
          <p:nvPr/>
        </p:nvSpPr>
        <p:spPr>
          <a:xfrm>
            <a:off x="7733424" y="202711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2" name="Google Shape;1632;p35"/>
          <p:cNvSpPr/>
          <p:nvPr/>
        </p:nvSpPr>
        <p:spPr>
          <a:xfrm>
            <a:off x="7245591" y="1442809"/>
            <a:ext cx="126900" cy="126900"/>
          </a:xfrm>
          <a:prstGeom prst="ellipse">
            <a:avLst/>
          </a:prstGeom>
          <a:solidFill>
            <a:srgbClr val="C5C3D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3" name="Google Shape;1633;p35"/>
          <p:cNvSpPr/>
          <p:nvPr/>
        </p:nvSpPr>
        <p:spPr>
          <a:xfrm>
            <a:off x="7245591" y="1442809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4" name="Google Shape;1634;p35"/>
          <p:cNvSpPr/>
          <p:nvPr/>
        </p:nvSpPr>
        <p:spPr>
          <a:xfrm>
            <a:off x="8043863" y="1215581"/>
            <a:ext cx="126900" cy="126900"/>
          </a:xfrm>
          <a:prstGeom prst="ellipse">
            <a:avLst/>
          </a:prstGeom>
          <a:solidFill>
            <a:srgbClr val="C5C3D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5" name="Google Shape;1635;p35"/>
          <p:cNvSpPr/>
          <p:nvPr/>
        </p:nvSpPr>
        <p:spPr>
          <a:xfrm>
            <a:off x="8043863" y="12155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6" name="Google Shape;1636;p35"/>
          <p:cNvSpPr/>
          <p:nvPr/>
        </p:nvSpPr>
        <p:spPr>
          <a:xfrm>
            <a:off x="7244066" y="1210236"/>
            <a:ext cx="126900" cy="126900"/>
          </a:xfrm>
          <a:prstGeom prst="ellipse">
            <a:avLst/>
          </a:prstGeom>
          <a:solidFill>
            <a:srgbClr val="EBC5D0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7" name="Google Shape;1637;p35"/>
          <p:cNvSpPr/>
          <p:nvPr/>
        </p:nvSpPr>
        <p:spPr>
          <a:xfrm>
            <a:off x="7244066" y="1210236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8" name="Google Shape;1638;p35"/>
          <p:cNvSpPr/>
          <p:nvPr/>
        </p:nvSpPr>
        <p:spPr>
          <a:xfrm>
            <a:off x="8354301" y="1215581"/>
            <a:ext cx="126900" cy="126900"/>
          </a:xfrm>
          <a:prstGeom prst="ellipse">
            <a:avLst/>
          </a:prstGeom>
          <a:solidFill>
            <a:srgbClr val="C8C5C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9" name="Google Shape;1639;p35"/>
          <p:cNvSpPr/>
          <p:nvPr/>
        </p:nvSpPr>
        <p:spPr>
          <a:xfrm>
            <a:off x="8354301" y="12155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0" name="Google Shape;1640;p35"/>
          <p:cNvSpPr/>
          <p:nvPr/>
        </p:nvSpPr>
        <p:spPr>
          <a:xfrm>
            <a:off x="8043863" y="2027111"/>
            <a:ext cx="126900" cy="126900"/>
          </a:xfrm>
          <a:prstGeom prst="ellipse">
            <a:avLst/>
          </a:prstGeom>
          <a:solidFill>
            <a:srgbClr val="B9CDD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1" name="Google Shape;1641;p35"/>
          <p:cNvSpPr/>
          <p:nvPr/>
        </p:nvSpPr>
        <p:spPr>
          <a:xfrm>
            <a:off x="8043863" y="202711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2" name="Google Shape;1642;p35"/>
          <p:cNvSpPr/>
          <p:nvPr/>
        </p:nvSpPr>
        <p:spPr>
          <a:xfrm>
            <a:off x="4766300" y="4113634"/>
            <a:ext cx="27432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19323F"/>
                </a:solidFill>
                <a:latin typeface="Arial"/>
                <a:ea typeface="Arial"/>
                <a:cs typeface="Arial"/>
                <a:sym typeface="Arial"/>
              </a:rPr>
              <a:t>Building Blocks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3" name="Google Shape;1643;p35"/>
          <p:cNvSpPr/>
          <p:nvPr/>
        </p:nvSpPr>
        <p:spPr>
          <a:xfrm>
            <a:off x="4766300" y="4264510"/>
            <a:ext cx="973800" cy="150900"/>
          </a:xfrm>
          <a:prstGeom prst="rect">
            <a:avLst/>
          </a:prstGeom>
          <a:solidFill>
            <a:srgbClr val="BDD3F3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44" name="Google Shape;1644;p35"/>
          <p:cNvSpPr/>
          <p:nvPr/>
        </p:nvSpPr>
        <p:spPr>
          <a:xfrm>
            <a:off x="4766300" y="4264510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Hiring &amp; Ramp-Up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5" name="Google Shape;1645;p35"/>
          <p:cNvSpPr/>
          <p:nvPr/>
        </p:nvSpPr>
        <p:spPr>
          <a:xfrm>
            <a:off x="5781284" y="4264510"/>
            <a:ext cx="973800" cy="150900"/>
          </a:xfrm>
          <a:prstGeom prst="rect">
            <a:avLst/>
          </a:prstGeom>
          <a:solidFill>
            <a:srgbClr val="B4C5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46" name="Google Shape;1646;p35"/>
          <p:cNvSpPr/>
          <p:nvPr/>
        </p:nvSpPr>
        <p:spPr>
          <a:xfrm>
            <a:off x="5781284" y="4264510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Enablement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7" name="Google Shape;1647;p35"/>
          <p:cNvSpPr/>
          <p:nvPr/>
        </p:nvSpPr>
        <p:spPr>
          <a:xfrm>
            <a:off x="6796268" y="4264510"/>
            <a:ext cx="973800" cy="150900"/>
          </a:xfrm>
          <a:prstGeom prst="rect">
            <a:avLst/>
          </a:prstGeom>
          <a:solidFill>
            <a:srgbClr val="DBE3F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48" name="Google Shape;1648;p35"/>
          <p:cNvSpPr/>
          <p:nvPr/>
        </p:nvSpPr>
        <p:spPr>
          <a:xfrm>
            <a:off x="6796268" y="4264510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Perf Mgmt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9" name="Google Shape;1649;p35"/>
          <p:cNvSpPr/>
          <p:nvPr/>
        </p:nvSpPr>
        <p:spPr>
          <a:xfrm>
            <a:off x="7811252" y="4264510"/>
            <a:ext cx="973800" cy="150900"/>
          </a:xfrm>
          <a:prstGeom prst="rect">
            <a:avLst/>
          </a:prstGeom>
          <a:solidFill>
            <a:srgbClr val="98B5FE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50" name="Google Shape;1650;p35"/>
          <p:cNvSpPr/>
          <p:nvPr/>
        </p:nvSpPr>
        <p:spPr>
          <a:xfrm>
            <a:off x="7811252" y="4264510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Talent Management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1" name="Google Shape;1651;p35"/>
          <p:cNvSpPr/>
          <p:nvPr/>
        </p:nvSpPr>
        <p:spPr>
          <a:xfrm>
            <a:off x="4766300" y="4456534"/>
            <a:ext cx="973800" cy="150900"/>
          </a:xfrm>
          <a:prstGeom prst="rect">
            <a:avLst/>
          </a:prstGeom>
          <a:solidFill>
            <a:srgbClr val="B9CDD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52" name="Google Shape;1652;p35"/>
          <p:cNvSpPr/>
          <p:nvPr/>
        </p:nvSpPr>
        <p:spPr>
          <a:xfrm>
            <a:off x="4766300" y="4456534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Demand Gen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3" name="Google Shape;1653;p35"/>
          <p:cNvSpPr/>
          <p:nvPr/>
        </p:nvSpPr>
        <p:spPr>
          <a:xfrm>
            <a:off x="5781284" y="4456534"/>
            <a:ext cx="973800" cy="150900"/>
          </a:xfrm>
          <a:prstGeom prst="rect">
            <a:avLst/>
          </a:prstGeom>
          <a:solidFill>
            <a:srgbClr val="EBC5D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54" name="Google Shape;1654;p35"/>
          <p:cNvSpPr/>
          <p:nvPr/>
        </p:nvSpPr>
        <p:spPr>
          <a:xfrm>
            <a:off x="5781284" y="4456534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Execution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5" name="Google Shape;1655;p35"/>
          <p:cNvSpPr/>
          <p:nvPr/>
        </p:nvSpPr>
        <p:spPr>
          <a:xfrm>
            <a:off x="6796268" y="4456534"/>
            <a:ext cx="973800" cy="150900"/>
          </a:xfrm>
          <a:prstGeom prst="rect">
            <a:avLst/>
          </a:prstGeom>
          <a:solidFill>
            <a:srgbClr val="C5C3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56" name="Google Shape;1656;p35"/>
          <p:cNvSpPr/>
          <p:nvPr/>
        </p:nvSpPr>
        <p:spPr>
          <a:xfrm>
            <a:off x="6796268" y="4456534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Client Relationship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7" name="Google Shape;1657;p35"/>
          <p:cNvSpPr/>
          <p:nvPr/>
        </p:nvSpPr>
        <p:spPr>
          <a:xfrm>
            <a:off x="7811252" y="4456534"/>
            <a:ext cx="973800" cy="150900"/>
          </a:xfrm>
          <a:prstGeom prst="rect">
            <a:avLst/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58" name="Google Shape;1658;p35"/>
          <p:cNvSpPr/>
          <p:nvPr/>
        </p:nvSpPr>
        <p:spPr>
          <a:xfrm>
            <a:off x="7811252" y="4456534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Ops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9" name="Google Shape;1659;p35" title="Logo_atscale_sans textu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600" y="73863"/>
            <a:ext cx="636100" cy="14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664" name="Shape 1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Google Shape;1665;p36"/>
          <p:cNvSpPr/>
          <p:nvPr/>
        </p:nvSpPr>
        <p:spPr>
          <a:xfrm>
            <a:off x="0" y="0"/>
            <a:ext cx="9141900" cy="2880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666" name="Google Shape;1666;p36"/>
          <p:cNvCxnSpPr/>
          <p:nvPr/>
        </p:nvCxnSpPr>
        <p:spPr>
          <a:xfrm>
            <a:off x="877824" y="54864"/>
            <a:ext cx="0" cy="17820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67" name="Google Shape;1667;p36"/>
          <p:cNvSpPr/>
          <p:nvPr/>
        </p:nvSpPr>
        <p:spPr>
          <a:xfrm>
            <a:off x="946404" y="27432"/>
            <a:ext cx="61722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0" i="0" lang="f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Recommendations &amp; Roadmap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8" name="Google Shape;1668;p36"/>
          <p:cNvSpPr/>
          <p:nvPr/>
        </p:nvSpPr>
        <p:spPr>
          <a:xfrm>
            <a:off x="240030" y="342900"/>
            <a:ext cx="61722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1700"/>
              <a:buFont typeface="Georgia"/>
              <a:buNone/>
            </a:pPr>
            <a:r>
              <a:rPr b="0" i="0" lang="fr" sz="1700" u="none" cap="none" strike="noStrike">
                <a:solidFill>
                  <a:srgbClr val="19323F"/>
                </a:solidFill>
                <a:latin typeface="Georgia"/>
                <a:ea typeface="Georgia"/>
                <a:cs typeface="Georgia"/>
                <a:sym typeface="Georgia"/>
              </a:rPr>
              <a:t>Initiatives Prioritization | Gantt view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9" name="Google Shape;1669;p36"/>
          <p:cNvSpPr/>
          <p:nvPr/>
        </p:nvSpPr>
        <p:spPr>
          <a:xfrm>
            <a:off x="240030" y="720090"/>
            <a:ext cx="3429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6FA"/>
              </a:buClr>
              <a:buSzPts val="800"/>
              <a:buFont typeface="Arial"/>
              <a:buNone/>
            </a:pPr>
            <a:r>
              <a:rPr b="0" i="0" lang="fr" sz="800" u="none" cap="none" strike="noStrike">
                <a:solidFill>
                  <a:srgbClr val="2E46FA"/>
                </a:solidFill>
                <a:latin typeface="Arial"/>
                <a:ea typeface="Arial"/>
                <a:cs typeface="Arial"/>
                <a:sym typeface="Arial"/>
              </a:rPr>
              <a:t>Recommended programs over time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0" name="Google Shape;1670;p36"/>
          <p:cNvSpPr/>
          <p:nvPr/>
        </p:nvSpPr>
        <p:spPr>
          <a:xfrm>
            <a:off x="243459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1" name="Google Shape;1671;p36"/>
          <p:cNvSpPr/>
          <p:nvPr/>
        </p:nvSpPr>
        <p:spPr>
          <a:xfrm>
            <a:off x="243459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June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2" name="Google Shape;1672;p36"/>
          <p:cNvSpPr/>
          <p:nvPr/>
        </p:nvSpPr>
        <p:spPr>
          <a:xfrm>
            <a:off x="306705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3" name="Google Shape;1673;p36"/>
          <p:cNvSpPr/>
          <p:nvPr/>
        </p:nvSpPr>
        <p:spPr>
          <a:xfrm>
            <a:off x="306705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July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4" name="Google Shape;1674;p36"/>
          <p:cNvSpPr/>
          <p:nvPr/>
        </p:nvSpPr>
        <p:spPr>
          <a:xfrm>
            <a:off x="369951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5" name="Google Shape;1675;p36"/>
          <p:cNvSpPr/>
          <p:nvPr/>
        </p:nvSpPr>
        <p:spPr>
          <a:xfrm>
            <a:off x="369951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August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6" name="Google Shape;1676;p36"/>
          <p:cNvSpPr/>
          <p:nvPr/>
        </p:nvSpPr>
        <p:spPr>
          <a:xfrm>
            <a:off x="433197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7" name="Google Shape;1677;p36"/>
          <p:cNvSpPr/>
          <p:nvPr/>
        </p:nvSpPr>
        <p:spPr>
          <a:xfrm>
            <a:off x="433197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September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8" name="Google Shape;1678;p36"/>
          <p:cNvSpPr/>
          <p:nvPr/>
        </p:nvSpPr>
        <p:spPr>
          <a:xfrm>
            <a:off x="496443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9" name="Google Shape;1679;p36"/>
          <p:cNvSpPr/>
          <p:nvPr/>
        </p:nvSpPr>
        <p:spPr>
          <a:xfrm>
            <a:off x="496443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October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0" name="Google Shape;1680;p36"/>
          <p:cNvSpPr/>
          <p:nvPr/>
        </p:nvSpPr>
        <p:spPr>
          <a:xfrm>
            <a:off x="559689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1" name="Google Shape;1681;p36"/>
          <p:cNvSpPr/>
          <p:nvPr/>
        </p:nvSpPr>
        <p:spPr>
          <a:xfrm>
            <a:off x="559689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November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2" name="Google Shape;1682;p36"/>
          <p:cNvSpPr/>
          <p:nvPr/>
        </p:nvSpPr>
        <p:spPr>
          <a:xfrm>
            <a:off x="622935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3" name="Google Shape;1683;p36"/>
          <p:cNvSpPr/>
          <p:nvPr/>
        </p:nvSpPr>
        <p:spPr>
          <a:xfrm>
            <a:off x="622935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December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4" name="Google Shape;1684;p36"/>
          <p:cNvSpPr/>
          <p:nvPr/>
        </p:nvSpPr>
        <p:spPr>
          <a:xfrm>
            <a:off x="686181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5" name="Google Shape;1685;p36"/>
          <p:cNvSpPr/>
          <p:nvPr/>
        </p:nvSpPr>
        <p:spPr>
          <a:xfrm>
            <a:off x="686181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January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6" name="Google Shape;1686;p36"/>
          <p:cNvSpPr/>
          <p:nvPr/>
        </p:nvSpPr>
        <p:spPr>
          <a:xfrm>
            <a:off x="749427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7" name="Google Shape;1687;p36"/>
          <p:cNvSpPr/>
          <p:nvPr/>
        </p:nvSpPr>
        <p:spPr>
          <a:xfrm>
            <a:off x="749427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February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8" name="Google Shape;1688;p36"/>
          <p:cNvSpPr/>
          <p:nvPr/>
        </p:nvSpPr>
        <p:spPr>
          <a:xfrm>
            <a:off x="2434590" y="946404"/>
            <a:ext cx="1897500" cy="2825700"/>
          </a:xfrm>
          <a:prstGeom prst="rect">
            <a:avLst/>
          </a:prstGeom>
          <a:solidFill>
            <a:srgbClr val="E8EDF8">
              <a:alpha val="80000"/>
            </a:srgbClr>
          </a:solidFill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9" name="Google Shape;1689;p36"/>
          <p:cNvSpPr/>
          <p:nvPr/>
        </p:nvSpPr>
        <p:spPr>
          <a:xfrm>
            <a:off x="4331970" y="946404"/>
            <a:ext cx="1897500" cy="2825700"/>
          </a:xfrm>
          <a:prstGeom prst="rect">
            <a:avLst/>
          </a:prstGeom>
          <a:solidFill>
            <a:srgbClr val="EDF0FA">
              <a:alpha val="80000"/>
            </a:srgbClr>
          </a:solidFill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0" name="Google Shape;1690;p36"/>
          <p:cNvSpPr/>
          <p:nvPr/>
        </p:nvSpPr>
        <p:spPr>
          <a:xfrm>
            <a:off x="6229350" y="946404"/>
            <a:ext cx="1897500" cy="2825700"/>
          </a:xfrm>
          <a:prstGeom prst="rect">
            <a:avLst/>
          </a:prstGeom>
          <a:solidFill>
            <a:srgbClr val="F0F2FC">
              <a:alpha val="80000"/>
            </a:srgbClr>
          </a:solidFill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691" name="Google Shape;1691;p36"/>
          <p:cNvCxnSpPr/>
          <p:nvPr/>
        </p:nvCxnSpPr>
        <p:spPr>
          <a:xfrm>
            <a:off x="306705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2" name="Google Shape;1692;p36"/>
          <p:cNvCxnSpPr/>
          <p:nvPr/>
        </p:nvCxnSpPr>
        <p:spPr>
          <a:xfrm>
            <a:off x="369951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3" name="Google Shape;1693;p36"/>
          <p:cNvCxnSpPr/>
          <p:nvPr/>
        </p:nvCxnSpPr>
        <p:spPr>
          <a:xfrm>
            <a:off x="433197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4" name="Google Shape;1694;p36"/>
          <p:cNvCxnSpPr/>
          <p:nvPr/>
        </p:nvCxnSpPr>
        <p:spPr>
          <a:xfrm>
            <a:off x="496443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5" name="Google Shape;1695;p36"/>
          <p:cNvCxnSpPr/>
          <p:nvPr/>
        </p:nvCxnSpPr>
        <p:spPr>
          <a:xfrm>
            <a:off x="559689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6" name="Google Shape;1696;p36"/>
          <p:cNvCxnSpPr/>
          <p:nvPr/>
        </p:nvCxnSpPr>
        <p:spPr>
          <a:xfrm>
            <a:off x="622935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7" name="Google Shape;1697;p36"/>
          <p:cNvCxnSpPr/>
          <p:nvPr/>
        </p:nvCxnSpPr>
        <p:spPr>
          <a:xfrm>
            <a:off x="686181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8" name="Google Shape;1698;p36"/>
          <p:cNvCxnSpPr/>
          <p:nvPr/>
        </p:nvCxnSpPr>
        <p:spPr>
          <a:xfrm>
            <a:off x="749427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9" name="Google Shape;1699;p36"/>
          <p:cNvSpPr/>
          <p:nvPr/>
        </p:nvSpPr>
        <p:spPr>
          <a:xfrm rot="-5400000">
            <a:off x="-1324650" y="2245275"/>
            <a:ext cx="28086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6FA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2E46FA"/>
                </a:solidFill>
                <a:latin typeface="Arial"/>
                <a:ea typeface="Arial"/>
                <a:cs typeface="Arial"/>
                <a:sym typeface="Arial"/>
              </a:rPr>
              <a:t>Programs / decisions to set up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0" name="Google Shape;1700;p36"/>
          <p:cNvSpPr/>
          <p:nvPr/>
        </p:nvSpPr>
        <p:spPr>
          <a:xfrm>
            <a:off x="240030" y="946404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1" name="Google Shape;1701;p36"/>
          <p:cNvSpPr/>
          <p:nvPr/>
        </p:nvSpPr>
        <p:spPr>
          <a:xfrm>
            <a:off x="240030" y="946404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1. Sales Performance Rituals &amp; Coaching Framework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2" name="Google Shape;1702;p36"/>
          <p:cNvSpPr/>
          <p:nvPr/>
        </p:nvSpPr>
        <p:spPr>
          <a:xfrm>
            <a:off x="2451730" y="978025"/>
            <a:ext cx="945000" cy="77400"/>
          </a:xfrm>
          <a:prstGeom prst="roundRect">
            <a:avLst>
              <a:gd fmla="val 26607" name="adj"/>
            </a:avLst>
          </a:prstGeom>
          <a:solidFill>
            <a:srgbClr val="DBE3F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3" name="Google Shape;1703;p36"/>
          <p:cNvSpPr/>
          <p:nvPr/>
        </p:nvSpPr>
        <p:spPr>
          <a:xfrm>
            <a:off x="240030" y="1086993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4" name="Google Shape;1704;p36"/>
          <p:cNvSpPr/>
          <p:nvPr/>
        </p:nvSpPr>
        <p:spPr>
          <a:xfrm>
            <a:off x="240030" y="1086993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2. CRM Hygiene, Activity Tracking &amp; Unified KPI Dashboard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5" name="Google Shape;1705;p36"/>
          <p:cNvSpPr/>
          <p:nvPr/>
        </p:nvSpPr>
        <p:spPr>
          <a:xfrm>
            <a:off x="2451718" y="1118625"/>
            <a:ext cx="3145200" cy="77400"/>
          </a:xfrm>
          <a:prstGeom prst="roundRect">
            <a:avLst>
              <a:gd fmla="val 26607" name="adj"/>
            </a:avLst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6" name="Google Shape;1706;p36"/>
          <p:cNvSpPr/>
          <p:nvPr/>
        </p:nvSpPr>
        <p:spPr>
          <a:xfrm>
            <a:off x="240030" y="1227582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7" name="Google Shape;1707;p36"/>
          <p:cNvSpPr/>
          <p:nvPr/>
        </p:nvSpPr>
        <p:spPr>
          <a:xfrm>
            <a:off x="240030" y="1227582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3. Forecast Governance &amp; Stage Definitions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8" name="Google Shape;1708;p36"/>
          <p:cNvSpPr/>
          <p:nvPr/>
        </p:nvSpPr>
        <p:spPr>
          <a:xfrm>
            <a:off x="2451735" y="1259215"/>
            <a:ext cx="1863000" cy="77400"/>
          </a:xfrm>
          <a:prstGeom prst="roundRect">
            <a:avLst>
              <a:gd fmla="val 26607" name="adj"/>
            </a:avLst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9" name="Google Shape;1709;p36"/>
          <p:cNvSpPr/>
          <p:nvPr/>
        </p:nvSpPr>
        <p:spPr>
          <a:xfrm>
            <a:off x="240030" y="1368171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0" name="Google Shape;1710;p36"/>
          <p:cNvSpPr/>
          <p:nvPr/>
        </p:nvSpPr>
        <p:spPr>
          <a:xfrm>
            <a:off x="240030" y="1368171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4. Outbound  Training / Coaching for Enterprise AEs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1" name="Google Shape;1711;p36"/>
          <p:cNvSpPr/>
          <p:nvPr/>
        </p:nvSpPr>
        <p:spPr>
          <a:xfrm>
            <a:off x="2451712" y="1399800"/>
            <a:ext cx="4375500" cy="77400"/>
          </a:xfrm>
          <a:prstGeom prst="roundRect">
            <a:avLst>
              <a:gd fmla="val 26607" name="adj"/>
            </a:avLst>
          </a:prstGeom>
          <a:solidFill>
            <a:srgbClr val="EBC5D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2" name="Google Shape;1712;p36"/>
          <p:cNvSpPr/>
          <p:nvPr/>
        </p:nvSpPr>
        <p:spPr>
          <a:xfrm>
            <a:off x="240030" y="1508760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3" name="Google Shape;1713;p36"/>
          <p:cNvSpPr/>
          <p:nvPr/>
        </p:nvSpPr>
        <p:spPr>
          <a:xfrm>
            <a:off x="240030" y="1508760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5. Demand Generation Strategy, BDR Excellence &amp; Lead Quality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4" name="Google Shape;1714;p36"/>
          <p:cNvSpPr/>
          <p:nvPr/>
        </p:nvSpPr>
        <p:spPr>
          <a:xfrm>
            <a:off x="2451735" y="1540393"/>
            <a:ext cx="1863000" cy="77400"/>
          </a:xfrm>
          <a:prstGeom prst="roundRect">
            <a:avLst>
              <a:gd fmla="val 26607" name="adj"/>
            </a:avLst>
          </a:prstGeom>
          <a:solidFill>
            <a:srgbClr val="B9CDD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5" name="Google Shape;1715;p36"/>
          <p:cNvSpPr/>
          <p:nvPr/>
        </p:nvSpPr>
        <p:spPr>
          <a:xfrm>
            <a:off x="240030" y="1649349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6" name="Google Shape;1716;p36"/>
          <p:cNvSpPr/>
          <p:nvPr/>
        </p:nvSpPr>
        <p:spPr>
          <a:xfrm>
            <a:off x="240030" y="1649349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6. Structured Hiring Process, Scorecards &amp; TA Operating Model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7" name="Google Shape;1717;p36"/>
          <p:cNvSpPr/>
          <p:nvPr/>
        </p:nvSpPr>
        <p:spPr>
          <a:xfrm>
            <a:off x="2451730" y="1680975"/>
            <a:ext cx="615300" cy="77400"/>
          </a:xfrm>
          <a:prstGeom prst="roundRect">
            <a:avLst>
              <a:gd fmla="val 26607" name="adj"/>
            </a:avLst>
          </a:prstGeom>
          <a:solidFill>
            <a:srgbClr val="BDD3F3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8" name="Google Shape;1718;p36"/>
          <p:cNvSpPr/>
          <p:nvPr/>
        </p:nvSpPr>
        <p:spPr>
          <a:xfrm>
            <a:off x="240030" y="1789938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9" name="Google Shape;1719;p36"/>
          <p:cNvSpPr/>
          <p:nvPr/>
        </p:nvSpPr>
        <p:spPr>
          <a:xfrm>
            <a:off x="240030" y="1789938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7. Sales Playbook Relaunch, Discovery &amp; MEDDIC Embedding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0" name="Google Shape;1720;p36"/>
          <p:cNvSpPr/>
          <p:nvPr/>
        </p:nvSpPr>
        <p:spPr>
          <a:xfrm>
            <a:off x="2451715" y="1821575"/>
            <a:ext cx="3777600" cy="77400"/>
          </a:xfrm>
          <a:prstGeom prst="roundRect">
            <a:avLst>
              <a:gd fmla="val 26607" name="adj"/>
            </a:avLst>
          </a:prstGeom>
          <a:solidFill>
            <a:srgbClr val="B4C5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1" name="Google Shape;1721;p36"/>
          <p:cNvSpPr/>
          <p:nvPr/>
        </p:nvSpPr>
        <p:spPr>
          <a:xfrm>
            <a:off x="240030" y="1930527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2" name="Google Shape;1722;p36"/>
          <p:cNvSpPr/>
          <p:nvPr/>
        </p:nvSpPr>
        <p:spPr>
          <a:xfrm>
            <a:off x="240030" y="1930527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8. Territory Design, Account Allocation &amp; TAM Governance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3" name="Google Shape;1723;p36"/>
          <p:cNvSpPr/>
          <p:nvPr/>
        </p:nvSpPr>
        <p:spPr>
          <a:xfrm>
            <a:off x="2451735" y="1962160"/>
            <a:ext cx="2495400" cy="77400"/>
          </a:xfrm>
          <a:prstGeom prst="roundRect">
            <a:avLst>
              <a:gd fmla="val 26607" name="adj"/>
            </a:avLst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4" name="Google Shape;1724;p36"/>
          <p:cNvSpPr/>
          <p:nvPr/>
        </p:nvSpPr>
        <p:spPr>
          <a:xfrm>
            <a:off x="240030" y="2071116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5" name="Google Shape;1725;p36"/>
          <p:cNvSpPr/>
          <p:nvPr/>
        </p:nvSpPr>
        <p:spPr>
          <a:xfrm>
            <a:off x="240030" y="2071116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9. Career Architecture, Competency Framework &amp; Cross-Region Cadence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6" name="Google Shape;1726;p36"/>
          <p:cNvSpPr/>
          <p:nvPr/>
        </p:nvSpPr>
        <p:spPr>
          <a:xfrm>
            <a:off x="3699453" y="2102750"/>
            <a:ext cx="2512800" cy="77400"/>
          </a:xfrm>
          <a:prstGeom prst="roundRect">
            <a:avLst>
              <a:gd fmla="val 26607" name="adj"/>
            </a:avLst>
          </a:prstGeom>
          <a:solidFill>
            <a:srgbClr val="98B5FE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7" name="Google Shape;1727;p36"/>
          <p:cNvSpPr/>
          <p:nvPr/>
        </p:nvSpPr>
        <p:spPr>
          <a:xfrm>
            <a:off x="240030" y="2211705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8" name="Google Shape;1728;p36"/>
          <p:cNvSpPr/>
          <p:nvPr/>
        </p:nvSpPr>
        <p:spPr>
          <a:xfrm>
            <a:off x="240030" y="2211705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10. Sales Compensation, Quota Fairness &amp; Talent Retention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9" name="Google Shape;1729;p36"/>
          <p:cNvSpPr/>
          <p:nvPr/>
        </p:nvSpPr>
        <p:spPr>
          <a:xfrm>
            <a:off x="3066930" y="2243350"/>
            <a:ext cx="3777600" cy="77400"/>
          </a:xfrm>
          <a:prstGeom prst="roundRect">
            <a:avLst>
              <a:gd fmla="val 26607" name="adj"/>
            </a:avLst>
          </a:prstGeom>
          <a:solidFill>
            <a:srgbClr val="98B5FE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0" name="Google Shape;1730;p36"/>
          <p:cNvSpPr/>
          <p:nvPr/>
        </p:nvSpPr>
        <p:spPr>
          <a:xfrm>
            <a:off x="240030" y="2352294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1" name="Google Shape;1731;p36"/>
          <p:cNvSpPr/>
          <p:nvPr/>
        </p:nvSpPr>
        <p:spPr>
          <a:xfrm>
            <a:off x="240030" y="2352294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11. Manager Academy, Leadership Capability &amp; Support Staffing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2" name="Google Shape;1732;p36"/>
          <p:cNvSpPr/>
          <p:nvPr/>
        </p:nvSpPr>
        <p:spPr>
          <a:xfrm>
            <a:off x="3066930" y="2383925"/>
            <a:ext cx="3777600" cy="77400"/>
          </a:xfrm>
          <a:prstGeom prst="roundRect">
            <a:avLst>
              <a:gd fmla="val 26607" name="adj"/>
            </a:avLst>
          </a:prstGeom>
          <a:solidFill>
            <a:srgbClr val="98B5FE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3" name="Google Shape;1733;p36"/>
          <p:cNvSpPr/>
          <p:nvPr/>
        </p:nvSpPr>
        <p:spPr>
          <a:xfrm>
            <a:off x="240030" y="2492883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4" name="Google Shape;1734;p36"/>
          <p:cNvSpPr/>
          <p:nvPr/>
        </p:nvSpPr>
        <p:spPr>
          <a:xfrm>
            <a:off x="240030" y="2492883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12. Onboarding Redesign: Role-Based Tracks &amp; Ramp Milestones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5" name="Google Shape;1735;p36"/>
          <p:cNvSpPr/>
          <p:nvPr/>
        </p:nvSpPr>
        <p:spPr>
          <a:xfrm>
            <a:off x="3699328" y="2524525"/>
            <a:ext cx="2512800" cy="77400"/>
          </a:xfrm>
          <a:prstGeom prst="roundRect">
            <a:avLst>
              <a:gd fmla="val 26607" name="adj"/>
            </a:avLst>
          </a:prstGeom>
          <a:solidFill>
            <a:srgbClr val="BDD3F3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6" name="Google Shape;1736;p36"/>
          <p:cNvSpPr/>
          <p:nvPr/>
        </p:nvSpPr>
        <p:spPr>
          <a:xfrm>
            <a:off x="240030" y="2633472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7" name="Google Shape;1737;p36"/>
          <p:cNvSpPr/>
          <p:nvPr/>
        </p:nvSpPr>
        <p:spPr>
          <a:xfrm>
            <a:off x="240030" y="2633472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13. Annual Enablement Calendar, Certifications &amp; Operating Model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8" name="Google Shape;1738;p36"/>
          <p:cNvSpPr/>
          <p:nvPr/>
        </p:nvSpPr>
        <p:spPr>
          <a:xfrm>
            <a:off x="3093522" y="2665100"/>
            <a:ext cx="2495400" cy="77400"/>
          </a:xfrm>
          <a:prstGeom prst="roundRect">
            <a:avLst>
              <a:gd fmla="val 26607" name="adj"/>
            </a:avLst>
          </a:prstGeom>
          <a:solidFill>
            <a:srgbClr val="B4C5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9" name="Google Shape;1739;p36"/>
          <p:cNvSpPr/>
          <p:nvPr/>
        </p:nvSpPr>
        <p:spPr>
          <a:xfrm>
            <a:off x="240030" y="2774061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0" name="Google Shape;1740;p36"/>
          <p:cNvSpPr/>
          <p:nvPr/>
        </p:nvSpPr>
        <p:spPr>
          <a:xfrm>
            <a:off x="240030" y="2774061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14. Enterprise Enablement: Coaching, Messaging, Complex Cycles &amp; ROI Content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1" name="Google Shape;1741;p36"/>
          <p:cNvSpPr/>
          <p:nvPr/>
        </p:nvSpPr>
        <p:spPr>
          <a:xfrm>
            <a:off x="3066924" y="2805700"/>
            <a:ext cx="3795000" cy="77400"/>
          </a:xfrm>
          <a:prstGeom prst="roundRect">
            <a:avLst>
              <a:gd fmla="val 26607" name="adj"/>
            </a:avLst>
          </a:prstGeom>
          <a:solidFill>
            <a:srgbClr val="B4C5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2" name="Google Shape;1742;p36"/>
          <p:cNvSpPr/>
          <p:nvPr/>
        </p:nvSpPr>
        <p:spPr>
          <a:xfrm>
            <a:off x="240030" y="2914650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3" name="Google Shape;1743;p36"/>
          <p:cNvSpPr/>
          <p:nvPr/>
        </p:nvSpPr>
        <p:spPr>
          <a:xfrm>
            <a:off x="240030" y="2914650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15. ABM, Events &amp; Partnership Pipeline Governance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4" name="Google Shape;1744;p36"/>
          <p:cNvSpPr/>
          <p:nvPr/>
        </p:nvSpPr>
        <p:spPr>
          <a:xfrm>
            <a:off x="4349115" y="2946283"/>
            <a:ext cx="2495400" cy="77400"/>
          </a:xfrm>
          <a:prstGeom prst="roundRect">
            <a:avLst>
              <a:gd fmla="val 26607" name="adj"/>
            </a:avLst>
          </a:prstGeom>
          <a:solidFill>
            <a:srgbClr val="B9CDD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5" name="Google Shape;1745;p36"/>
          <p:cNvSpPr/>
          <p:nvPr/>
        </p:nvSpPr>
        <p:spPr>
          <a:xfrm>
            <a:off x="240030" y="3055239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6" name="Google Shape;1746;p36"/>
          <p:cNvSpPr/>
          <p:nvPr/>
        </p:nvSpPr>
        <p:spPr>
          <a:xfrm>
            <a:off x="240030" y="3055239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16. CS Commercial Enablement &amp; CSM/AE Expansion Motion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7" name="Google Shape;1747;p36"/>
          <p:cNvSpPr/>
          <p:nvPr/>
        </p:nvSpPr>
        <p:spPr>
          <a:xfrm>
            <a:off x="4349130" y="3086875"/>
            <a:ext cx="3760500" cy="77400"/>
          </a:xfrm>
          <a:prstGeom prst="roundRect">
            <a:avLst>
              <a:gd fmla="val 26607" name="adj"/>
            </a:avLst>
          </a:prstGeom>
          <a:solidFill>
            <a:srgbClr val="C5C3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8" name="Google Shape;1748;p36"/>
          <p:cNvSpPr/>
          <p:nvPr/>
        </p:nvSpPr>
        <p:spPr>
          <a:xfrm>
            <a:off x="240030" y="3195828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9" name="Google Shape;1749;p36"/>
          <p:cNvSpPr/>
          <p:nvPr/>
        </p:nvSpPr>
        <p:spPr>
          <a:xfrm>
            <a:off x="240030" y="3195828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17. Customer Health, Churn Prevention &amp; Renewal Program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0" name="Google Shape;1750;p36"/>
          <p:cNvSpPr/>
          <p:nvPr/>
        </p:nvSpPr>
        <p:spPr>
          <a:xfrm>
            <a:off x="4331900" y="3227450"/>
            <a:ext cx="2495400" cy="77400"/>
          </a:xfrm>
          <a:prstGeom prst="roundRect">
            <a:avLst>
              <a:gd fmla="val 26607" name="adj"/>
            </a:avLst>
          </a:prstGeom>
          <a:solidFill>
            <a:srgbClr val="C5C3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1" name="Google Shape;1751;p36"/>
          <p:cNvSpPr/>
          <p:nvPr/>
        </p:nvSpPr>
        <p:spPr>
          <a:xfrm>
            <a:off x="240030" y="3336417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2" name="Google Shape;1752;p36"/>
          <p:cNvSpPr/>
          <p:nvPr/>
        </p:nvSpPr>
        <p:spPr>
          <a:xfrm>
            <a:off x="240030" y="3336417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18. Value-Based Selling &amp; Negotiation Certification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3" name="Google Shape;1753;p36"/>
          <p:cNvSpPr/>
          <p:nvPr/>
        </p:nvSpPr>
        <p:spPr>
          <a:xfrm>
            <a:off x="4331902" y="3368050"/>
            <a:ext cx="2495400" cy="77400"/>
          </a:xfrm>
          <a:prstGeom prst="roundRect">
            <a:avLst>
              <a:gd fmla="val 26607" name="adj"/>
            </a:avLst>
          </a:prstGeom>
          <a:solidFill>
            <a:srgbClr val="EBC5D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4" name="Google Shape;1754;p36"/>
          <p:cNvSpPr/>
          <p:nvPr/>
        </p:nvSpPr>
        <p:spPr>
          <a:xfrm>
            <a:off x="240030" y="3477006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5" name="Google Shape;1755;p36"/>
          <p:cNvSpPr/>
          <p:nvPr/>
        </p:nvSpPr>
        <p:spPr>
          <a:xfrm>
            <a:off x="240030" y="3477006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19. RevOps Operating Model, Funnel Governance &amp; Target Differentiation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6" name="Google Shape;1756;p36"/>
          <p:cNvSpPr/>
          <p:nvPr/>
        </p:nvSpPr>
        <p:spPr>
          <a:xfrm>
            <a:off x="4349005" y="3508650"/>
            <a:ext cx="3760500" cy="77400"/>
          </a:xfrm>
          <a:prstGeom prst="roundRect">
            <a:avLst>
              <a:gd fmla="val 26607" name="adj"/>
            </a:avLst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7" name="Google Shape;1757;p36"/>
          <p:cNvSpPr/>
          <p:nvPr/>
        </p:nvSpPr>
        <p:spPr>
          <a:xfrm>
            <a:off x="240030" y="3617595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8" name="Google Shape;1758;p36"/>
          <p:cNvSpPr/>
          <p:nvPr/>
        </p:nvSpPr>
        <p:spPr>
          <a:xfrm>
            <a:off x="240030" y="3617595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20. Enterprise Brand, DG Strategy &amp; Website Repositioning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9" name="Google Shape;1759;p36"/>
          <p:cNvSpPr/>
          <p:nvPr/>
        </p:nvSpPr>
        <p:spPr>
          <a:xfrm>
            <a:off x="4331905" y="3649225"/>
            <a:ext cx="3777600" cy="77400"/>
          </a:xfrm>
          <a:prstGeom prst="roundRect">
            <a:avLst>
              <a:gd fmla="val 26607" name="adj"/>
            </a:avLst>
          </a:prstGeom>
          <a:solidFill>
            <a:srgbClr val="B9CDD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0" name="Google Shape;1760;p36"/>
          <p:cNvSpPr/>
          <p:nvPr/>
        </p:nvSpPr>
        <p:spPr>
          <a:xfrm>
            <a:off x="2434590" y="3813048"/>
            <a:ext cx="1856100" cy="1851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1" name="Google Shape;1761;p36"/>
          <p:cNvSpPr/>
          <p:nvPr/>
        </p:nvSpPr>
        <p:spPr>
          <a:xfrm>
            <a:off x="2434590" y="3813048"/>
            <a:ext cx="18561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1: Months 1–3 | </a:t>
            </a:r>
            <a:r>
              <a:rPr b="1" lang="fr" sz="500">
                <a:solidFill>
                  <a:srgbClr val="FFFFFF"/>
                </a:solidFill>
              </a:rPr>
              <a:t>Fix</a:t>
            </a: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Foundations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2" name="Google Shape;1762;p36"/>
          <p:cNvSpPr/>
          <p:nvPr/>
        </p:nvSpPr>
        <p:spPr>
          <a:xfrm>
            <a:off x="4331970" y="3813048"/>
            <a:ext cx="1856100" cy="185100"/>
          </a:xfrm>
          <a:prstGeom prst="rect">
            <a:avLst/>
          </a:prstGeom>
          <a:solidFill>
            <a:srgbClr val="2E46FA"/>
          </a:solidFill>
          <a:ln cap="flat" cmpd="sng" w="9525">
            <a:solidFill>
              <a:srgbClr val="2E46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3" name="Google Shape;1763;p36"/>
          <p:cNvSpPr/>
          <p:nvPr/>
        </p:nvSpPr>
        <p:spPr>
          <a:xfrm>
            <a:off x="4331970" y="3813048"/>
            <a:ext cx="18561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2: Months 4–6 | </a:t>
            </a:r>
            <a:r>
              <a:rPr b="1" lang="fr" sz="500">
                <a:solidFill>
                  <a:srgbClr val="FFFFFF"/>
                </a:solidFill>
              </a:rPr>
              <a:t>Establish Post-IPO Standards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4" name="Google Shape;1764;p36"/>
          <p:cNvSpPr/>
          <p:nvPr/>
        </p:nvSpPr>
        <p:spPr>
          <a:xfrm>
            <a:off x="6229350" y="3813048"/>
            <a:ext cx="1856100" cy="185100"/>
          </a:xfrm>
          <a:prstGeom prst="rect">
            <a:avLst/>
          </a:prstGeom>
          <a:solidFill>
            <a:srgbClr val="6B7EC9"/>
          </a:solidFill>
          <a:ln cap="flat" cmpd="sng" w="9525">
            <a:solidFill>
              <a:srgbClr val="6B7E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5" name="Google Shape;1765;p36"/>
          <p:cNvSpPr/>
          <p:nvPr/>
        </p:nvSpPr>
        <p:spPr>
          <a:xfrm>
            <a:off x="6229350" y="3813048"/>
            <a:ext cx="18561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3: Months 7–9 | Scale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6" name="Google Shape;1766;p36"/>
          <p:cNvSpPr/>
          <p:nvPr/>
        </p:nvSpPr>
        <p:spPr>
          <a:xfrm>
            <a:off x="2434600" y="4247513"/>
            <a:ext cx="27432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19323F"/>
                </a:solidFill>
                <a:latin typeface="Arial"/>
                <a:ea typeface="Arial"/>
                <a:cs typeface="Arial"/>
                <a:sym typeface="Arial"/>
              </a:rPr>
              <a:t>Building Blocks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7" name="Google Shape;1767;p36"/>
          <p:cNvSpPr/>
          <p:nvPr/>
        </p:nvSpPr>
        <p:spPr>
          <a:xfrm>
            <a:off x="2434600" y="4398389"/>
            <a:ext cx="973800" cy="150900"/>
          </a:xfrm>
          <a:prstGeom prst="rect">
            <a:avLst/>
          </a:prstGeom>
          <a:solidFill>
            <a:srgbClr val="BDD3F3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68" name="Google Shape;1768;p36"/>
          <p:cNvSpPr/>
          <p:nvPr/>
        </p:nvSpPr>
        <p:spPr>
          <a:xfrm>
            <a:off x="2434600" y="4398389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Hiring &amp; Ramp-Up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9" name="Google Shape;1769;p36"/>
          <p:cNvSpPr/>
          <p:nvPr/>
        </p:nvSpPr>
        <p:spPr>
          <a:xfrm>
            <a:off x="3449584" y="4398389"/>
            <a:ext cx="973800" cy="150900"/>
          </a:xfrm>
          <a:prstGeom prst="rect">
            <a:avLst/>
          </a:prstGeom>
          <a:solidFill>
            <a:srgbClr val="B4C5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70" name="Google Shape;1770;p36"/>
          <p:cNvSpPr/>
          <p:nvPr/>
        </p:nvSpPr>
        <p:spPr>
          <a:xfrm>
            <a:off x="3449584" y="4398389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Enablement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1" name="Google Shape;1771;p36"/>
          <p:cNvSpPr/>
          <p:nvPr/>
        </p:nvSpPr>
        <p:spPr>
          <a:xfrm>
            <a:off x="4464568" y="4398389"/>
            <a:ext cx="973800" cy="150900"/>
          </a:xfrm>
          <a:prstGeom prst="rect">
            <a:avLst/>
          </a:prstGeom>
          <a:solidFill>
            <a:srgbClr val="DBE3F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72" name="Google Shape;1772;p36"/>
          <p:cNvSpPr/>
          <p:nvPr/>
        </p:nvSpPr>
        <p:spPr>
          <a:xfrm>
            <a:off x="4464568" y="4398389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Perf Mgmt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3" name="Google Shape;1773;p36"/>
          <p:cNvSpPr/>
          <p:nvPr/>
        </p:nvSpPr>
        <p:spPr>
          <a:xfrm>
            <a:off x="5479552" y="4398389"/>
            <a:ext cx="973800" cy="150900"/>
          </a:xfrm>
          <a:prstGeom prst="rect">
            <a:avLst/>
          </a:prstGeom>
          <a:solidFill>
            <a:srgbClr val="98B5FE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74" name="Google Shape;1774;p36"/>
          <p:cNvSpPr/>
          <p:nvPr/>
        </p:nvSpPr>
        <p:spPr>
          <a:xfrm>
            <a:off x="5479552" y="4398389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Talent Management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5" name="Google Shape;1775;p36"/>
          <p:cNvSpPr/>
          <p:nvPr/>
        </p:nvSpPr>
        <p:spPr>
          <a:xfrm>
            <a:off x="2434600" y="4590413"/>
            <a:ext cx="973800" cy="150900"/>
          </a:xfrm>
          <a:prstGeom prst="rect">
            <a:avLst/>
          </a:prstGeom>
          <a:solidFill>
            <a:srgbClr val="B9CDD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76" name="Google Shape;1776;p36"/>
          <p:cNvSpPr/>
          <p:nvPr/>
        </p:nvSpPr>
        <p:spPr>
          <a:xfrm>
            <a:off x="2434600" y="4590413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Demand Gen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7" name="Google Shape;1777;p36"/>
          <p:cNvSpPr/>
          <p:nvPr/>
        </p:nvSpPr>
        <p:spPr>
          <a:xfrm>
            <a:off x="3449584" y="4590413"/>
            <a:ext cx="973800" cy="150900"/>
          </a:xfrm>
          <a:prstGeom prst="rect">
            <a:avLst/>
          </a:prstGeom>
          <a:solidFill>
            <a:srgbClr val="EBC5D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78" name="Google Shape;1778;p36"/>
          <p:cNvSpPr/>
          <p:nvPr/>
        </p:nvSpPr>
        <p:spPr>
          <a:xfrm>
            <a:off x="3449584" y="4590413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Execution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9" name="Google Shape;1779;p36"/>
          <p:cNvSpPr/>
          <p:nvPr/>
        </p:nvSpPr>
        <p:spPr>
          <a:xfrm>
            <a:off x="4464568" y="4590413"/>
            <a:ext cx="973800" cy="150900"/>
          </a:xfrm>
          <a:prstGeom prst="rect">
            <a:avLst/>
          </a:prstGeom>
          <a:solidFill>
            <a:srgbClr val="C5C3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80" name="Google Shape;1780;p36"/>
          <p:cNvSpPr/>
          <p:nvPr/>
        </p:nvSpPr>
        <p:spPr>
          <a:xfrm>
            <a:off x="4464568" y="4590413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Client Relationship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1" name="Google Shape;1781;p36"/>
          <p:cNvSpPr/>
          <p:nvPr/>
        </p:nvSpPr>
        <p:spPr>
          <a:xfrm>
            <a:off x="5479552" y="4590413"/>
            <a:ext cx="973800" cy="150900"/>
          </a:xfrm>
          <a:prstGeom prst="rect">
            <a:avLst/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82" name="Google Shape;1782;p36"/>
          <p:cNvSpPr/>
          <p:nvPr/>
        </p:nvSpPr>
        <p:spPr>
          <a:xfrm>
            <a:off x="5479552" y="4590413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Ops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3" name="Google Shape;1783;p36" title="Logo_atscale_sans textu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600" y="73863"/>
            <a:ext cx="636100" cy="14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87" name="Shape 1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8" name="Google Shape;1788;p37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3688" y="2667025"/>
            <a:ext cx="3324351" cy="733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9" name="Google Shape;1789;p37"/>
          <p:cNvSpPr txBox="1"/>
          <p:nvPr/>
        </p:nvSpPr>
        <p:spPr>
          <a:xfrm>
            <a:off x="763700" y="3772929"/>
            <a:ext cx="19815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450" spcFirstLastPara="1" rIns="91450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</a:t>
            </a:r>
            <a:r>
              <a:rPr i="0" lang="fr" sz="90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isit us</a:t>
            </a:r>
            <a:r>
              <a:rPr lang="fr"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r>
              <a:rPr i="0" lang="fr" sz="900" u="sng" cap="none" strike="noStrike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at-scale.co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pic>
        <p:nvPicPr>
          <p:cNvPr id="1790" name="Google Shape;1790;p37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50350" y="4231275"/>
            <a:ext cx="232175" cy="232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94" name="Shape 1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95" name="Google Shape;1795;p38"/>
          <p:cNvCxnSpPr/>
          <p:nvPr/>
        </p:nvCxnSpPr>
        <p:spPr>
          <a:xfrm>
            <a:off x="963588" y="2911698"/>
            <a:ext cx="72951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dot"/>
            <a:round/>
            <a:headEnd len="med" w="med" type="none"/>
            <a:tailEnd len="med" w="med" type="none"/>
          </a:ln>
        </p:spPr>
      </p:cxnSp>
      <p:pic>
        <p:nvPicPr>
          <p:cNvPr id="1796" name="Google Shape;1796;p38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97" name="Google Shape;1797;p38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98" name="Google Shape;1798;p38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Recommendations &amp; Roadmap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99" name="Google Shape;1799;p38"/>
          <p:cNvSpPr txBox="1"/>
          <p:nvPr>
            <p:ph type="ctrTitle"/>
          </p:nvPr>
        </p:nvSpPr>
        <p:spPr>
          <a:xfrm>
            <a:off x="483602" y="638425"/>
            <a:ext cx="82572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5 needed steps to successfully manage a program from end to end.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800" name="Google Shape;1800;p38"/>
          <p:cNvCxnSpPr/>
          <p:nvPr/>
        </p:nvCxnSpPr>
        <p:spPr>
          <a:xfrm rot="10800000">
            <a:off x="2666950" y="1133875"/>
            <a:ext cx="13926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801" name="Google Shape;1801;p38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4859" y="2700745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2" name="Google Shape;1802;p38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76909" y="2700745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3" name="Google Shape;1803;p38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78959" y="2700745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4" name="Google Shape;1804;p38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81009" y="2700745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5" name="Google Shape;1805;p38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83059" y="2700745"/>
            <a:ext cx="386075" cy="438855"/>
          </a:xfrm>
          <a:prstGeom prst="rect">
            <a:avLst/>
          </a:prstGeom>
          <a:noFill/>
          <a:ln>
            <a:noFill/>
          </a:ln>
        </p:spPr>
      </p:pic>
      <p:sp>
        <p:nvSpPr>
          <p:cNvPr id="1806" name="Google Shape;1806;p38"/>
          <p:cNvSpPr txBox="1"/>
          <p:nvPr>
            <p:ph type="ctrTitle"/>
          </p:nvPr>
        </p:nvSpPr>
        <p:spPr>
          <a:xfrm>
            <a:off x="888745" y="2734258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07" name="Google Shape;1807;p38"/>
          <p:cNvSpPr txBox="1"/>
          <p:nvPr>
            <p:ph type="ctrTitle"/>
          </p:nvPr>
        </p:nvSpPr>
        <p:spPr>
          <a:xfrm>
            <a:off x="2666278" y="2734258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08" name="Google Shape;1808;p38"/>
          <p:cNvSpPr txBox="1"/>
          <p:nvPr>
            <p:ph type="ctrTitle"/>
          </p:nvPr>
        </p:nvSpPr>
        <p:spPr>
          <a:xfrm>
            <a:off x="4466907" y="2734258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09" name="Google Shape;1809;p38"/>
          <p:cNvSpPr txBox="1"/>
          <p:nvPr>
            <p:ph type="ctrTitle"/>
          </p:nvPr>
        </p:nvSpPr>
        <p:spPr>
          <a:xfrm>
            <a:off x="6259904" y="2734258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0" name="Google Shape;1810;p38"/>
          <p:cNvSpPr txBox="1"/>
          <p:nvPr>
            <p:ph type="ctrTitle"/>
          </p:nvPr>
        </p:nvSpPr>
        <p:spPr>
          <a:xfrm>
            <a:off x="8072021" y="2734258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1" name="Google Shape;1811;p38"/>
          <p:cNvSpPr txBox="1"/>
          <p:nvPr/>
        </p:nvSpPr>
        <p:spPr>
          <a:xfrm>
            <a:off x="374658" y="3629261"/>
            <a:ext cx="1620300" cy="78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assess what the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current internal practice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is. 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look at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interdependencies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with additional projects.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list the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pros &amp; cons.</a:t>
            </a:r>
            <a:endParaRPr b="1" sz="700">
              <a:solidFill>
                <a:srgbClr val="19323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2" name="Google Shape;1812;p38"/>
          <p:cNvSpPr txBox="1"/>
          <p:nvPr>
            <p:ph type="ctrTitle"/>
          </p:nvPr>
        </p:nvSpPr>
        <p:spPr>
          <a:xfrm>
            <a:off x="374651" y="3164250"/>
            <a:ext cx="16203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More in depth audit observation</a:t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13" name="Google Shape;1813;p38"/>
          <p:cNvSpPr txBox="1"/>
          <p:nvPr/>
        </p:nvSpPr>
        <p:spPr>
          <a:xfrm>
            <a:off x="2176708" y="1551007"/>
            <a:ext cx="1620300" cy="11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Based on the audit, we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submit a proposal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, our common starting point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come with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best practices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that are already running in other businesses.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share the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resources needed to execute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14" name="Google Shape;1814;p38"/>
          <p:cNvSpPr txBox="1"/>
          <p:nvPr>
            <p:ph type="ctrTitle"/>
          </p:nvPr>
        </p:nvSpPr>
        <p:spPr>
          <a:xfrm>
            <a:off x="2176700" y="1296300"/>
            <a:ext cx="1620300" cy="3549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Atscale Production</a:t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15" name="Google Shape;1815;p38"/>
          <p:cNvSpPr txBox="1"/>
          <p:nvPr/>
        </p:nvSpPr>
        <p:spPr>
          <a:xfrm>
            <a:off x="3761840" y="3629261"/>
            <a:ext cx="1620300" cy="9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integrate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[CLIENT]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 specificities.</a:t>
            </a:r>
            <a:endParaRPr b="1" sz="700">
              <a:solidFill>
                <a:srgbClr val="19323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The proposal could be improved through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iterations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finally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validate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the program structure.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16" name="Google Shape;1816;p38"/>
          <p:cNvSpPr txBox="1"/>
          <p:nvPr>
            <p:ph type="ctrTitle"/>
          </p:nvPr>
        </p:nvSpPr>
        <p:spPr>
          <a:xfrm>
            <a:off x="3811190" y="3164243"/>
            <a:ext cx="15216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Validation</a:t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17" name="Google Shape;1817;p38"/>
          <p:cNvSpPr txBox="1"/>
          <p:nvPr/>
        </p:nvSpPr>
        <p:spPr>
          <a:xfrm>
            <a:off x="5175367" y="1864962"/>
            <a:ext cx="1620300" cy="78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Program is rolled out.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We make sure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teams are informed and receive all support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needed to integrate it into their day to day work.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18" name="Google Shape;1818;p38"/>
          <p:cNvSpPr txBox="1"/>
          <p:nvPr/>
        </p:nvSpPr>
        <p:spPr>
          <a:xfrm>
            <a:off x="6977423" y="3629261"/>
            <a:ext cx="1620300" cy="6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Weekly meetings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with different stakeholders.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Monitoring Performance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&amp; KPI for each program.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19" name="Google Shape;1819;p38"/>
          <p:cNvSpPr txBox="1"/>
          <p:nvPr>
            <p:ph type="ctrTitle"/>
          </p:nvPr>
        </p:nvSpPr>
        <p:spPr>
          <a:xfrm>
            <a:off x="5274067" y="1399944"/>
            <a:ext cx="15216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Implementation</a:t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20" name="Google Shape;1820;p38"/>
          <p:cNvSpPr txBox="1"/>
          <p:nvPr>
            <p:ph type="ctrTitle"/>
          </p:nvPr>
        </p:nvSpPr>
        <p:spPr>
          <a:xfrm>
            <a:off x="7076123" y="3164243"/>
            <a:ext cx="15216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Regular Check in &amp; KPI Impact</a:t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24" name="Shape 1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25" name="Google Shape;1825;p39"/>
          <p:cNvCxnSpPr/>
          <p:nvPr/>
        </p:nvCxnSpPr>
        <p:spPr>
          <a:xfrm>
            <a:off x="791975" y="1602173"/>
            <a:ext cx="72951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dot"/>
            <a:round/>
            <a:headEnd len="med" w="med" type="none"/>
            <a:tailEnd len="med" w="med" type="none"/>
          </a:ln>
        </p:spPr>
      </p:cxnSp>
      <p:pic>
        <p:nvPicPr>
          <p:cNvPr id="1826" name="Google Shape;1826;p39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27" name="Google Shape;1827;p39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28" name="Google Shape;1828;p39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Recommendations &amp; Roadmap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29" name="Google Shape;1829;p39"/>
          <p:cNvSpPr txBox="1"/>
          <p:nvPr>
            <p:ph type="ctrTitle"/>
          </p:nvPr>
        </p:nvSpPr>
        <p:spPr>
          <a:xfrm>
            <a:off x="483602" y="638425"/>
            <a:ext cx="80907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How do we ensure stickiness and transfer of practices to [CLIENT]?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830" name="Google Shape;1830;p39"/>
          <p:cNvCxnSpPr/>
          <p:nvPr/>
        </p:nvCxnSpPr>
        <p:spPr>
          <a:xfrm rot="10800000">
            <a:off x="2684075" y="1133875"/>
            <a:ext cx="24783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831" name="Google Shape;1831;p39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3246" y="1391220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2" name="Google Shape;1832;p39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05296" y="1391220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3" name="Google Shape;1833;p39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07346" y="1391220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4" name="Google Shape;1834;p39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09396" y="1391220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5" name="Google Shape;1835;p39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11446" y="1391220"/>
            <a:ext cx="386075" cy="438855"/>
          </a:xfrm>
          <a:prstGeom prst="rect">
            <a:avLst/>
          </a:prstGeom>
          <a:noFill/>
          <a:ln>
            <a:noFill/>
          </a:ln>
        </p:spPr>
      </p:pic>
      <p:sp>
        <p:nvSpPr>
          <p:cNvPr id="1836" name="Google Shape;1836;p39"/>
          <p:cNvSpPr txBox="1"/>
          <p:nvPr>
            <p:ph type="ctrTitle"/>
          </p:nvPr>
        </p:nvSpPr>
        <p:spPr>
          <a:xfrm>
            <a:off x="717132" y="1424733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37" name="Google Shape;1837;p39"/>
          <p:cNvSpPr txBox="1"/>
          <p:nvPr>
            <p:ph type="ctrTitle"/>
          </p:nvPr>
        </p:nvSpPr>
        <p:spPr>
          <a:xfrm>
            <a:off x="2494665" y="1424733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38" name="Google Shape;1838;p39"/>
          <p:cNvSpPr txBox="1"/>
          <p:nvPr>
            <p:ph type="ctrTitle"/>
          </p:nvPr>
        </p:nvSpPr>
        <p:spPr>
          <a:xfrm>
            <a:off x="4295294" y="1424733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39" name="Google Shape;1839;p39"/>
          <p:cNvSpPr txBox="1"/>
          <p:nvPr>
            <p:ph type="ctrTitle"/>
          </p:nvPr>
        </p:nvSpPr>
        <p:spPr>
          <a:xfrm>
            <a:off x="6088292" y="1424733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40" name="Google Shape;1840;p39"/>
          <p:cNvSpPr txBox="1"/>
          <p:nvPr>
            <p:ph type="ctrTitle"/>
          </p:nvPr>
        </p:nvSpPr>
        <p:spPr>
          <a:xfrm>
            <a:off x="7900408" y="1424733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41" name="Google Shape;1841;p39"/>
          <p:cNvSpPr txBox="1"/>
          <p:nvPr>
            <p:ph type="ctrTitle"/>
          </p:nvPr>
        </p:nvSpPr>
        <p:spPr>
          <a:xfrm>
            <a:off x="384150" y="1799124"/>
            <a:ext cx="1521600" cy="92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Embed initiative into your company key processes</a:t>
            </a:r>
            <a:endParaRPr sz="10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842" name="Google Shape;1842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2054" y="29741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3" name="Google Shape;1843;p39"/>
          <p:cNvSpPr txBox="1"/>
          <p:nvPr/>
        </p:nvSpPr>
        <p:spPr>
          <a:xfrm>
            <a:off x="555237" y="2881589"/>
            <a:ext cx="14493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OKR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Company priorities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Performance Reviews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844" name="Google Shape;1844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2054" y="3536473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5" name="Google Shape;1845;p39"/>
          <p:cNvSpPr txBox="1"/>
          <p:nvPr/>
        </p:nvSpPr>
        <p:spPr>
          <a:xfrm>
            <a:off x="555237" y="3443923"/>
            <a:ext cx="14493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Compensation Plans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Hiring profile specificities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Internal Promotion cycles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46" name="Google Shape;1846;p39"/>
          <p:cNvSpPr txBox="1"/>
          <p:nvPr>
            <p:ph type="ctrTitle"/>
          </p:nvPr>
        </p:nvSpPr>
        <p:spPr>
          <a:xfrm>
            <a:off x="2035675" y="1799124"/>
            <a:ext cx="1521600" cy="92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Identify key owners to hold the org. accountable for each initiative</a:t>
            </a:r>
            <a:endParaRPr sz="10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847" name="Google Shape;1847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113579" y="29741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8" name="Google Shape;1848;p39"/>
          <p:cNvSpPr txBox="1"/>
          <p:nvPr/>
        </p:nvSpPr>
        <p:spPr>
          <a:xfrm>
            <a:off x="2206762" y="2881589"/>
            <a:ext cx="1449300" cy="6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Identity a “Sponsor” (Sales Leader) who will be the public figure of the initiative: CRO, VP Sales</a:t>
            </a:r>
            <a:endParaRPr sz="3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849" name="Google Shape;1849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113579" y="3536473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0" name="Google Shape;1850;p39"/>
          <p:cNvSpPr txBox="1"/>
          <p:nvPr/>
        </p:nvSpPr>
        <p:spPr>
          <a:xfrm>
            <a:off x="2206762" y="3443923"/>
            <a:ext cx="1449300" cy="6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 Sponsor will chose a Project Leader to run the initiative on a regular basis: Head of Sales</a:t>
            </a:r>
            <a:endParaRPr sz="3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851" name="Google Shape;1851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113579" y="41160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2" name="Google Shape;1852;p39"/>
          <p:cNvSpPr txBox="1"/>
          <p:nvPr/>
        </p:nvSpPr>
        <p:spPr>
          <a:xfrm>
            <a:off x="2206762" y="4023489"/>
            <a:ext cx="1449300" cy="78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 Project Leader will then build a team of “Ambassadors” that will cascade the initiative at the IC level: Top Performers ICs </a:t>
            </a:r>
            <a:endParaRPr sz="3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53" name="Google Shape;1853;p39"/>
          <p:cNvSpPr txBox="1"/>
          <p:nvPr>
            <p:ph type="ctrTitle"/>
          </p:nvPr>
        </p:nvSpPr>
        <p:spPr>
          <a:xfrm>
            <a:off x="3786025" y="1799070"/>
            <a:ext cx="1521600" cy="92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 up rituals and routines to successfully run the initiative </a:t>
            </a:r>
            <a:endParaRPr sz="10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854" name="Google Shape;1854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63944" y="29741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5" name="Google Shape;1855;p39"/>
          <p:cNvSpPr txBox="1"/>
          <p:nvPr/>
        </p:nvSpPr>
        <p:spPr>
          <a:xfrm>
            <a:off x="3957127" y="2881589"/>
            <a:ext cx="14493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Weekly: Champion shares updates during team meeting with his peers.</a:t>
            </a:r>
            <a:endParaRPr sz="3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856" name="Google Shape;1856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63944" y="3460273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7" name="Google Shape;1857;p39"/>
          <p:cNvSpPr txBox="1"/>
          <p:nvPr/>
        </p:nvSpPr>
        <p:spPr>
          <a:xfrm>
            <a:off x="3957127" y="3367723"/>
            <a:ext cx="1449300" cy="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Weekly: meeting between Project Leader &amp; Champions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858" name="Google Shape;1858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63944" y="3866845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9" name="Google Shape;1859;p39"/>
          <p:cNvSpPr txBox="1"/>
          <p:nvPr/>
        </p:nvSpPr>
        <p:spPr>
          <a:xfrm>
            <a:off x="3957127" y="3774295"/>
            <a:ext cx="14493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Quarterly: Sponsor shares progress, success &amp; major updates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60" name="Google Shape;1860;p39"/>
          <p:cNvSpPr txBox="1"/>
          <p:nvPr>
            <p:ph type="ctrTitle"/>
          </p:nvPr>
        </p:nvSpPr>
        <p:spPr>
          <a:xfrm>
            <a:off x="5502544" y="1799070"/>
            <a:ext cx="1521600" cy="92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Measure execution with an effective tracking &amp; monitoring. All KPIs have to serve MRR. </a:t>
            </a:r>
            <a:endParaRPr sz="10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861" name="Google Shape;1861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80463" y="29741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2" name="Google Shape;1862;p39"/>
          <p:cNvSpPr txBox="1"/>
          <p:nvPr/>
        </p:nvSpPr>
        <p:spPr>
          <a:xfrm>
            <a:off x="5673646" y="2881589"/>
            <a:ext cx="1449300" cy="8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Set up the right KPIs to monitor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Build reports &amp; dashboards to manage performance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Set up goals for each KPIs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863" name="Google Shape;1863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80463" y="38874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4" name="Google Shape;1864;p39"/>
          <p:cNvSpPr txBox="1"/>
          <p:nvPr/>
        </p:nvSpPr>
        <p:spPr>
          <a:xfrm>
            <a:off x="5673646" y="3794889"/>
            <a:ext cx="1449300" cy="9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Share performance on a weekly basis during company rituals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Weekly meeting with RevOps to assess performance using the RAG method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65" name="Google Shape;1865;p39"/>
          <p:cNvSpPr txBox="1"/>
          <p:nvPr>
            <p:ph type="ctrTitle"/>
          </p:nvPr>
        </p:nvSpPr>
        <p:spPr>
          <a:xfrm>
            <a:off x="7219075" y="1799070"/>
            <a:ext cx="1521600" cy="92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How to keep the team engaged on the long run &amp; how to celebrate success?</a:t>
            </a:r>
            <a:endParaRPr sz="10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866" name="Google Shape;1866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96995" y="29741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7" name="Google Shape;1867;p39"/>
          <p:cNvSpPr txBox="1"/>
          <p:nvPr/>
        </p:nvSpPr>
        <p:spPr>
          <a:xfrm>
            <a:off x="7390177" y="2881589"/>
            <a:ext cx="1449300" cy="98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Create a monthly/quarterly award for the top performer of this initiative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Set up Spiffs &amp; Blitz days.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Gather testimonials from early adopters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868" name="Google Shape;1868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96995" y="39636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9" name="Google Shape;1869;p39"/>
          <p:cNvSpPr txBox="1"/>
          <p:nvPr/>
        </p:nvSpPr>
        <p:spPr>
          <a:xfrm>
            <a:off x="7390177" y="3871089"/>
            <a:ext cx="1449300" cy="9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Incentivize &amp; recognize Champions &amp; Project Leader for the effort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Offer visibility &amp; acknowledgement to any outstanding achievement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870" name="Google Shape;1870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63944" y="4324045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1" name="Google Shape;1871;p39"/>
          <p:cNvSpPr txBox="1"/>
          <p:nvPr/>
        </p:nvSpPr>
        <p:spPr>
          <a:xfrm>
            <a:off x="3957127" y="4231495"/>
            <a:ext cx="1449300" cy="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Bi-weekly meeting between Sponsor &amp; Project Leader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